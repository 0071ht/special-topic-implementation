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6858000" cx="12192000"/>
  <p:notesSz cx="6858000" cy="9144000"/>
  <p:embeddedFontLst>
    <p:embeddedFont>
      <p:font typeface="Quattrocento Sans"/>
      <p:regular r:id="rId48"/>
      <p:bold r:id="rId49"/>
      <p:italic r:id="rId50"/>
      <p:boldItalic r:id="rId51"/>
    </p:embeddedFont>
    <p:embeddedFont>
      <p:font typeface="Lustria"/>
      <p:regular r:id="rId52"/>
    </p:embeddedFont>
    <p:embeddedFont>
      <p:font typeface="Open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jjqmnv+slyrTxgNt+JoJV73+fz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4F57E2E-EB3F-4404-9A26-EBCFC7F95AF6}">
  <a:tblStyle styleId="{D4F57E2E-EB3F-4404-9A26-EBCFC7F95AF6}" styleName="Table_0">
    <a:wholeTbl>
      <a:tcTxStyle b="off" i="off">
        <a:font>
          <a:latin typeface="Calisto MT"/>
          <a:ea typeface="Calisto MT"/>
          <a:cs typeface="Calisto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BE8EA"/>
          </a:solidFill>
        </a:fill>
      </a:tcStyle>
    </a:wholeTbl>
    <a:band1H>
      <a:tcTxStyle b="off" i="off"/>
      <a:tcStyle>
        <a:fill>
          <a:solidFill>
            <a:srgbClr val="D4CED2"/>
          </a:solidFill>
        </a:fill>
      </a:tcStyle>
    </a:band1H>
    <a:band2H>
      <a:tcTxStyle b="off" i="off"/>
    </a:band2H>
    <a:band1V>
      <a:tcTxStyle b="off" i="off"/>
      <a:tcStyle>
        <a:fill>
          <a:solidFill>
            <a:srgbClr val="D4CED2"/>
          </a:solidFill>
        </a:fill>
      </a:tcStyle>
    </a:band1V>
    <a:band2V>
      <a:tcTxStyle b="off" i="off"/>
    </a:band2V>
    <a:lastCol>
      <a:tcTxStyle b="on" i="off">
        <a:font>
          <a:latin typeface="Calisto MT"/>
          <a:ea typeface="Calisto MT"/>
          <a:cs typeface="Calisto MT"/>
        </a:font>
        <a:schemeClr val="lt1"/>
      </a:tcTxStyle>
      <a:tcStyle>
        <a:fill>
          <a:solidFill>
            <a:schemeClr val="accent1"/>
          </a:solidFill>
        </a:fill>
      </a:tcStyle>
    </a:lastCol>
    <a:firstCol>
      <a:tcTxStyle b="on" i="off">
        <a:font>
          <a:latin typeface="Calisto MT"/>
          <a:ea typeface="Calisto MT"/>
          <a:cs typeface="Calisto MT"/>
        </a:font>
        <a:schemeClr val="lt1"/>
      </a:tcTxStyle>
      <a:tcStyle>
        <a:fill>
          <a:solidFill>
            <a:schemeClr val="accent1"/>
          </a:solidFill>
        </a:fill>
      </a:tcStyle>
    </a:firstCol>
    <a:lastRow>
      <a:tcTxStyle b="on" i="off">
        <a:font>
          <a:latin typeface="Calisto MT"/>
          <a:ea typeface="Calisto MT"/>
          <a:cs typeface="Calisto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sto MT"/>
          <a:ea typeface="Calisto MT"/>
          <a:cs typeface="Calisto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2875BB27-04A7-483A-BF11-9A4B2C20D252}" styleName="Table_1">
    <a:wholeTbl>
      <a:tcTxStyle b="off" i="off">
        <a:font>
          <a:latin typeface="Calisto MT"/>
          <a:ea typeface="Calisto MT"/>
          <a:cs typeface="Calisto MT"/>
        </a:font>
        <a:schemeClr val="dk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tcBdr>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tcBdr>
      </a:tcStyle>
    </a:band1H>
    <a:band2H>
      <a:tcTxStyle b="off" i="off"/>
    </a:band2H>
    <a:band1V>
      <a:tcTxStyle b="off"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cBdr>
      </a:tcStyle>
    </a:band1V>
    <a:band2V>
      <a:tcTxStyle b="off"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2"/>
              </a:solidFill>
              <a:prstDash val="solid"/>
              <a:round/>
              <a:headEnd len="sm" w="sm" type="none"/>
              <a:tailEnd len="sm" w="sm" type="none"/>
            </a:ln>
          </a:top>
        </a:tcBdr>
      </a:tcStyle>
    </a:lastRow>
    <a:seCell>
      <a:tcTxStyle b="off" i="off"/>
    </a:seCell>
    <a:swCell>
      <a:tcTxStyle b="off" i="off"/>
    </a:swCell>
    <a:firstRow>
      <a:tcTxStyle b="on" i="off">
        <a:font>
          <a:latin typeface="Calisto MT"/>
          <a:ea typeface="Calisto MT"/>
          <a:cs typeface="Calisto MT"/>
        </a:font>
        <a:schemeClr val="lt1"/>
      </a:tcTxStyle>
      <a:tcStyle>
        <a:fill>
          <a:solidFill>
            <a:schemeClr val="accent2"/>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QuattrocentoSans-regular.fntdata"/><Relationship Id="rId47" Type="http://schemas.openxmlformats.org/officeDocument/2006/relationships/slide" Target="slides/slide42.xml"/><Relationship Id="rId49" Type="http://schemas.openxmlformats.org/officeDocument/2006/relationships/font" Target="fonts/Quattrocento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QuattrocentoSans-boldItalic.fntdata"/><Relationship Id="rId50" Type="http://schemas.openxmlformats.org/officeDocument/2006/relationships/font" Target="fonts/QuattrocentoSans-italic.fntdata"/><Relationship Id="rId53" Type="http://schemas.openxmlformats.org/officeDocument/2006/relationships/font" Target="fonts/OpenSans-regular.fntdata"/><Relationship Id="rId52" Type="http://schemas.openxmlformats.org/officeDocument/2006/relationships/font" Target="fonts/Lustria-regular.fntdata"/><Relationship Id="rId11" Type="http://schemas.openxmlformats.org/officeDocument/2006/relationships/slide" Target="slides/slide6.xml"/><Relationship Id="rId55" Type="http://schemas.openxmlformats.org/officeDocument/2006/relationships/font" Target="fonts/OpenSans-italic.fntdata"/><Relationship Id="rId10" Type="http://schemas.openxmlformats.org/officeDocument/2006/relationships/slide" Target="slides/slide5.xml"/><Relationship Id="rId54" Type="http://schemas.openxmlformats.org/officeDocument/2006/relationships/font" Target="fonts/OpenSans-bold.fntdata"/><Relationship Id="rId13" Type="http://schemas.openxmlformats.org/officeDocument/2006/relationships/slide" Target="slides/slide8.xml"/><Relationship Id="rId57" Type="http://customschemas.google.com/relationships/presentationmetadata" Target="metadata"/><Relationship Id="rId12" Type="http://schemas.openxmlformats.org/officeDocument/2006/relationships/slide" Target="slides/slide7.xml"/><Relationship Id="rId56" Type="http://schemas.openxmlformats.org/officeDocument/2006/relationships/font" Target="fonts/Open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 name="Google Shape;8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d73a338f24f13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d73a338f24f13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2" name="Google Shape;31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1" name="Google Shape;32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3" name="Google Shape;35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3" name="Google Shape;36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3" name="Google Shape;37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5" name="Google Shape;405;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5" name="Google Shape;415;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5" name="Google Shape;42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8" name="Google Shape;438;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7" name="Google Shape;44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5" name="Google Shape;455;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3" name="Google Shape;463;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4"/>
          <p:cNvSpPr txBox="1"/>
          <p:nvPr>
            <p:ph type="ctrTitle"/>
          </p:nvPr>
        </p:nvSpPr>
        <p:spPr>
          <a:xfrm>
            <a:off x="678426" y="889820"/>
            <a:ext cx="9989574" cy="359860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5400"/>
              <a:buFont typeface="Open Sans"/>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44"/>
          <p:cNvSpPr txBox="1"/>
          <p:nvPr>
            <p:ph idx="1" type="subTitle"/>
          </p:nvPr>
        </p:nvSpPr>
        <p:spPr>
          <a:xfrm>
            <a:off x="678426" y="4488426"/>
            <a:ext cx="6991776" cy="1302774"/>
          </a:xfrm>
          <a:prstGeom prst="rect">
            <a:avLst/>
          </a:prstGeom>
          <a:noFill/>
          <a:ln>
            <a:noFill/>
          </a:ln>
        </p:spPr>
        <p:txBody>
          <a:bodyPr anchorCtr="0" anchor="b" bIns="45700" lIns="91425" spcFirstLastPara="1" rIns="91425" wrap="square" tIns="45700">
            <a:normAutofit/>
          </a:bodyPr>
          <a:lstStyle>
            <a:lvl1pPr lvl="0" algn="l">
              <a:lnSpc>
                <a:spcPct val="110000"/>
              </a:lnSpc>
              <a:spcBef>
                <a:spcPts val="1000"/>
              </a:spcBef>
              <a:spcAft>
                <a:spcPts val="0"/>
              </a:spcAft>
              <a:buClr>
                <a:schemeClr val="dk1"/>
              </a:buClr>
              <a:buSzPts val="2000"/>
              <a:buNone/>
              <a:defRPr sz="20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44"/>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4"/>
          <p:cNvSpPr txBox="1"/>
          <p:nvPr>
            <p:ph idx="11" type="ftr"/>
          </p:nvPr>
        </p:nvSpPr>
        <p:spPr>
          <a:xfrm>
            <a:off x="715383" y="6356350"/>
            <a:ext cx="453972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44"/>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45"/>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5"/>
          <p:cNvSpPr txBox="1"/>
          <p:nvPr>
            <p:ph idx="1" type="body"/>
          </p:nvPr>
        </p:nvSpPr>
        <p:spPr>
          <a:xfrm>
            <a:off x="700635" y="2293126"/>
            <a:ext cx="10691265" cy="363608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45"/>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5"/>
          <p:cNvSpPr txBox="1"/>
          <p:nvPr>
            <p:ph idx="11" type="ftr"/>
          </p:nvPr>
        </p:nvSpPr>
        <p:spPr>
          <a:xfrm>
            <a:off x="715383" y="6356350"/>
            <a:ext cx="453972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5"/>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5" name="Shape 25"/>
        <p:cNvGrpSpPr/>
        <p:nvPr/>
      </p:nvGrpSpPr>
      <p:grpSpPr>
        <a:xfrm>
          <a:off x="0" y="0"/>
          <a:ext cx="0" cy="0"/>
          <a:chOff x="0" y="0"/>
          <a:chExt cx="0" cy="0"/>
        </a:xfrm>
      </p:grpSpPr>
      <p:sp>
        <p:nvSpPr>
          <p:cNvPr id="26" name="Google Shape;26;p46"/>
          <p:cNvSpPr txBox="1"/>
          <p:nvPr>
            <p:ph type="title"/>
          </p:nvPr>
        </p:nvSpPr>
        <p:spPr>
          <a:xfrm>
            <a:off x="678426" y="781665"/>
            <a:ext cx="4093599" cy="122345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Open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110000"/>
              </a:lnSpc>
              <a:spcBef>
                <a:spcPts val="1000"/>
              </a:spcBef>
              <a:spcAft>
                <a:spcPts val="0"/>
              </a:spcAft>
              <a:buClr>
                <a:schemeClr val="dk1"/>
              </a:buClr>
              <a:buSzPts val="3200"/>
              <a:buChar char="•"/>
              <a:defRPr sz="3200"/>
            </a:lvl1pPr>
            <a:lvl2pPr indent="-406400" lvl="1" marL="914400" algn="l">
              <a:lnSpc>
                <a:spcPct val="110000"/>
              </a:lnSpc>
              <a:spcBef>
                <a:spcPts val="500"/>
              </a:spcBef>
              <a:spcAft>
                <a:spcPts val="0"/>
              </a:spcAft>
              <a:buClr>
                <a:schemeClr val="dk1"/>
              </a:buClr>
              <a:buSzPts val="2800"/>
              <a:buChar char="•"/>
              <a:defRPr sz="2800"/>
            </a:lvl2pPr>
            <a:lvl3pPr indent="-381000" lvl="2" marL="1371600" algn="l">
              <a:lnSpc>
                <a:spcPct val="110000"/>
              </a:lnSpc>
              <a:spcBef>
                <a:spcPts val="500"/>
              </a:spcBef>
              <a:spcAft>
                <a:spcPts val="0"/>
              </a:spcAft>
              <a:buClr>
                <a:schemeClr val="dk1"/>
              </a:buClr>
              <a:buSzPts val="2400"/>
              <a:buChar char="•"/>
              <a:defRPr sz="24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8" name="Google Shape;28;p46"/>
          <p:cNvSpPr txBox="1"/>
          <p:nvPr>
            <p:ph idx="2" type="body"/>
          </p:nvPr>
        </p:nvSpPr>
        <p:spPr>
          <a:xfrm>
            <a:off x="688258" y="2315497"/>
            <a:ext cx="4093599" cy="3553491"/>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sz="16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9" name="Google Shape;29;p46"/>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6"/>
          <p:cNvSpPr txBox="1"/>
          <p:nvPr>
            <p:ph idx="11" type="ftr"/>
          </p:nvPr>
        </p:nvSpPr>
        <p:spPr>
          <a:xfrm>
            <a:off x="715383" y="6356350"/>
            <a:ext cx="453972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6"/>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2" name="Shape 32"/>
        <p:cNvGrpSpPr/>
        <p:nvPr/>
      </p:nvGrpSpPr>
      <p:grpSpPr>
        <a:xfrm>
          <a:off x="0" y="0"/>
          <a:ext cx="0" cy="0"/>
          <a:chOff x="0" y="0"/>
          <a:chExt cx="0" cy="0"/>
        </a:xfrm>
      </p:grpSpPr>
      <p:sp>
        <p:nvSpPr>
          <p:cNvPr id="33" name="Google Shape;33;p47"/>
          <p:cNvSpPr txBox="1"/>
          <p:nvPr>
            <p:ph type="title"/>
          </p:nvPr>
        </p:nvSpPr>
        <p:spPr>
          <a:xfrm>
            <a:off x="683342" y="1066800"/>
            <a:ext cx="4103431" cy="131752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Open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7"/>
          <p:cNvSpPr/>
          <p:nvPr>
            <p:ph idx="2" type="pic"/>
          </p:nvPr>
        </p:nvSpPr>
        <p:spPr>
          <a:xfrm>
            <a:off x="5183188" y="1066800"/>
            <a:ext cx="6172200" cy="4794250"/>
          </a:xfrm>
          <a:prstGeom prst="rect">
            <a:avLst/>
          </a:prstGeom>
          <a:noFill/>
          <a:ln>
            <a:noFill/>
          </a:ln>
        </p:spPr>
      </p:sp>
      <p:sp>
        <p:nvSpPr>
          <p:cNvPr id="35" name="Google Shape;35;p47"/>
          <p:cNvSpPr txBox="1"/>
          <p:nvPr>
            <p:ph idx="1" type="body"/>
          </p:nvPr>
        </p:nvSpPr>
        <p:spPr>
          <a:xfrm>
            <a:off x="683342" y="2552700"/>
            <a:ext cx="4103431" cy="33162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sz="16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6" name="Google Shape;36;p47"/>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7"/>
          <p:cNvSpPr txBox="1"/>
          <p:nvPr>
            <p:ph idx="11" type="ftr"/>
          </p:nvPr>
        </p:nvSpPr>
        <p:spPr>
          <a:xfrm>
            <a:off x="715383" y="6356350"/>
            <a:ext cx="453972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7"/>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48"/>
          <p:cNvSpPr txBox="1"/>
          <p:nvPr>
            <p:ph type="title"/>
          </p:nvPr>
        </p:nvSpPr>
        <p:spPr>
          <a:xfrm>
            <a:off x="715383" y="1709738"/>
            <a:ext cx="10632067" cy="285273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6000"/>
              <a:buFont typeface="Open San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8"/>
          <p:cNvSpPr txBox="1"/>
          <p:nvPr>
            <p:ph idx="1" type="body"/>
          </p:nvPr>
        </p:nvSpPr>
        <p:spPr>
          <a:xfrm>
            <a:off x="715383" y="4589463"/>
            <a:ext cx="10632067"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rgbClr val="888888"/>
              </a:buClr>
              <a:buSzPts val="2400"/>
              <a:buNone/>
              <a:defRPr sz="2400">
                <a:solidFill>
                  <a:srgbClr val="888888"/>
                </a:solidFill>
              </a:defRPr>
            </a:lvl1pPr>
            <a:lvl2pPr indent="-228600" lvl="1" marL="914400" algn="l">
              <a:lnSpc>
                <a:spcPct val="110000"/>
              </a:lnSpc>
              <a:spcBef>
                <a:spcPts val="500"/>
              </a:spcBef>
              <a:spcAft>
                <a:spcPts val="0"/>
              </a:spcAft>
              <a:buClr>
                <a:srgbClr val="888888"/>
              </a:buClr>
              <a:buSzPts val="2000"/>
              <a:buNone/>
              <a:defRPr sz="2000">
                <a:solidFill>
                  <a:srgbClr val="888888"/>
                </a:solidFill>
              </a:defRPr>
            </a:lvl2pPr>
            <a:lvl3pPr indent="-228600" lvl="2" marL="1371600" algn="l">
              <a:lnSpc>
                <a:spcPct val="110000"/>
              </a:lnSpc>
              <a:spcBef>
                <a:spcPts val="500"/>
              </a:spcBef>
              <a:spcAft>
                <a:spcPts val="0"/>
              </a:spcAft>
              <a:buClr>
                <a:srgbClr val="888888"/>
              </a:buClr>
              <a:buSzPts val="1800"/>
              <a:buNone/>
              <a:defRPr sz="1800">
                <a:solidFill>
                  <a:srgbClr val="888888"/>
                </a:solidFill>
              </a:defRPr>
            </a:lvl3pPr>
            <a:lvl4pPr indent="-228600" lvl="3" marL="1828800" algn="l">
              <a:lnSpc>
                <a:spcPct val="110000"/>
              </a:lnSpc>
              <a:spcBef>
                <a:spcPts val="500"/>
              </a:spcBef>
              <a:spcAft>
                <a:spcPts val="0"/>
              </a:spcAft>
              <a:buClr>
                <a:srgbClr val="888888"/>
              </a:buClr>
              <a:buSzPts val="1600"/>
              <a:buNone/>
              <a:defRPr sz="1600">
                <a:solidFill>
                  <a:srgbClr val="888888"/>
                </a:solidFill>
              </a:defRPr>
            </a:lvl4pPr>
            <a:lvl5pPr indent="-228600" lvl="4" marL="2286000" algn="l">
              <a:lnSpc>
                <a:spcPct val="11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2" name="Google Shape;42;p48"/>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8"/>
          <p:cNvSpPr txBox="1"/>
          <p:nvPr>
            <p:ph idx="11" type="ftr"/>
          </p:nvPr>
        </p:nvSpPr>
        <p:spPr>
          <a:xfrm>
            <a:off x="715383" y="6356350"/>
            <a:ext cx="453972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8"/>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49"/>
          <p:cNvSpPr txBox="1"/>
          <p:nvPr>
            <p:ph type="title"/>
          </p:nvPr>
        </p:nvSpPr>
        <p:spPr>
          <a:xfrm>
            <a:off x="700635" y="922096"/>
            <a:ext cx="10691265" cy="112793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9"/>
          <p:cNvSpPr txBox="1"/>
          <p:nvPr>
            <p:ph idx="1" type="body"/>
          </p:nvPr>
        </p:nvSpPr>
        <p:spPr>
          <a:xfrm>
            <a:off x="715383" y="2128684"/>
            <a:ext cx="5304417" cy="3844414"/>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49"/>
          <p:cNvSpPr txBox="1"/>
          <p:nvPr>
            <p:ph idx="2" type="body"/>
          </p:nvPr>
        </p:nvSpPr>
        <p:spPr>
          <a:xfrm>
            <a:off x="6172200" y="2128684"/>
            <a:ext cx="5219700" cy="3844414"/>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9"/>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9"/>
          <p:cNvSpPr txBox="1"/>
          <p:nvPr>
            <p:ph idx="11" type="ftr"/>
          </p:nvPr>
        </p:nvSpPr>
        <p:spPr>
          <a:xfrm>
            <a:off x="715383" y="6356350"/>
            <a:ext cx="453972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9"/>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50"/>
          <p:cNvSpPr txBox="1"/>
          <p:nvPr>
            <p:ph type="title"/>
          </p:nvPr>
        </p:nvSpPr>
        <p:spPr>
          <a:xfrm>
            <a:off x="685887" y="929148"/>
            <a:ext cx="10640005" cy="7615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0"/>
          <p:cNvSpPr txBox="1"/>
          <p:nvPr>
            <p:ph idx="1" type="body"/>
          </p:nvPr>
        </p:nvSpPr>
        <p:spPr>
          <a:xfrm>
            <a:off x="715384" y="1681163"/>
            <a:ext cx="5282192" cy="657225"/>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b="1" sz="1600">
                <a:latin typeface="Open Sans"/>
                <a:ea typeface="Open Sans"/>
                <a:cs typeface="Open Sans"/>
                <a:sym typeface="Open Sans"/>
              </a:defRPr>
            </a:lvl1pPr>
            <a:lvl2pPr indent="-228600" lvl="1" marL="914400" algn="l">
              <a:lnSpc>
                <a:spcPct val="110000"/>
              </a:lnSpc>
              <a:spcBef>
                <a:spcPts val="500"/>
              </a:spcBef>
              <a:spcAft>
                <a:spcPts val="0"/>
              </a:spcAft>
              <a:buClr>
                <a:schemeClr val="dk1"/>
              </a:buClr>
              <a:buSzPts val="1600"/>
              <a:buNone/>
              <a:defRPr b="1" sz="1600"/>
            </a:lvl2pPr>
            <a:lvl3pPr indent="-228600" lvl="2" marL="1371600" algn="l">
              <a:lnSpc>
                <a:spcPct val="110000"/>
              </a:lnSpc>
              <a:spcBef>
                <a:spcPts val="500"/>
              </a:spcBef>
              <a:spcAft>
                <a:spcPts val="0"/>
              </a:spcAft>
              <a:buClr>
                <a:schemeClr val="dk1"/>
              </a:buClr>
              <a:buSzPts val="1600"/>
              <a:buNone/>
              <a:defRPr b="1" sz="16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50"/>
          <p:cNvSpPr txBox="1"/>
          <p:nvPr>
            <p:ph idx="2" type="body"/>
          </p:nvPr>
        </p:nvSpPr>
        <p:spPr>
          <a:xfrm>
            <a:off x="715384" y="2505075"/>
            <a:ext cx="5282192" cy="3423777"/>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50"/>
          <p:cNvSpPr txBox="1"/>
          <p:nvPr>
            <p:ph idx="3" type="body"/>
          </p:nvPr>
        </p:nvSpPr>
        <p:spPr>
          <a:xfrm>
            <a:off x="6172200" y="1681163"/>
            <a:ext cx="5183188" cy="657225"/>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b="1" sz="1600">
                <a:latin typeface="Open Sans"/>
                <a:ea typeface="Open Sans"/>
                <a:cs typeface="Open Sans"/>
                <a:sym typeface="Open Sans"/>
              </a:defRPr>
            </a:lvl1pPr>
            <a:lvl2pPr indent="-228600" lvl="1" marL="914400" algn="l">
              <a:lnSpc>
                <a:spcPct val="110000"/>
              </a:lnSpc>
              <a:spcBef>
                <a:spcPts val="500"/>
              </a:spcBef>
              <a:spcAft>
                <a:spcPts val="0"/>
              </a:spcAft>
              <a:buClr>
                <a:schemeClr val="dk1"/>
              </a:buClr>
              <a:buSzPts val="1600"/>
              <a:buNone/>
              <a:defRPr b="1" sz="1600"/>
            </a:lvl2pPr>
            <a:lvl3pPr indent="-228600" lvl="2" marL="1371600" algn="l">
              <a:lnSpc>
                <a:spcPct val="110000"/>
              </a:lnSpc>
              <a:spcBef>
                <a:spcPts val="500"/>
              </a:spcBef>
              <a:spcAft>
                <a:spcPts val="0"/>
              </a:spcAft>
              <a:buClr>
                <a:schemeClr val="dk1"/>
              </a:buClr>
              <a:buSzPts val="1600"/>
              <a:buNone/>
              <a:defRPr b="1" sz="16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50"/>
          <p:cNvSpPr txBox="1"/>
          <p:nvPr>
            <p:ph idx="4" type="body"/>
          </p:nvPr>
        </p:nvSpPr>
        <p:spPr>
          <a:xfrm>
            <a:off x="6172200" y="2505075"/>
            <a:ext cx="5183188" cy="3423777"/>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50"/>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0"/>
          <p:cNvSpPr txBox="1"/>
          <p:nvPr>
            <p:ph idx="11" type="ftr"/>
          </p:nvPr>
        </p:nvSpPr>
        <p:spPr>
          <a:xfrm>
            <a:off x="715383" y="6356350"/>
            <a:ext cx="453972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0"/>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51"/>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1"/>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1"/>
          <p:cNvSpPr txBox="1"/>
          <p:nvPr>
            <p:ph idx="11" type="ftr"/>
          </p:nvPr>
        </p:nvSpPr>
        <p:spPr>
          <a:xfrm>
            <a:off x="715383" y="6356350"/>
            <a:ext cx="453972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1"/>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52"/>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2"/>
          <p:cNvSpPr txBox="1"/>
          <p:nvPr>
            <p:ph idx="11" type="ftr"/>
          </p:nvPr>
        </p:nvSpPr>
        <p:spPr>
          <a:xfrm>
            <a:off x="715383" y="6356350"/>
            <a:ext cx="453972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52"/>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53"/>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3"/>
          <p:cNvSpPr txBox="1"/>
          <p:nvPr>
            <p:ph idx="1" type="body"/>
          </p:nvPr>
        </p:nvSpPr>
        <p:spPr>
          <a:xfrm rot="5400000">
            <a:off x="4228224" y="-1234462"/>
            <a:ext cx="3636088" cy="10691265"/>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53"/>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3"/>
          <p:cNvSpPr txBox="1"/>
          <p:nvPr>
            <p:ph idx="11" type="ftr"/>
          </p:nvPr>
        </p:nvSpPr>
        <p:spPr>
          <a:xfrm>
            <a:off x="715383" y="6356350"/>
            <a:ext cx="453972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53"/>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54"/>
          <p:cNvSpPr txBox="1"/>
          <p:nvPr>
            <p:ph type="title"/>
          </p:nvPr>
        </p:nvSpPr>
        <p:spPr>
          <a:xfrm rot="5400000">
            <a:off x="7924366" y="2315931"/>
            <a:ext cx="4984956" cy="2349043"/>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4"/>
          <p:cNvSpPr txBox="1"/>
          <p:nvPr>
            <p:ph idx="1" type="body"/>
          </p:nvPr>
        </p:nvSpPr>
        <p:spPr>
          <a:xfrm rot="5400000">
            <a:off x="2547783" y="-711610"/>
            <a:ext cx="4984956" cy="8404122"/>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54"/>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4"/>
          <p:cNvSpPr txBox="1"/>
          <p:nvPr>
            <p:ph idx="11" type="ftr"/>
          </p:nvPr>
        </p:nvSpPr>
        <p:spPr>
          <a:xfrm>
            <a:off x="715383" y="6356350"/>
            <a:ext cx="453972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4"/>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3"/>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dk1"/>
              </a:buClr>
              <a:buSzPts val="4000"/>
              <a:buFont typeface="Open Sans"/>
              <a:buNone/>
              <a:defRPr b="0" i="0" sz="4000" u="none" cap="none" strike="noStrike">
                <a:solidFill>
                  <a:schemeClr val="dk1"/>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3"/>
          <p:cNvSpPr txBox="1"/>
          <p:nvPr>
            <p:ph idx="1" type="body"/>
          </p:nvPr>
        </p:nvSpPr>
        <p:spPr>
          <a:xfrm>
            <a:off x="700635" y="2293126"/>
            <a:ext cx="10691265" cy="3636088"/>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10000"/>
              </a:lnSpc>
              <a:spcBef>
                <a:spcPts val="1000"/>
              </a:spcBef>
              <a:spcAft>
                <a:spcPts val="0"/>
              </a:spcAft>
              <a:buClr>
                <a:schemeClr val="dk1"/>
              </a:buClr>
              <a:buSzPts val="2000"/>
              <a:buFont typeface="Arial"/>
              <a:buChar char="•"/>
              <a:defRPr b="0" i="0" sz="2000" u="none" cap="none" strike="noStrike">
                <a:solidFill>
                  <a:schemeClr val="dk1"/>
                </a:solidFill>
                <a:latin typeface="Lustria"/>
                <a:ea typeface="Lustria"/>
                <a:cs typeface="Lustria"/>
                <a:sym typeface="Lustria"/>
              </a:defRPr>
            </a:lvl1pPr>
            <a:lvl2pPr indent="-342900" lvl="1" marL="914400" marR="0" rtl="0" algn="l">
              <a:lnSpc>
                <a:spcPct val="110000"/>
              </a:lnSpc>
              <a:spcBef>
                <a:spcPts val="500"/>
              </a:spcBef>
              <a:spcAft>
                <a:spcPts val="0"/>
              </a:spcAft>
              <a:buClr>
                <a:schemeClr val="dk1"/>
              </a:buClr>
              <a:buSzPts val="1800"/>
              <a:buFont typeface="Arial"/>
              <a:buChar char="•"/>
              <a:defRPr b="0" i="0" sz="1800" u="none" cap="none" strike="noStrike">
                <a:solidFill>
                  <a:schemeClr val="dk1"/>
                </a:solidFill>
                <a:latin typeface="Lustria"/>
                <a:ea typeface="Lustria"/>
                <a:cs typeface="Lustria"/>
                <a:sym typeface="Lustria"/>
              </a:defRPr>
            </a:lvl2pPr>
            <a:lvl3pPr indent="-330200" lvl="2" marL="1371600" marR="0" rtl="0" algn="l">
              <a:lnSpc>
                <a:spcPct val="110000"/>
              </a:lnSpc>
              <a:spcBef>
                <a:spcPts val="500"/>
              </a:spcBef>
              <a:spcAft>
                <a:spcPts val="0"/>
              </a:spcAft>
              <a:buClr>
                <a:schemeClr val="dk1"/>
              </a:buClr>
              <a:buSzPts val="1600"/>
              <a:buFont typeface="Arial"/>
              <a:buChar char="•"/>
              <a:defRPr b="0" i="0" sz="1600" u="none" cap="none" strike="noStrike">
                <a:solidFill>
                  <a:schemeClr val="dk1"/>
                </a:solidFill>
                <a:latin typeface="Lustria"/>
                <a:ea typeface="Lustria"/>
                <a:cs typeface="Lustria"/>
                <a:sym typeface="Lustria"/>
              </a:defRPr>
            </a:lvl3pPr>
            <a:lvl4pPr indent="-317500" lvl="3" marL="1828800" marR="0" rtl="0" algn="l">
              <a:lnSpc>
                <a:spcPct val="110000"/>
              </a:lnSpc>
              <a:spcBef>
                <a:spcPts val="500"/>
              </a:spcBef>
              <a:spcAft>
                <a:spcPts val="0"/>
              </a:spcAft>
              <a:buClr>
                <a:schemeClr val="dk1"/>
              </a:buClr>
              <a:buSzPts val="1400"/>
              <a:buFont typeface="Arial"/>
              <a:buChar char="•"/>
              <a:defRPr b="0" i="0" sz="1400" u="none" cap="none" strike="noStrike">
                <a:solidFill>
                  <a:schemeClr val="dk1"/>
                </a:solidFill>
                <a:latin typeface="Lustria"/>
                <a:ea typeface="Lustria"/>
                <a:cs typeface="Lustria"/>
                <a:sym typeface="Lustria"/>
              </a:defRPr>
            </a:lvl4pPr>
            <a:lvl5pPr indent="-317500" lvl="4" marL="2286000" marR="0" rtl="0" algn="l">
              <a:lnSpc>
                <a:spcPct val="110000"/>
              </a:lnSpc>
              <a:spcBef>
                <a:spcPts val="500"/>
              </a:spcBef>
              <a:spcAft>
                <a:spcPts val="0"/>
              </a:spcAft>
              <a:buClr>
                <a:schemeClr val="dk1"/>
              </a:buClr>
              <a:buSzPts val="1400"/>
              <a:buFont typeface="Arial"/>
              <a:buChar char="•"/>
              <a:defRPr b="0" i="0" sz="1400" u="none" cap="none" strike="noStrike">
                <a:solidFill>
                  <a:schemeClr val="dk1"/>
                </a:solidFill>
                <a:latin typeface="Lustria"/>
                <a:ea typeface="Lustria"/>
                <a:cs typeface="Lustria"/>
                <a:sym typeface="Lustri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ustria"/>
                <a:ea typeface="Lustria"/>
                <a:cs typeface="Lustria"/>
                <a:sym typeface="Lustri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ustria"/>
                <a:ea typeface="Lustria"/>
                <a:cs typeface="Lustria"/>
                <a:sym typeface="Lustri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ustria"/>
                <a:ea typeface="Lustria"/>
                <a:cs typeface="Lustria"/>
                <a:sym typeface="Lustri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ustria"/>
                <a:ea typeface="Lustria"/>
                <a:cs typeface="Lustria"/>
                <a:sym typeface="Lustria"/>
              </a:defRPr>
            </a:lvl9pPr>
          </a:lstStyle>
          <a:p/>
        </p:txBody>
      </p:sp>
      <p:sp>
        <p:nvSpPr>
          <p:cNvPr id="8" name="Google Shape;8;p43"/>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dk1"/>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9pPr>
          </a:lstStyle>
          <a:p/>
        </p:txBody>
      </p:sp>
      <p:sp>
        <p:nvSpPr>
          <p:cNvPr id="9" name="Google Shape;9;p43"/>
          <p:cNvSpPr txBox="1"/>
          <p:nvPr>
            <p:ph idx="11" type="ftr"/>
          </p:nvPr>
        </p:nvSpPr>
        <p:spPr>
          <a:xfrm>
            <a:off x="715383" y="6356350"/>
            <a:ext cx="453972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dk1"/>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ustria"/>
                <a:ea typeface="Lustria"/>
                <a:cs typeface="Lustria"/>
                <a:sym typeface="Lustria"/>
              </a:defRPr>
            </a:lvl9pPr>
          </a:lstStyle>
          <a:p/>
        </p:txBody>
      </p:sp>
      <p:sp>
        <p:nvSpPr>
          <p:cNvPr id="10" name="Google Shape;10;p43"/>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43"/>
          <p:cNvCxnSpPr/>
          <p:nvPr/>
        </p:nvCxnSpPr>
        <p:spPr>
          <a:xfrm>
            <a:off x="800100" y="723900"/>
            <a:ext cx="10591800" cy="0"/>
          </a:xfrm>
          <a:prstGeom prst="straightConnector1">
            <a:avLst/>
          </a:prstGeom>
          <a:noFill/>
          <a:ln cap="flat" cmpd="sng" w="44450">
            <a:solidFill>
              <a:schemeClr val="dk1"/>
            </a:solidFill>
            <a:prstDash val="solid"/>
            <a:miter lim="80"/>
            <a:headEnd len="sm" w="sm" type="none"/>
            <a:tailEnd len="sm" w="sm" type="none"/>
          </a:ln>
        </p:spPr>
      </p:cxnSp>
      <p:cxnSp>
        <p:nvCxnSpPr>
          <p:cNvPr id="12" name="Google Shape;12;p43"/>
          <p:cNvCxnSpPr/>
          <p:nvPr/>
        </p:nvCxnSpPr>
        <p:spPr>
          <a:xfrm>
            <a:off x="800100" y="6142781"/>
            <a:ext cx="10591800" cy="0"/>
          </a:xfrm>
          <a:prstGeom prst="straightConnector1">
            <a:avLst/>
          </a:prstGeom>
          <a:noFill/>
          <a:ln cap="flat" cmpd="sng" w="12700">
            <a:solidFill>
              <a:schemeClr val="dk1"/>
            </a:solidFill>
            <a:prstDash val="solid"/>
            <a:miter lim="8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dl.acm.org/doi/proceedings/10.5555/3737916" TargetMode="External"/><Relationship Id="rId4" Type="http://schemas.openxmlformats.org/officeDocument/2006/relationships/hyperlink" Target="https://dl.acm.org/doi/proceedings/10.5555/3737916"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3.jpg"/><Relationship Id="rId4" Type="http://schemas.openxmlformats.org/officeDocument/2006/relationships/image" Target="../media/image1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25.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3.png"/><Relationship Id="rId4" Type="http://schemas.openxmlformats.org/officeDocument/2006/relationships/image" Target="../media/image26.jpg"/><Relationship Id="rId5" Type="http://schemas.openxmlformats.org/officeDocument/2006/relationships/image" Target="../media/image1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arxiv.org/abs/2410.21964" TargetMode="External"/><Relationship Id="rId4" Type="http://schemas.openxmlformats.org/officeDocument/2006/relationships/hyperlink" Target="https://github.com/THU-MIG/yolov10" TargetMode="External"/><Relationship Id="rId5" Type="http://schemas.openxmlformats.org/officeDocument/2006/relationships/hyperlink" Target="https://github.com/10Ring/FakeFormer" TargetMode="External"/><Relationship Id="rId6" Type="http://schemas.openxmlformats.org/officeDocument/2006/relationships/hyperlink" Target="https://www.kaggle.com/datasets/xdxd003/ff-c23" TargetMode="External"/><Relationship Id="rId7" Type="http://schemas.openxmlformats.org/officeDocument/2006/relationships/hyperlink" Target="https://www.kaggle.com/datasets/reubensuju/celeb-df-v2"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hyperlink" Target="https://ithelp.ithome.com.tw/articles/10204229" TargetMode="External"/><Relationship Id="rId4" Type="http://schemas.openxmlformats.org/officeDocument/2006/relationships/hyperlink" Target="https://ithelp.ithome.com.tw/articles/10204480"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s://blog.csdn.net/weixin_47524903/article/details/124364114" TargetMode="External"/><Relationship Id="rId4" Type="http://schemas.openxmlformats.org/officeDocument/2006/relationships/hyperlink" Target="https://medium.com/data-science-navigator/variational-autoencoder" TargetMode="External"/><Relationship Id="rId9" Type="http://schemas.openxmlformats.org/officeDocument/2006/relationships/hyperlink" Target="https://github.com/akanametov/yolo-face" TargetMode="External"/><Relationship Id="rId5" Type="http://schemas.openxmlformats.org/officeDocument/2006/relationships/hyperlink" Target="https://ithelp.ithome.com.tw/articles/10196257" TargetMode="External"/><Relationship Id="rId6" Type="http://schemas.openxmlformats.org/officeDocument/2006/relationships/hyperlink" Target="https://github.com/deepcam-cn/yolov5-face" TargetMode="External"/><Relationship Id="rId7" Type="http://schemas.openxmlformats.org/officeDocument/2006/relationships/hyperlink" Target="https://github.com/derronqi/yolov7-face" TargetMode="External"/><Relationship Id="rId8" Type="http://schemas.openxmlformats.org/officeDocument/2006/relationships/hyperlink" Target="https://github.com/derronqi/yolov8-fac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656339" y="2746605"/>
            <a:ext cx="10884095" cy="1655225"/>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5400"/>
              <a:buFont typeface="Lustria"/>
              <a:buNone/>
            </a:pPr>
            <a:r>
              <a:rPr lang="en-US" cap="none">
                <a:latin typeface="Lustria"/>
                <a:ea typeface="Lustria"/>
                <a:cs typeface="Lustria"/>
                <a:sym typeface="Lustria"/>
              </a:rPr>
              <a:t>Deepfake</a:t>
            </a:r>
            <a:r>
              <a:rPr lang="en-US">
                <a:latin typeface="PMingLiU"/>
                <a:ea typeface="PMingLiU"/>
                <a:cs typeface="PMingLiU"/>
                <a:sym typeface="PMingLiU"/>
              </a:rPr>
              <a:t>人臉偵測</a:t>
            </a:r>
            <a:r>
              <a:rPr lang="en-US">
                <a:solidFill>
                  <a:srgbClr val="0C0C0C"/>
                </a:solidFill>
                <a:latin typeface="PMingLiU"/>
                <a:ea typeface="PMingLiU"/>
                <a:cs typeface="PMingLiU"/>
                <a:sym typeface="PMingLiU"/>
              </a:rPr>
              <a:t>的應用程式</a:t>
            </a:r>
            <a:endParaRPr>
              <a:solidFill>
                <a:srgbClr val="0C0C0C"/>
              </a:solidFill>
              <a:latin typeface="Open Sans"/>
              <a:ea typeface="Open Sans"/>
              <a:cs typeface="Open Sans"/>
              <a:sym typeface="Open Sans"/>
            </a:endParaRPr>
          </a:p>
        </p:txBody>
      </p:sp>
      <p:sp>
        <p:nvSpPr>
          <p:cNvPr id="87" name="Google Shape;87;p1"/>
          <p:cNvSpPr txBox="1"/>
          <p:nvPr>
            <p:ph idx="1" type="subTitle"/>
          </p:nvPr>
        </p:nvSpPr>
        <p:spPr>
          <a:xfrm>
            <a:off x="1524000" y="4596174"/>
            <a:ext cx="8939561" cy="1460616"/>
          </a:xfrm>
          <a:prstGeom prst="rect">
            <a:avLst/>
          </a:prstGeom>
          <a:noFill/>
          <a:ln>
            <a:noFill/>
          </a:ln>
        </p:spPr>
        <p:txBody>
          <a:bodyPr anchorCtr="0" anchor="b" bIns="45700" lIns="91425" spcFirstLastPara="1" rIns="91425" wrap="square" tIns="45700">
            <a:normAutofit/>
          </a:bodyPr>
          <a:lstStyle/>
          <a:p>
            <a:pPr indent="0" lvl="0" marL="0" rtl="0" algn="l">
              <a:lnSpc>
                <a:spcPct val="110000"/>
              </a:lnSpc>
              <a:spcBef>
                <a:spcPts val="0"/>
              </a:spcBef>
              <a:spcAft>
                <a:spcPts val="0"/>
              </a:spcAft>
              <a:buClr>
                <a:schemeClr val="dk1"/>
              </a:buClr>
              <a:buSzPts val="2000"/>
              <a:buNone/>
            </a:pPr>
            <a:r>
              <a:rPr lang="en-US"/>
              <a:t>2026/6/9</a:t>
            </a:r>
            <a:endParaRPr/>
          </a:p>
        </p:txBody>
      </p:sp>
      <p:sp>
        <p:nvSpPr>
          <p:cNvPr id="88" name="Google Shape;88;p1"/>
          <p:cNvSpPr txBox="1"/>
          <p:nvPr/>
        </p:nvSpPr>
        <p:spPr>
          <a:xfrm>
            <a:off x="2654709" y="3613355"/>
            <a:ext cx="723900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Lustria"/>
                <a:ea typeface="Lustria"/>
                <a:cs typeface="Lustria"/>
                <a:sym typeface="Lustria"/>
              </a:rPr>
              <a:t>Deepfake Face Detection Application Program</a:t>
            </a:r>
            <a:endParaRPr b="0" i="0" sz="2400" u="none" cap="none" strike="noStrike">
              <a:solidFill>
                <a:schemeClr val="dk1"/>
              </a:solidFill>
              <a:latin typeface="Lustria"/>
              <a:ea typeface="Lustria"/>
              <a:cs typeface="Lustria"/>
              <a:sym typeface="Lustria"/>
            </a:endParaRPr>
          </a:p>
        </p:txBody>
      </p:sp>
      <p:sp>
        <p:nvSpPr>
          <p:cNvPr id="89" name="Google Shape;89;p1"/>
          <p:cNvSpPr txBox="1"/>
          <p:nvPr/>
        </p:nvSpPr>
        <p:spPr>
          <a:xfrm>
            <a:off x="4026688" y="5688724"/>
            <a:ext cx="4145280"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MingLiU"/>
                <a:ea typeface="PMingLiU"/>
                <a:cs typeface="PMingLiU"/>
                <a:sym typeface="PMingLiU"/>
              </a:rPr>
              <a:t>組員：許育豪 林弘叡 林泓宇</a:t>
            </a:r>
            <a:endParaRPr b="0" i="0" sz="1800" u="none" cap="none" strike="noStrike">
              <a:solidFill>
                <a:schemeClr val="dk1"/>
              </a:solidFill>
              <a:latin typeface="Lustria"/>
              <a:ea typeface="Lustria"/>
              <a:cs typeface="Lustria"/>
              <a:sym typeface="Lustria"/>
            </a:endParaRPr>
          </a:p>
        </p:txBody>
      </p:sp>
      <p:sp>
        <p:nvSpPr>
          <p:cNvPr id="90" name="Google Shape;90;p1"/>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4800"/>
              <a:buFont typeface="PMingLiU"/>
              <a:buNone/>
            </a:pPr>
            <a:r>
              <a:rPr lang="en-US" sz="4800">
                <a:latin typeface="PMingLiU"/>
                <a:ea typeface="PMingLiU"/>
                <a:cs typeface="PMingLiU"/>
                <a:sym typeface="PMingLiU"/>
              </a:rPr>
              <a:t>大綱</a:t>
            </a:r>
            <a:endParaRPr sz="4800">
              <a:latin typeface="PMingLiU"/>
              <a:ea typeface="PMingLiU"/>
              <a:cs typeface="PMingLiU"/>
              <a:sym typeface="PMingLiU"/>
            </a:endParaRPr>
          </a:p>
        </p:txBody>
      </p:sp>
      <p:sp>
        <p:nvSpPr>
          <p:cNvPr id="96" name="Google Shape;96;p2"/>
          <p:cNvSpPr txBox="1"/>
          <p:nvPr>
            <p:ph idx="1" type="body"/>
          </p:nvPr>
        </p:nvSpPr>
        <p:spPr>
          <a:xfrm>
            <a:off x="1278703" y="1715058"/>
            <a:ext cx="9640232" cy="4214156"/>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chemeClr val="dk1"/>
              </a:buClr>
              <a:buSzPts val="2400"/>
              <a:buChar char="•"/>
            </a:pPr>
            <a:r>
              <a:rPr lang="en-US" sz="2400">
                <a:latin typeface="PMingLiU"/>
                <a:ea typeface="PMingLiU"/>
                <a:cs typeface="PMingLiU"/>
                <a:sym typeface="PMingLiU"/>
              </a:rPr>
              <a:t>實驗背景</a:t>
            </a:r>
            <a:endParaRPr sz="2400">
              <a:latin typeface="PMingLiU"/>
              <a:ea typeface="PMingLiU"/>
              <a:cs typeface="PMingLiU"/>
              <a:sym typeface="PMingLiU"/>
            </a:endParaRPr>
          </a:p>
          <a:p>
            <a:pPr indent="-228600" lvl="0" marL="228600" rtl="0" algn="l">
              <a:lnSpc>
                <a:spcPct val="110000"/>
              </a:lnSpc>
              <a:spcBef>
                <a:spcPts val="1000"/>
              </a:spcBef>
              <a:spcAft>
                <a:spcPts val="0"/>
              </a:spcAft>
              <a:buClr>
                <a:schemeClr val="dk1"/>
              </a:buClr>
              <a:buSzPts val="2400"/>
              <a:buChar char="•"/>
            </a:pPr>
            <a:r>
              <a:rPr lang="en-US" sz="2400">
                <a:latin typeface="PMingLiU"/>
                <a:ea typeface="PMingLiU"/>
                <a:cs typeface="PMingLiU"/>
                <a:sym typeface="PMingLiU"/>
              </a:rPr>
              <a:t>實驗動機</a:t>
            </a:r>
            <a:endParaRPr sz="2400">
              <a:latin typeface="PMingLiU"/>
              <a:ea typeface="PMingLiU"/>
              <a:cs typeface="PMingLiU"/>
              <a:sym typeface="PMingLiU"/>
            </a:endParaRPr>
          </a:p>
          <a:p>
            <a:pPr indent="-228600" lvl="0" marL="228600" rtl="0" algn="l">
              <a:lnSpc>
                <a:spcPct val="110000"/>
              </a:lnSpc>
              <a:spcBef>
                <a:spcPts val="1000"/>
              </a:spcBef>
              <a:spcAft>
                <a:spcPts val="0"/>
              </a:spcAft>
              <a:buClr>
                <a:schemeClr val="dk1"/>
              </a:buClr>
              <a:buSzPts val="2400"/>
              <a:buChar char="•"/>
            </a:pPr>
            <a:r>
              <a:rPr lang="en-US" sz="2400">
                <a:latin typeface="PMingLiU"/>
                <a:ea typeface="PMingLiU"/>
                <a:cs typeface="PMingLiU"/>
                <a:sym typeface="PMingLiU"/>
              </a:rPr>
              <a:t>實驗步驟</a:t>
            </a:r>
            <a:endParaRPr sz="2400">
              <a:latin typeface="PMingLiU"/>
              <a:ea typeface="PMingLiU"/>
              <a:cs typeface="PMingLiU"/>
              <a:sym typeface="PMingLiU"/>
            </a:endParaRPr>
          </a:p>
          <a:p>
            <a:pPr indent="-228600" lvl="0" marL="228600" rtl="0" algn="l">
              <a:lnSpc>
                <a:spcPct val="110000"/>
              </a:lnSpc>
              <a:spcBef>
                <a:spcPts val="1000"/>
              </a:spcBef>
              <a:spcAft>
                <a:spcPts val="0"/>
              </a:spcAft>
              <a:buSzPts val="2400"/>
              <a:buFont typeface="PMingLiU"/>
              <a:buChar char="•"/>
            </a:pPr>
            <a:r>
              <a:rPr lang="en-US" sz="2400">
                <a:latin typeface="PMingLiU"/>
                <a:ea typeface="PMingLiU"/>
                <a:cs typeface="PMingLiU"/>
                <a:sym typeface="PMingLiU"/>
              </a:rPr>
              <a:t>系統架構圖</a:t>
            </a:r>
            <a:endParaRPr sz="2400">
              <a:latin typeface="PMingLiU"/>
              <a:ea typeface="PMingLiU"/>
              <a:cs typeface="PMingLiU"/>
              <a:sym typeface="PMingLiU"/>
            </a:endParaRPr>
          </a:p>
          <a:p>
            <a:pPr indent="-228600" lvl="0" marL="228600" rtl="0" algn="l">
              <a:lnSpc>
                <a:spcPct val="110000"/>
              </a:lnSpc>
              <a:spcBef>
                <a:spcPts val="1000"/>
              </a:spcBef>
              <a:spcAft>
                <a:spcPts val="0"/>
              </a:spcAft>
              <a:buClr>
                <a:schemeClr val="dk1"/>
              </a:buClr>
              <a:buSzPts val="2400"/>
              <a:buChar char="•"/>
            </a:pPr>
            <a:r>
              <a:rPr lang="en-US" sz="2400">
                <a:latin typeface="PMingLiU"/>
                <a:ea typeface="PMingLiU"/>
                <a:cs typeface="PMingLiU"/>
                <a:sym typeface="PMingLiU"/>
              </a:rPr>
              <a:t>資料集類別</a:t>
            </a:r>
            <a:endParaRPr sz="2400">
              <a:latin typeface="PMingLiU"/>
              <a:ea typeface="PMingLiU"/>
              <a:cs typeface="PMingLiU"/>
              <a:sym typeface="PMingLiU"/>
            </a:endParaRPr>
          </a:p>
          <a:p>
            <a:pPr indent="-228600" lvl="0" marL="228600" rtl="0" algn="l">
              <a:lnSpc>
                <a:spcPct val="110000"/>
              </a:lnSpc>
              <a:spcBef>
                <a:spcPts val="1000"/>
              </a:spcBef>
              <a:spcAft>
                <a:spcPts val="0"/>
              </a:spcAft>
              <a:buClr>
                <a:schemeClr val="dk1"/>
              </a:buClr>
              <a:buSzPts val="2400"/>
              <a:buChar char="•"/>
            </a:pPr>
            <a:r>
              <a:rPr lang="en-US" sz="2400">
                <a:latin typeface="PMingLiU"/>
                <a:ea typeface="PMingLiU"/>
                <a:cs typeface="PMingLiU"/>
                <a:sym typeface="PMingLiU"/>
              </a:rPr>
              <a:t>真偽辨識方式</a:t>
            </a:r>
            <a:endParaRPr sz="2400">
              <a:latin typeface="PMingLiU"/>
              <a:ea typeface="PMingLiU"/>
              <a:cs typeface="PMingLiU"/>
              <a:sym typeface="PMingLiU"/>
            </a:endParaRPr>
          </a:p>
          <a:p>
            <a:pPr indent="-228600" lvl="0" marL="228600" rtl="0" algn="l">
              <a:lnSpc>
                <a:spcPct val="110000"/>
              </a:lnSpc>
              <a:spcBef>
                <a:spcPts val="1000"/>
              </a:spcBef>
              <a:spcAft>
                <a:spcPts val="0"/>
              </a:spcAft>
              <a:buClr>
                <a:schemeClr val="dk1"/>
              </a:buClr>
              <a:buSzPts val="2400"/>
              <a:buChar char="•"/>
            </a:pPr>
            <a:r>
              <a:rPr lang="en-US" sz="2400">
                <a:latin typeface="PMingLiU"/>
                <a:ea typeface="PMingLiU"/>
                <a:cs typeface="PMingLiU"/>
                <a:sym typeface="PMingLiU"/>
              </a:rPr>
              <a:t>實驗設計</a:t>
            </a:r>
            <a:endParaRPr sz="2400">
              <a:latin typeface="PMingLiU"/>
              <a:ea typeface="PMingLiU"/>
              <a:cs typeface="PMingLiU"/>
              <a:sym typeface="PMingLiU"/>
            </a:endParaRPr>
          </a:p>
          <a:p>
            <a:pPr indent="-228600" lvl="0" marL="228600" rtl="0" algn="l">
              <a:lnSpc>
                <a:spcPct val="110000"/>
              </a:lnSpc>
              <a:spcBef>
                <a:spcPts val="1000"/>
              </a:spcBef>
              <a:spcAft>
                <a:spcPts val="0"/>
              </a:spcAft>
              <a:buClr>
                <a:schemeClr val="dk1"/>
              </a:buClr>
              <a:buSzPts val="2400"/>
              <a:buChar char="•"/>
            </a:pPr>
            <a:r>
              <a:rPr lang="en-US" sz="2400">
                <a:latin typeface="PMingLiU"/>
                <a:ea typeface="PMingLiU"/>
                <a:cs typeface="PMingLiU"/>
                <a:sym typeface="PMingLiU"/>
              </a:rPr>
              <a:t>實驗結果</a:t>
            </a:r>
            <a:endParaRPr sz="2400">
              <a:latin typeface="PMingLiU"/>
              <a:ea typeface="PMingLiU"/>
              <a:cs typeface="PMingLiU"/>
              <a:sym typeface="PMingLiU"/>
            </a:endParaRPr>
          </a:p>
        </p:txBody>
      </p:sp>
      <p:sp>
        <p:nvSpPr>
          <p:cNvPr id="97" name="Google Shape;97;p2"/>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sp>
        <p:nvSpPr>
          <p:cNvPr id="98" name="Google Shape;98;p2"/>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800"/>
              <a:buFont typeface="PMingLiU"/>
              <a:buNone/>
            </a:pPr>
            <a:r>
              <a:rPr lang="en-US" sz="4800">
                <a:latin typeface="PMingLiU"/>
                <a:ea typeface="PMingLiU"/>
                <a:cs typeface="PMingLiU"/>
                <a:sym typeface="PMingLiU"/>
              </a:rPr>
              <a:t>實驗背景</a:t>
            </a:r>
            <a:endParaRPr/>
          </a:p>
        </p:txBody>
      </p:sp>
      <p:sp>
        <p:nvSpPr>
          <p:cNvPr id="104" name="Google Shape;104;p3"/>
          <p:cNvSpPr txBox="1"/>
          <p:nvPr>
            <p:ph idx="1" type="body"/>
          </p:nvPr>
        </p:nvSpPr>
        <p:spPr>
          <a:xfrm>
            <a:off x="700635" y="2293126"/>
            <a:ext cx="10691265" cy="3636088"/>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chemeClr val="dk1"/>
              </a:buClr>
              <a:buSzPts val="2400"/>
              <a:buChar char="•"/>
            </a:pPr>
            <a:r>
              <a:rPr b="1" lang="en-US" sz="2400">
                <a:latin typeface="PMingLiU"/>
                <a:ea typeface="PMingLiU"/>
                <a:cs typeface="PMingLiU"/>
                <a:sym typeface="PMingLiU"/>
              </a:rPr>
              <a:t>領域概述：</a:t>
            </a:r>
            <a:r>
              <a:rPr lang="en-US" sz="2400">
                <a:latin typeface="PMingLiU"/>
                <a:ea typeface="PMingLiU"/>
                <a:cs typeface="PMingLiU"/>
                <a:sym typeface="PMingLiU"/>
              </a:rPr>
              <a:t>近年生成式 AI (Generative AI) 技術快速演進，高逼真度的深度偽造 (DeepFake) 影音生成門檻大幅降低，對社會信任與資訊安全構成嚴峻挑戰。</a:t>
            </a:r>
            <a:endParaRPr sz="2400">
              <a:latin typeface="PMingLiU"/>
              <a:ea typeface="PMingLiU"/>
              <a:cs typeface="PMingLiU"/>
              <a:sym typeface="PMingLiU"/>
            </a:endParaRPr>
          </a:p>
          <a:p>
            <a:pPr indent="-228600" lvl="0" marL="228600" rtl="0" algn="l">
              <a:lnSpc>
                <a:spcPct val="110000"/>
              </a:lnSpc>
              <a:spcBef>
                <a:spcPts val="1000"/>
              </a:spcBef>
              <a:spcAft>
                <a:spcPts val="0"/>
              </a:spcAft>
              <a:buClr>
                <a:schemeClr val="dk1"/>
              </a:buClr>
              <a:buSzPts val="2400"/>
              <a:buChar char="•"/>
            </a:pPr>
            <a:r>
              <a:rPr b="1" lang="en-US" sz="2400">
                <a:latin typeface="PMingLiU"/>
                <a:ea typeface="PMingLiU"/>
                <a:cs typeface="PMingLiU"/>
                <a:sym typeface="PMingLiU"/>
              </a:rPr>
              <a:t>現有技術：</a:t>
            </a:r>
            <a:r>
              <a:rPr lang="en-US" sz="2400">
                <a:latin typeface="PMingLiU"/>
                <a:ea typeface="PMingLiU"/>
                <a:cs typeface="PMingLiU"/>
                <a:sym typeface="PMingLiU"/>
              </a:rPr>
              <a:t>目前學術界與業界主流的高精度偵測模型，大多高度仰賴龐大參數量的神經網路與雲端運算資源。</a:t>
            </a:r>
            <a:endParaRPr>
              <a:latin typeface="PMingLiU"/>
              <a:ea typeface="PMingLiU"/>
              <a:cs typeface="PMingLiU"/>
              <a:sym typeface="PMingLiU"/>
            </a:endParaRPr>
          </a:p>
        </p:txBody>
      </p:sp>
      <p:sp>
        <p:nvSpPr>
          <p:cNvPr id="105" name="Google Shape;105;p3"/>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sp>
        <p:nvSpPr>
          <p:cNvPr id="106" name="Google Shape;106;p3"/>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800"/>
              <a:buFont typeface="PMingLiU"/>
              <a:buNone/>
            </a:pPr>
            <a:r>
              <a:rPr lang="en-US" sz="4800">
                <a:latin typeface="PMingLiU"/>
                <a:ea typeface="PMingLiU"/>
                <a:cs typeface="PMingLiU"/>
                <a:sym typeface="PMingLiU"/>
              </a:rPr>
              <a:t>實驗動機</a:t>
            </a:r>
            <a:endParaRPr sz="4800">
              <a:latin typeface="PMingLiU"/>
              <a:ea typeface="PMingLiU"/>
              <a:cs typeface="PMingLiU"/>
              <a:sym typeface="PMingLiU"/>
            </a:endParaRPr>
          </a:p>
        </p:txBody>
      </p:sp>
      <p:sp>
        <p:nvSpPr>
          <p:cNvPr id="112" name="Google Shape;112;p4"/>
          <p:cNvSpPr txBox="1"/>
          <p:nvPr>
            <p:ph idx="1" type="body"/>
          </p:nvPr>
        </p:nvSpPr>
        <p:spPr>
          <a:xfrm>
            <a:off x="700635" y="2293126"/>
            <a:ext cx="10691265" cy="3808152"/>
          </a:xfrm>
          <a:prstGeom prst="rect">
            <a:avLst/>
          </a:prstGeom>
          <a:noFill/>
          <a:ln>
            <a:noFill/>
          </a:ln>
        </p:spPr>
        <p:txBody>
          <a:bodyPr anchorCtr="0" anchor="t" bIns="45700" lIns="91425" spcFirstLastPara="1" rIns="91425" wrap="square" tIns="45700">
            <a:normAutofit lnSpcReduction="10000"/>
          </a:bodyPr>
          <a:lstStyle/>
          <a:p>
            <a:pPr indent="-457200" lvl="0" marL="457200" rtl="0" algn="l">
              <a:lnSpc>
                <a:spcPct val="110000"/>
              </a:lnSpc>
              <a:spcBef>
                <a:spcPts val="0"/>
              </a:spcBef>
              <a:spcAft>
                <a:spcPts val="0"/>
              </a:spcAft>
              <a:buClr>
                <a:schemeClr val="dk1"/>
              </a:buClr>
              <a:buSzPts val="2400"/>
              <a:buAutoNum type="arabicPeriod"/>
            </a:pPr>
            <a:r>
              <a:rPr b="1" lang="en-US" sz="2400">
                <a:latin typeface="PMingLiU"/>
                <a:ea typeface="PMingLiU"/>
                <a:cs typeface="PMingLiU"/>
                <a:sym typeface="PMingLiU"/>
              </a:rPr>
              <a:t>查證過程缺乏即時性</a:t>
            </a:r>
            <a:r>
              <a:rPr lang="en-US" sz="2400">
                <a:latin typeface="PMingLiU"/>
                <a:ea typeface="PMingLiU"/>
                <a:cs typeface="PMingLiU"/>
                <a:sym typeface="PMingLiU"/>
              </a:rPr>
              <a:t>：需要手動下載可疑影像再上傳至特定網站進行非同步檢測。</a:t>
            </a:r>
            <a:endParaRPr sz="2400">
              <a:latin typeface="PMingLiU"/>
              <a:ea typeface="PMingLiU"/>
              <a:cs typeface="PMingLiU"/>
              <a:sym typeface="PMingLiU"/>
            </a:endParaRPr>
          </a:p>
          <a:p>
            <a:pPr indent="-457200" lvl="1" marL="914400" rtl="0" algn="l">
              <a:lnSpc>
                <a:spcPct val="110000"/>
              </a:lnSpc>
              <a:spcBef>
                <a:spcPts val="500"/>
              </a:spcBef>
              <a:spcAft>
                <a:spcPts val="0"/>
              </a:spcAft>
              <a:buClr>
                <a:schemeClr val="dk1"/>
              </a:buClr>
              <a:buSzPts val="2000"/>
              <a:buFont typeface="Courier New"/>
              <a:buChar char="o"/>
            </a:pPr>
            <a:r>
              <a:rPr lang="en-US" sz="2000">
                <a:latin typeface="PMingLiU"/>
                <a:ea typeface="PMingLiU"/>
                <a:cs typeface="PMingLiU"/>
                <a:sym typeface="PMingLiU"/>
              </a:rPr>
              <a:t>無法有效攔截正在發生的即時視訊通話詐騙</a:t>
            </a:r>
            <a:endParaRPr sz="2000">
              <a:latin typeface="PMingLiU"/>
              <a:ea typeface="PMingLiU"/>
              <a:cs typeface="PMingLiU"/>
              <a:sym typeface="PMingLiU"/>
            </a:endParaRPr>
          </a:p>
          <a:p>
            <a:pPr indent="-457200" lvl="0" marL="457200" rtl="0" algn="l">
              <a:lnSpc>
                <a:spcPct val="110000"/>
              </a:lnSpc>
              <a:spcBef>
                <a:spcPts val="1000"/>
              </a:spcBef>
              <a:spcAft>
                <a:spcPts val="0"/>
              </a:spcAft>
              <a:buClr>
                <a:schemeClr val="dk1"/>
              </a:buClr>
              <a:buSzPts val="2400"/>
              <a:buAutoNum type="arabicPeriod"/>
            </a:pPr>
            <a:r>
              <a:rPr b="1" lang="en-US" sz="2400">
                <a:latin typeface="PMingLiU"/>
                <a:ea typeface="PMingLiU"/>
                <a:cs typeface="PMingLiU"/>
                <a:sym typeface="PMingLiU"/>
              </a:rPr>
              <a:t>檢測工具門檻太高</a:t>
            </a:r>
            <a:r>
              <a:rPr lang="en-US" sz="2400">
                <a:latin typeface="PMingLiU"/>
                <a:ea typeface="PMingLiU"/>
                <a:cs typeface="PMingLiU"/>
                <a:sym typeface="PMingLiU"/>
              </a:rPr>
              <a:t>：目前具備高準確度的 DeepFake 偵測平台，多為付費服務或高度仰賴雲端算力。</a:t>
            </a:r>
            <a:endParaRPr/>
          </a:p>
          <a:p>
            <a:pPr indent="-457200" lvl="1" marL="914400" rtl="0" algn="l">
              <a:lnSpc>
                <a:spcPct val="110000"/>
              </a:lnSpc>
              <a:spcBef>
                <a:spcPts val="500"/>
              </a:spcBef>
              <a:spcAft>
                <a:spcPts val="0"/>
              </a:spcAft>
              <a:buClr>
                <a:schemeClr val="dk1"/>
              </a:buClr>
              <a:buSzPts val="2000"/>
              <a:buFont typeface="Courier New"/>
              <a:buChar char="o"/>
            </a:pPr>
            <a:r>
              <a:rPr lang="en-US" sz="2000">
                <a:latin typeface="PMingLiU"/>
                <a:ea typeface="PMingLiU"/>
                <a:cs typeface="PMingLiU"/>
                <a:sym typeface="PMingLiU"/>
              </a:rPr>
              <a:t>網站多半都是需要付費才能使用完整功能</a:t>
            </a:r>
            <a:endParaRPr sz="2000">
              <a:latin typeface="PMingLiU"/>
              <a:ea typeface="PMingLiU"/>
              <a:cs typeface="PMingLiU"/>
              <a:sym typeface="PMingLiU"/>
            </a:endParaRPr>
          </a:p>
          <a:p>
            <a:pPr indent="-457200" lvl="0" marL="457200" rtl="0" algn="l">
              <a:lnSpc>
                <a:spcPct val="110000"/>
              </a:lnSpc>
              <a:spcBef>
                <a:spcPts val="1000"/>
              </a:spcBef>
              <a:spcAft>
                <a:spcPts val="0"/>
              </a:spcAft>
              <a:buClr>
                <a:schemeClr val="dk1"/>
              </a:buClr>
              <a:buSzPts val="2400"/>
              <a:buAutoNum type="arabicPeriod"/>
            </a:pPr>
            <a:r>
              <a:rPr b="1" lang="en-US" sz="2400">
                <a:latin typeface="PMingLiU"/>
                <a:ea typeface="PMingLiU"/>
                <a:cs typeface="PMingLiU"/>
                <a:sym typeface="PMingLiU"/>
              </a:rPr>
              <a:t>本地端硬體算力限制</a:t>
            </a:r>
            <a:r>
              <a:rPr lang="en-US" sz="2400">
                <a:latin typeface="PMingLiU"/>
                <a:ea typeface="PMingLiU"/>
                <a:cs typeface="PMingLiU"/>
                <a:sym typeface="PMingLiU"/>
              </a:rPr>
              <a:t>：傳統高參數量之神經網路模型運算負載過大、推論時間長。</a:t>
            </a:r>
            <a:endParaRPr sz="2400">
              <a:latin typeface="PMingLiU"/>
              <a:ea typeface="PMingLiU"/>
              <a:cs typeface="PMingLiU"/>
              <a:sym typeface="PMingLiU"/>
            </a:endParaRPr>
          </a:p>
          <a:p>
            <a:pPr indent="-457200" lvl="1" marL="914400" rtl="0" algn="l">
              <a:lnSpc>
                <a:spcPct val="110000"/>
              </a:lnSpc>
              <a:spcBef>
                <a:spcPts val="500"/>
              </a:spcBef>
              <a:spcAft>
                <a:spcPts val="0"/>
              </a:spcAft>
              <a:buClr>
                <a:schemeClr val="dk1"/>
              </a:buClr>
              <a:buSzPts val="2000"/>
              <a:buFont typeface="Courier New"/>
              <a:buChar char="o"/>
            </a:pPr>
            <a:r>
              <a:rPr lang="en-US" sz="2000">
                <a:latin typeface="PMingLiU"/>
                <a:ea typeface="PMingLiU"/>
                <a:cs typeface="PMingLiU"/>
                <a:sym typeface="PMingLiU"/>
              </a:rPr>
              <a:t>難以在一般家用顯示卡上達成低延遲偵測速度</a:t>
            </a:r>
            <a:endParaRPr sz="2000">
              <a:latin typeface="PMingLiU"/>
              <a:ea typeface="PMingLiU"/>
              <a:cs typeface="PMingLiU"/>
              <a:sym typeface="PMingLiU"/>
            </a:endParaRPr>
          </a:p>
        </p:txBody>
      </p:sp>
      <p:sp>
        <p:nvSpPr>
          <p:cNvPr id="113" name="Google Shape;113;p4"/>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sp>
        <p:nvSpPr>
          <p:cNvPr id="114" name="Google Shape;114;p4"/>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800"/>
              <a:buFont typeface="PMingLiU"/>
              <a:buNone/>
            </a:pPr>
            <a:r>
              <a:rPr lang="en-US" sz="4800">
                <a:latin typeface="PMingLiU"/>
                <a:ea typeface="PMingLiU"/>
                <a:cs typeface="PMingLiU"/>
                <a:sym typeface="PMingLiU"/>
              </a:rPr>
              <a:t>實驗步驟</a:t>
            </a:r>
            <a:endParaRPr/>
          </a:p>
        </p:txBody>
      </p:sp>
      <p:sp>
        <p:nvSpPr>
          <p:cNvPr id="120" name="Google Shape;120;p5"/>
          <p:cNvSpPr txBox="1"/>
          <p:nvPr>
            <p:ph idx="1" type="body"/>
          </p:nvPr>
        </p:nvSpPr>
        <p:spPr>
          <a:xfrm>
            <a:off x="700635" y="2293126"/>
            <a:ext cx="10691265" cy="3636088"/>
          </a:xfrm>
          <a:prstGeom prst="rect">
            <a:avLst/>
          </a:prstGeom>
          <a:noFill/>
          <a:ln>
            <a:noFill/>
          </a:ln>
        </p:spPr>
        <p:txBody>
          <a:bodyPr anchorCtr="0" anchor="t" bIns="45700" lIns="91425" spcFirstLastPara="1" rIns="91425" wrap="square" tIns="45700">
            <a:normAutofit/>
          </a:bodyPr>
          <a:lstStyle/>
          <a:p>
            <a:pPr indent="-457200" lvl="0" marL="457200" rtl="0" algn="l">
              <a:lnSpc>
                <a:spcPct val="110000"/>
              </a:lnSpc>
              <a:spcBef>
                <a:spcPts val="0"/>
              </a:spcBef>
              <a:spcAft>
                <a:spcPts val="0"/>
              </a:spcAft>
              <a:buClr>
                <a:schemeClr val="dk1"/>
              </a:buClr>
              <a:buSzPts val="2400"/>
              <a:buAutoNum type="arabicPeriod"/>
            </a:pPr>
            <a:r>
              <a:rPr lang="en-US" sz="2400">
                <a:latin typeface="PMingLiU"/>
                <a:ea typeface="PMingLiU"/>
                <a:cs typeface="PMingLiU"/>
                <a:sym typeface="PMingLiU"/>
              </a:rPr>
              <a:t>擷取螢幕畫面。</a:t>
            </a:r>
            <a:endParaRPr/>
          </a:p>
          <a:p>
            <a:pPr indent="-457200" lvl="0" marL="457200" rtl="0" algn="l">
              <a:lnSpc>
                <a:spcPct val="110000"/>
              </a:lnSpc>
              <a:spcBef>
                <a:spcPts val="1000"/>
              </a:spcBef>
              <a:spcAft>
                <a:spcPts val="0"/>
              </a:spcAft>
              <a:buClr>
                <a:schemeClr val="dk1"/>
              </a:buClr>
              <a:buSzPts val="2400"/>
              <a:buAutoNum type="arabicPeriod"/>
            </a:pPr>
            <a:r>
              <a:rPr lang="en-US" sz="2400">
                <a:latin typeface="PMingLiU"/>
                <a:ea typeface="PMingLiU"/>
                <a:cs typeface="PMingLiU"/>
                <a:sym typeface="PMingLiU"/>
              </a:rPr>
              <a:t>偵測畫面中是否出現人臉。</a:t>
            </a:r>
            <a:endParaRPr/>
          </a:p>
          <a:p>
            <a:pPr indent="-457200" lvl="0" marL="457200" rtl="0" algn="l">
              <a:lnSpc>
                <a:spcPct val="110000"/>
              </a:lnSpc>
              <a:spcBef>
                <a:spcPts val="1000"/>
              </a:spcBef>
              <a:spcAft>
                <a:spcPts val="0"/>
              </a:spcAft>
              <a:buClr>
                <a:schemeClr val="dk1"/>
              </a:buClr>
              <a:buSzPts val="2400"/>
              <a:buAutoNum type="arabicPeriod"/>
            </a:pPr>
            <a:r>
              <a:rPr lang="en-US" sz="2400">
                <a:latin typeface="PMingLiU"/>
                <a:ea typeface="PMingLiU"/>
                <a:cs typeface="PMingLiU"/>
                <a:sym typeface="PMingLiU"/>
              </a:rPr>
              <a:t>若出現人臉則進行下一步，若未出現人臉則回到第1步。</a:t>
            </a:r>
            <a:endParaRPr/>
          </a:p>
          <a:p>
            <a:pPr indent="-457200" lvl="0" marL="457200" rtl="0" algn="l">
              <a:lnSpc>
                <a:spcPct val="110000"/>
              </a:lnSpc>
              <a:spcBef>
                <a:spcPts val="1000"/>
              </a:spcBef>
              <a:spcAft>
                <a:spcPts val="0"/>
              </a:spcAft>
              <a:buClr>
                <a:schemeClr val="dk1"/>
              </a:buClr>
              <a:buSzPts val="2400"/>
              <a:buAutoNum type="arabicPeriod"/>
            </a:pPr>
            <a:r>
              <a:rPr lang="en-US" sz="2400">
                <a:latin typeface="PMingLiU"/>
                <a:ea typeface="PMingLiU"/>
                <a:cs typeface="PMingLiU"/>
                <a:sym typeface="PMingLiU"/>
              </a:rPr>
              <a:t>使用 FakeFormer 模型偵測人臉真偽。</a:t>
            </a:r>
            <a:endParaRPr/>
          </a:p>
          <a:p>
            <a:pPr indent="-457200" lvl="0" marL="457200" rtl="0" algn="l">
              <a:lnSpc>
                <a:spcPct val="110000"/>
              </a:lnSpc>
              <a:spcBef>
                <a:spcPts val="1000"/>
              </a:spcBef>
              <a:spcAft>
                <a:spcPts val="0"/>
              </a:spcAft>
              <a:buClr>
                <a:schemeClr val="dk1"/>
              </a:buClr>
              <a:buSzPts val="2400"/>
              <a:buAutoNum type="arabicPeriod"/>
            </a:pPr>
            <a:r>
              <a:rPr lang="en-US" sz="2400">
                <a:latin typeface="PMingLiU"/>
                <a:ea typeface="PMingLiU"/>
                <a:cs typeface="PMingLiU"/>
                <a:sym typeface="PMingLiU"/>
              </a:rPr>
              <a:t>若人臉為真就繼續偵測，若為假則跳出警示視窗，並在關閉後繼續執行。</a:t>
            </a:r>
            <a:endParaRPr/>
          </a:p>
        </p:txBody>
      </p:sp>
      <p:sp>
        <p:nvSpPr>
          <p:cNvPr id="121" name="Google Shape;121;p5"/>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sp>
        <p:nvSpPr>
          <p:cNvPr id="122" name="Google Shape;122;p5"/>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2d73a338f24f133_0"/>
          <p:cNvSpPr txBox="1"/>
          <p:nvPr>
            <p:ph type="title"/>
          </p:nvPr>
        </p:nvSpPr>
        <p:spPr>
          <a:xfrm>
            <a:off x="700635" y="922096"/>
            <a:ext cx="10691400" cy="1371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PMingLiU"/>
              <a:buNone/>
            </a:pPr>
            <a:r>
              <a:rPr lang="en-US" sz="4800">
                <a:latin typeface="PMingLiU"/>
                <a:ea typeface="PMingLiU"/>
                <a:cs typeface="PMingLiU"/>
                <a:sym typeface="PMingLiU"/>
              </a:rPr>
              <a:t>系統架構圖</a:t>
            </a:r>
            <a:endParaRPr/>
          </a:p>
        </p:txBody>
      </p:sp>
      <p:sp>
        <p:nvSpPr>
          <p:cNvPr id="128" name="Google Shape;128;g2d73a338f24f133_0"/>
          <p:cNvSpPr txBox="1"/>
          <p:nvPr>
            <p:ph idx="12" type="sldNum"/>
          </p:nvPr>
        </p:nvSpPr>
        <p:spPr>
          <a:xfrm>
            <a:off x="10919012" y="6356350"/>
            <a:ext cx="672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9" name="Google Shape;129;g2d73a338f24f133_0"/>
          <p:cNvPicPr preferRelativeResize="0"/>
          <p:nvPr/>
        </p:nvPicPr>
        <p:blipFill>
          <a:blip r:embed="rId3">
            <a:alphaModFix/>
          </a:blip>
          <a:stretch>
            <a:fillRect/>
          </a:stretch>
        </p:blipFill>
        <p:spPr>
          <a:xfrm>
            <a:off x="2342225" y="1874000"/>
            <a:ext cx="7507549" cy="44823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800"/>
              <a:buFont typeface="PMingLiU"/>
              <a:buNone/>
            </a:pPr>
            <a:r>
              <a:rPr lang="en-US" sz="4800">
                <a:latin typeface="PMingLiU"/>
                <a:ea typeface="PMingLiU"/>
                <a:cs typeface="PMingLiU"/>
                <a:sym typeface="PMingLiU"/>
              </a:rPr>
              <a:t>資料集(YOLOv10)</a:t>
            </a:r>
            <a:br>
              <a:rPr lang="en-US" sz="4800">
                <a:latin typeface="PMingLiU"/>
                <a:ea typeface="PMingLiU"/>
                <a:cs typeface="PMingLiU"/>
                <a:sym typeface="PMingLiU"/>
              </a:rPr>
            </a:br>
            <a:r>
              <a:rPr b="1" lang="en-US" sz="2400">
                <a:solidFill>
                  <a:srgbClr val="202124"/>
                </a:solidFill>
                <a:highlight>
                  <a:srgbClr val="FFFFFF"/>
                </a:highlight>
                <a:latin typeface="PMingLiU"/>
                <a:ea typeface="PMingLiU"/>
                <a:cs typeface="PMingLiU"/>
                <a:sym typeface="PMingLiU"/>
              </a:rPr>
              <a:t>WIDER_FACE_A_FACE_DETECTION_DATASET</a:t>
            </a:r>
            <a:endParaRPr sz="2400">
              <a:latin typeface="PMingLiU"/>
              <a:ea typeface="PMingLiU"/>
              <a:cs typeface="PMingLiU"/>
              <a:sym typeface="PMingLiU"/>
            </a:endParaRPr>
          </a:p>
        </p:txBody>
      </p:sp>
      <p:sp>
        <p:nvSpPr>
          <p:cNvPr id="135" name="Google Shape;135;p7"/>
          <p:cNvSpPr txBox="1"/>
          <p:nvPr>
            <p:ph idx="1" type="body"/>
          </p:nvPr>
        </p:nvSpPr>
        <p:spPr>
          <a:xfrm>
            <a:off x="758145" y="2278749"/>
            <a:ext cx="10691265" cy="3636088"/>
          </a:xfrm>
          <a:prstGeom prst="rect">
            <a:avLst/>
          </a:prstGeom>
          <a:noFill/>
          <a:ln>
            <a:noFill/>
          </a:ln>
        </p:spPr>
        <p:txBody>
          <a:bodyPr anchorCtr="0" anchor="t" bIns="45700" lIns="91425" spcFirstLastPara="1" rIns="91425" wrap="square" tIns="45700">
            <a:noAutofit/>
          </a:bodyPr>
          <a:lstStyle/>
          <a:p>
            <a:pPr indent="-228600" lvl="0" marL="228600" rtl="0" algn="l">
              <a:lnSpc>
                <a:spcPct val="110000"/>
              </a:lnSpc>
              <a:spcBef>
                <a:spcPts val="0"/>
              </a:spcBef>
              <a:spcAft>
                <a:spcPts val="0"/>
              </a:spcAft>
              <a:buClr>
                <a:srgbClr val="000000"/>
              </a:buClr>
              <a:buSzPts val="2000"/>
              <a:buFont typeface="Arial"/>
              <a:buChar char="•"/>
            </a:pPr>
            <a:r>
              <a:rPr lang="en-US">
                <a:solidFill>
                  <a:srgbClr val="000000"/>
                </a:solidFill>
                <a:highlight>
                  <a:srgbClr val="FFFFFF"/>
                </a:highlight>
                <a:latin typeface="PMingLiU"/>
                <a:ea typeface="PMingLiU"/>
                <a:cs typeface="PMingLiU"/>
                <a:sym typeface="PMingLiU"/>
              </a:rPr>
              <a:t>圖片總數：32,203 張</a:t>
            </a:r>
            <a:endParaRPr>
              <a:solidFill>
                <a:srgbClr val="000000"/>
              </a:solidFill>
              <a:highlight>
                <a:srgbClr val="FFFFFF"/>
              </a:highlight>
              <a:latin typeface="PMingLiU"/>
              <a:ea typeface="PMingLiU"/>
              <a:cs typeface="PMingLiU"/>
              <a:sym typeface="PMingLiU"/>
            </a:endParaRPr>
          </a:p>
          <a:p>
            <a:pPr indent="-285750" lvl="1" marL="971550" rtl="0" algn="l">
              <a:lnSpc>
                <a:spcPct val="110000"/>
              </a:lnSpc>
              <a:spcBef>
                <a:spcPts val="500"/>
              </a:spcBef>
              <a:spcAft>
                <a:spcPts val="0"/>
              </a:spcAft>
              <a:buClr>
                <a:srgbClr val="000000"/>
              </a:buClr>
              <a:buSzPts val="2000"/>
              <a:buFont typeface="Arial"/>
              <a:buChar char="•"/>
            </a:pPr>
            <a:r>
              <a:rPr lang="en-US" sz="2000">
                <a:solidFill>
                  <a:srgbClr val="000000"/>
                </a:solidFill>
                <a:highlight>
                  <a:srgbClr val="FFFFFF"/>
                </a:highlight>
                <a:latin typeface="PMingLiU"/>
                <a:ea typeface="PMingLiU"/>
                <a:cs typeface="PMingLiU"/>
                <a:sym typeface="PMingLiU"/>
              </a:rPr>
              <a:t>Training Set (1.4G)： 用於訓練模型</a:t>
            </a:r>
            <a:endParaRPr/>
          </a:p>
          <a:p>
            <a:pPr indent="-285750" lvl="1" marL="971550" rtl="0" algn="l">
              <a:lnSpc>
                <a:spcPct val="110000"/>
              </a:lnSpc>
              <a:spcBef>
                <a:spcPts val="500"/>
              </a:spcBef>
              <a:spcAft>
                <a:spcPts val="0"/>
              </a:spcAft>
              <a:buClr>
                <a:srgbClr val="000000"/>
              </a:buClr>
              <a:buSzPts val="2000"/>
              <a:buFont typeface="Arial"/>
              <a:buChar char="•"/>
            </a:pPr>
            <a:r>
              <a:rPr lang="en-US" sz="2000">
                <a:solidFill>
                  <a:srgbClr val="000000"/>
                </a:solidFill>
                <a:highlight>
                  <a:srgbClr val="FFFFFF"/>
                </a:highlight>
                <a:latin typeface="PMingLiU"/>
                <a:ea typeface="PMingLiU"/>
                <a:cs typeface="PMingLiU"/>
                <a:sym typeface="PMingLiU"/>
              </a:rPr>
              <a:t>Validation Set (346M)： 用於調參和消融實驗</a:t>
            </a:r>
            <a:endParaRPr/>
          </a:p>
          <a:p>
            <a:pPr indent="-285750" lvl="1" marL="971550" rtl="0" algn="l">
              <a:lnSpc>
                <a:spcPct val="110000"/>
              </a:lnSpc>
              <a:spcBef>
                <a:spcPts val="500"/>
              </a:spcBef>
              <a:spcAft>
                <a:spcPts val="0"/>
              </a:spcAft>
              <a:buClr>
                <a:srgbClr val="000000"/>
              </a:buClr>
              <a:buSzPts val="2000"/>
              <a:buFont typeface="Arial"/>
              <a:buChar char="•"/>
            </a:pPr>
            <a:r>
              <a:rPr lang="en-US" sz="2000">
                <a:solidFill>
                  <a:srgbClr val="000000"/>
                </a:solidFill>
                <a:highlight>
                  <a:srgbClr val="FFFFFF"/>
                </a:highlight>
                <a:latin typeface="PMingLiU"/>
                <a:ea typeface="PMingLiU"/>
                <a:cs typeface="PMingLiU"/>
                <a:sym typeface="PMingLiU"/>
              </a:rPr>
              <a:t>Testing Set (1.7Ｇ)： 標籤不對外公布</a:t>
            </a:r>
            <a:endParaRPr sz="2000">
              <a:solidFill>
                <a:srgbClr val="000000"/>
              </a:solidFill>
              <a:highlight>
                <a:srgbClr val="FFFFFF"/>
              </a:highlight>
              <a:latin typeface="PMingLiU"/>
              <a:ea typeface="PMingLiU"/>
              <a:cs typeface="PMingLiU"/>
              <a:sym typeface="PMingLiU"/>
            </a:endParaRPr>
          </a:p>
          <a:p>
            <a:pPr indent="-228600" lvl="0" marL="228600" rtl="0" algn="l">
              <a:lnSpc>
                <a:spcPct val="110000"/>
              </a:lnSpc>
              <a:spcBef>
                <a:spcPts val="1000"/>
              </a:spcBef>
              <a:spcAft>
                <a:spcPts val="0"/>
              </a:spcAft>
              <a:buClr>
                <a:srgbClr val="000000"/>
              </a:buClr>
              <a:buSzPts val="2000"/>
              <a:buFont typeface="Arial"/>
              <a:buChar char="•"/>
            </a:pPr>
            <a:r>
              <a:rPr lang="en-US">
                <a:solidFill>
                  <a:srgbClr val="000000"/>
                </a:solidFill>
                <a:highlight>
                  <a:srgbClr val="FFFFFF"/>
                </a:highlight>
                <a:latin typeface="PMingLiU"/>
                <a:ea typeface="PMingLiU"/>
                <a:cs typeface="PMingLiU"/>
                <a:sym typeface="PMingLiU"/>
              </a:rPr>
              <a:t>標註人臉數：393,703 個</a:t>
            </a:r>
            <a:endParaRPr>
              <a:solidFill>
                <a:srgbClr val="000000"/>
              </a:solidFill>
              <a:highlight>
                <a:srgbClr val="FFFFFF"/>
              </a:highlight>
              <a:latin typeface="PMingLiU"/>
              <a:ea typeface="PMingLiU"/>
              <a:cs typeface="PMingLiU"/>
              <a:sym typeface="PMingLiU"/>
            </a:endParaRPr>
          </a:p>
          <a:p>
            <a:pPr indent="-228600" lvl="0" marL="228600" rtl="0" algn="l">
              <a:lnSpc>
                <a:spcPct val="110000"/>
              </a:lnSpc>
              <a:spcBef>
                <a:spcPts val="1000"/>
              </a:spcBef>
              <a:spcAft>
                <a:spcPts val="0"/>
              </a:spcAft>
              <a:buClr>
                <a:srgbClr val="000000"/>
              </a:buClr>
              <a:buSzPts val="2000"/>
              <a:buFont typeface="Arial"/>
              <a:buChar char="•"/>
            </a:pPr>
            <a:r>
              <a:rPr lang="en-US">
                <a:solidFill>
                  <a:srgbClr val="000000"/>
                </a:solidFill>
                <a:highlight>
                  <a:srgbClr val="FFFFFF"/>
                </a:highlight>
                <a:latin typeface="PMingLiU"/>
                <a:ea typeface="PMingLiU"/>
                <a:cs typeface="PMingLiU"/>
                <a:sym typeface="PMingLiU"/>
              </a:rPr>
              <a:t>場景類別：61</a:t>
            </a:r>
            <a:endParaRPr>
              <a:solidFill>
                <a:srgbClr val="000000"/>
              </a:solidFill>
              <a:highlight>
                <a:srgbClr val="FFFFFF"/>
              </a:highlight>
              <a:latin typeface="PMingLiU"/>
              <a:ea typeface="PMingLiU"/>
              <a:cs typeface="PMingLiU"/>
              <a:sym typeface="PMingLiU"/>
            </a:endParaRPr>
          </a:p>
          <a:p>
            <a:pPr indent="-228600" lvl="0" marL="228600" rtl="0" algn="l">
              <a:lnSpc>
                <a:spcPct val="110000"/>
              </a:lnSpc>
              <a:spcBef>
                <a:spcPts val="1000"/>
              </a:spcBef>
              <a:spcAft>
                <a:spcPts val="0"/>
              </a:spcAft>
              <a:buClr>
                <a:srgbClr val="000000"/>
              </a:buClr>
              <a:buSzPts val="2000"/>
              <a:buFont typeface="Arial"/>
              <a:buChar char="•"/>
            </a:pPr>
            <a:r>
              <a:rPr lang="en-US">
                <a:solidFill>
                  <a:srgbClr val="000000"/>
                </a:solidFill>
                <a:highlight>
                  <a:srgbClr val="FFFFFF"/>
                </a:highlight>
                <a:latin typeface="PMingLiU"/>
                <a:ea typeface="PMingLiU"/>
                <a:cs typeface="PMingLiU"/>
                <a:sym typeface="PMingLiU"/>
              </a:rPr>
              <a:t>發布年份：2016</a:t>
            </a:r>
            <a:endParaRPr/>
          </a:p>
          <a:p>
            <a:pPr indent="-228600" lvl="0" marL="228600" rtl="0" algn="l">
              <a:lnSpc>
                <a:spcPct val="110000"/>
              </a:lnSpc>
              <a:spcBef>
                <a:spcPts val="1000"/>
              </a:spcBef>
              <a:spcAft>
                <a:spcPts val="0"/>
              </a:spcAft>
              <a:buClr>
                <a:srgbClr val="202124"/>
              </a:buClr>
              <a:buSzPts val="2000"/>
              <a:buFont typeface="Arial"/>
              <a:buChar char="•"/>
            </a:pPr>
            <a:r>
              <a:rPr b="1" lang="en-US">
                <a:solidFill>
                  <a:srgbClr val="202124"/>
                </a:solidFill>
                <a:highlight>
                  <a:srgbClr val="FFFFFF"/>
                </a:highlight>
                <a:latin typeface="PMingLiU"/>
                <a:ea typeface="PMingLiU"/>
                <a:cs typeface="PMingLiU"/>
                <a:sym typeface="PMingLiU"/>
              </a:rPr>
              <a:t>作者：</a:t>
            </a:r>
            <a:r>
              <a:rPr lang="en-US">
                <a:solidFill>
                  <a:srgbClr val="0C0C0C"/>
                </a:solidFill>
                <a:highlight>
                  <a:srgbClr val="FFFFFF"/>
                </a:highlight>
                <a:latin typeface="PMingLiU"/>
                <a:ea typeface="PMingLiU"/>
                <a:cs typeface="PMingLiU"/>
                <a:sym typeface="PMingLiU"/>
              </a:rPr>
              <a:t>Yang, Shuo and Luo, Ping and Loy, Chen Change and Tang, Xiaoou</a:t>
            </a:r>
            <a:endParaRPr>
              <a:solidFill>
                <a:srgbClr val="0C0C0C"/>
              </a:solidFill>
              <a:highlight>
                <a:srgbClr val="FFFFFF"/>
              </a:highlight>
              <a:latin typeface="PMingLiU"/>
              <a:ea typeface="PMingLiU"/>
              <a:cs typeface="PMingLiU"/>
              <a:sym typeface="PMingLiU"/>
            </a:endParaRPr>
          </a:p>
          <a:p>
            <a:pPr indent="0" lvl="0" marL="0" rtl="0" algn="l">
              <a:lnSpc>
                <a:spcPct val="110000"/>
              </a:lnSpc>
              <a:spcBef>
                <a:spcPts val="1000"/>
              </a:spcBef>
              <a:spcAft>
                <a:spcPts val="0"/>
              </a:spcAft>
              <a:buClr>
                <a:schemeClr val="dk1"/>
              </a:buClr>
              <a:buSzPts val="3100"/>
              <a:buNone/>
            </a:pPr>
            <a:r>
              <a:t/>
            </a:r>
            <a:endParaRPr b="1" sz="3100">
              <a:solidFill>
                <a:srgbClr val="202124"/>
              </a:solidFill>
              <a:highlight>
                <a:srgbClr val="FFFFFF"/>
              </a:highlight>
              <a:latin typeface="PMingLiU"/>
              <a:ea typeface="PMingLiU"/>
              <a:cs typeface="PMingLiU"/>
              <a:sym typeface="PMingLiU"/>
            </a:endParaRPr>
          </a:p>
        </p:txBody>
      </p:sp>
      <p:sp>
        <p:nvSpPr>
          <p:cNvPr id="136" name="Google Shape;136;p7"/>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pic>
        <p:nvPicPr>
          <p:cNvPr descr="一張含有 拼貼畫, 螢幕擷取畫面, 相片剪輯, 人的臉孔 的圖片&#10;&#10;AI 產生的內容可能不正確。" id="137" name="Google Shape;137;p7"/>
          <p:cNvPicPr preferRelativeResize="0"/>
          <p:nvPr/>
        </p:nvPicPr>
        <p:blipFill rotWithShape="1">
          <a:blip r:embed="rId3">
            <a:alphaModFix/>
          </a:blip>
          <a:srcRect b="0" l="0" r="0" t="0"/>
          <a:stretch/>
        </p:blipFill>
        <p:spPr>
          <a:xfrm>
            <a:off x="6618258" y="2286000"/>
            <a:ext cx="5238392" cy="2645435"/>
          </a:xfrm>
          <a:prstGeom prst="rect">
            <a:avLst/>
          </a:prstGeom>
          <a:noFill/>
          <a:ln>
            <a:noFill/>
          </a:ln>
        </p:spPr>
      </p:pic>
      <p:sp>
        <p:nvSpPr>
          <p:cNvPr id="138" name="Google Shape;138;p7"/>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8"/>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PMingLiU"/>
              <a:buNone/>
            </a:pPr>
            <a:r>
              <a:rPr lang="en-US" sz="4800">
                <a:latin typeface="PMingLiU"/>
                <a:ea typeface="PMingLiU"/>
                <a:cs typeface="PMingLiU"/>
                <a:sym typeface="PMingLiU"/>
              </a:rPr>
              <a:t>資料集(F</a:t>
            </a:r>
            <a:r>
              <a:rPr lang="en-US" sz="4800" cap="none">
                <a:latin typeface="PMingLiU"/>
                <a:ea typeface="PMingLiU"/>
                <a:cs typeface="PMingLiU"/>
                <a:sym typeface="PMingLiU"/>
              </a:rPr>
              <a:t>ake</a:t>
            </a:r>
            <a:r>
              <a:rPr lang="en-US" sz="4800">
                <a:latin typeface="PMingLiU"/>
                <a:ea typeface="PMingLiU"/>
                <a:cs typeface="PMingLiU"/>
                <a:sym typeface="PMingLiU"/>
              </a:rPr>
              <a:t>F</a:t>
            </a:r>
            <a:r>
              <a:rPr lang="en-US" sz="4800" cap="none">
                <a:latin typeface="PMingLiU"/>
                <a:ea typeface="PMingLiU"/>
                <a:cs typeface="PMingLiU"/>
                <a:sym typeface="PMingLiU"/>
              </a:rPr>
              <a:t>ormer</a:t>
            </a:r>
            <a:r>
              <a:rPr lang="en-US" sz="4800">
                <a:latin typeface="PMingLiU"/>
                <a:ea typeface="PMingLiU"/>
                <a:cs typeface="PMingLiU"/>
                <a:sym typeface="PMingLiU"/>
              </a:rPr>
              <a:t>)</a:t>
            </a:r>
            <a:br>
              <a:rPr lang="en-US" sz="4800">
                <a:latin typeface="PMingLiU"/>
                <a:ea typeface="PMingLiU"/>
                <a:cs typeface="PMingLiU"/>
                <a:sym typeface="PMingLiU"/>
              </a:rPr>
            </a:br>
            <a:r>
              <a:rPr lang="en-US" sz="3600">
                <a:latin typeface="PMingLiU"/>
                <a:ea typeface="PMingLiU"/>
                <a:cs typeface="PMingLiU"/>
                <a:sym typeface="PMingLiU"/>
              </a:rPr>
              <a:t>FACEFORENSICS++(C23)</a:t>
            </a:r>
            <a:endParaRPr sz="4800">
              <a:latin typeface="PMingLiU"/>
              <a:ea typeface="PMingLiU"/>
              <a:cs typeface="PMingLiU"/>
              <a:sym typeface="PMingLiU"/>
            </a:endParaRPr>
          </a:p>
        </p:txBody>
      </p:sp>
      <p:sp>
        <p:nvSpPr>
          <p:cNvPr id="144" name="Google Shape;144;p8"/>
          <p:cNvSpPr txBox="1"/>
          <p:nvPr>
            <p:ph idx="1" type="body"/>
          </p:nvPr>
        </p:nvSpPr>
        <p:spPr>
          <a:xfrm>
            <a:off x="700635" y="2293126"/>
            <a:ext cx="10691265" cy="3636088"/>
          </a:xfrm>
          <a:prstGeom prst="rect">
            <a:avLst/>
          </a:prstGeom>
          <a:noFill/>
          <a:ln>
            <a:noFill/>
          </a:ln>
        </p:spPr>
        <p:txBody>
          <a:bodyPr anchorCtr="0" anchor="t" bIns="45700" lIns="91425" spcFirstLastPara="1" rIns="91425" wrap="square" tIns="45700">
            <a:normAutofit/>
          </a:bodyPr>
          <a:lstStyle/>
          <a:p>
            <a:pPr indent="-285750" lvl="0" marL="285750" rtl="0" algn="l">
              <a:lnSpc>
                <a:spcPct val="150000"/>
              </a:lnSpc>
              <a:spcBef>
                <a:spcPts val="0"/>
              </a:spcBef>
              <a:spcAft>
                <a:spcPts val="0"/>
              </a:spcAft>
              <a:buClr>
                <a:schemeClr val="dk1"/>
              </a:buClr>
              <a:buSzPts val="2000"/>
              <a:buFont typeface="Arial"/>
              <a:buChar char="•"/>
            </a:pPr>
            <a:r>
              <a:rPr b="1" lang="en-US">
                <a:latin typeface="PMingLiU"/>
                <a:ea typeface="PMingLiU"/>
                <a:cs typeface="PMingLiU"/>
                <a:sym typeface="PMingLiU"/>
              </a:rPr>
              <a:t>Original：</a:t>
            </a:r>
            <a:r>
              <a:rPr lang="en-US">
                <a:latin typeface="PMingLiU"/>
                <a:ea typeface="PMingLiU"/>
                <a:cs typeface="PMingLiU"/>
                <a:sym typeface="PMingLiU"/>
              </a:rPr>
              <a:t>沒有被修改過的臉部。</a:t>
            </a:r>
            <a:endParaRPr>
              <a:latin typeface="PMingLiU"/>
              <a:ea typeface="PMingLiU"/>
              <a:cs typeface="PMingLiU"/>
              <a:sym typeface="PMingLiU"/>
            </a:endParaRPr>
          </a:p>
          <a:p>
            <a:pPr indent="-285750" lvl="0" marL="285750" rtl="0" algn="l">
              <a:lnSpc>
                <a:spcPct val="150000"/>
              </a:lnSpc>
              <a:spcBef>
                <a:spcPts val="0"/>
              </a:spcBef>
              <a:spcAft>
                <a:spcPts val="0"/>
              </a:spcAft>
              <a:buClr>
                <a:schemeClr val="dk1"/>
              </a:buClr>
              <a:buSzPts val="2000"/>
              <a:buFont typeface="Arial"/>
              <a:buChar char="•"/>
            </a:pPr>
            <a:r>
              <a:rPr b="1" lang="en-US">
                <a:latin typeface="PMingLiU"/>
                <a:ea typeface="PMingLiU"/>
                <a:cs typeface="PMingLiU"/>
                <a:sym typeface="PMingLiU"/>
              </a:rPr>
              <a:t>Deepfakes：</a:t>
            </a:r>
            <a:r>
              <a:rPr lang="en-US">
                <a:latin typeface="PMingLiU"/>
                <a:ea typeface="PMingLiU"/>
                <a:cs typeface="PMingLiU"/>
                <a:sym typeface="PMingLiU"/>
              </a:rPr>
              <a:t>把整張臉換成另一個人。</a:t>
            </a:r>
            <a:endParaRPr>
              <a:latin typeface="PMingLiU"/>
              <a:ea typeface="PMingLiU"/>
              <a:cs typeface="PMingLiU"/>
              <a:sym typeface="PMingLiU"/>
            </a:endParaRPr>
          </a:p>
          <a:p>
            <a:pPr indent="-285750" lvl="0" marL="285750" rtl="0" algn="l">
              <a:lnSpc>
                <a:spcPct val="150000"/>
              </a:lnSpc>
              <a:spcBef>
                <a:spcPts val="0"/>
              </a:spcBef>
              <a:spcAft>
                <a:spcPts val="0"/>
              </a:spcAft>
              <a:buClr>
                <a:schemeClr val="dk1"/>
              </a:buClr>
              <a:buSzPts val="2000"/>
              <a:buFont typeface="Arial"/>
              <a:buChar char="•"/>
            </a:pPr>
            <a:r>
              <a:rPr b="1" lang="en-US">
                <a:latin typeface="PMingLiU"/>
                <a:ea typeface="PMingLiU"/>
                <a:cs typeface="PMingLiU"/>
                <a:sym typeface="PMingLiU"/>
              </a:rPr>
              <a:t>Face2Face</a:t>
            </a:r>
            <a:r>
              <a:rPr lang="en-US">
                <a:latin typeface="PMingLiU"/>
                <a:ea typeface="PMingLiU"/>
                <a:cs typeface="PMingLiU"/>
                <a:sym typeface="PMingLiU"/>
              </a:rPr>
              <a:t>：表情被控制。</a:t>
            </a:r>
            <a:endParaRPr>
              <a:latin typeface="PMingLiU"/>
              <a:ea typeface="PMingLiU"/>
              <a:cs typeface="PMingLiU"/>
              <a:sym typeface="PMingLiU"/>
            </a:endParaRPr>
          </a:p>
          <a:p>
            <a:pPr indent="-285750" lvl="0" marL="285750" rtl="0" algn="l">
              <a:lnSpc>
                <a:spcPct val="150000"/>
              </a:lnSpc>
              <a:spcBef>
                <a:spcPts val="0"/>
              </a:spcBef>
              <a:spcAft>
                <a:spcPts val="0"/>
              </a:spcAft>
              <a:buClr>
                <a:schemeClr val="dk1"/>
              </a:buClr>
              <a:buSzPts val="2000"/>
              <a:buFont typeface="Arial"/>
              <a:buChar char="•"/>
            </a:pPr>
            <a:r>
              <a:rPr b="1" lang="en-US">
                <a:latin typeface="PMingLiU"/>
                <a:ea typeface="PMingLiU"/>
                <a:cs typeface="PMingLiU"/>
                <a:sym typeface="PMingLiU"/>
              </a:rPr>
              <a:t>FaceSwap：</a:t>
            </a:r>
            <a:r>
              <a:rPr lang="en-US">
                <a:latin typeface="PMingLiU"/>
                <a:ea typeface="PMingLiU"/>
                <a:cs typeface="PMingLiU"/>
                <a:sym typeface="PMingLiU"/>
              </a:rPr>
              <a:t>直接把一張臉貼到另一個人頭上。</a:t>
            </a:r>
            <a:endParaRPr>
              <a:latin typeface="PMingLiU"/>
              <a:ea typeface="PMingLiU"/>
              <a:cs typeface="PMingLiU"/>
              <a:sym typeface="PMingLiU"/>
            </a:endParaRPr>
          </a:p>
          <a:p>
            <a:pPr indent="-285750" lvl="0" marL="285750" rtl="0" algn="l">
              <a:lnSpc>
                <a:spcPct val="150000"/>
              </a:lnSpc>
              <a:spcBef>
                <a:spcPts val="0"/>
              </a:spcBef>
              <a:spcAft>
                <a:spcPts val="0"/>
              </a:spcAft>
              <a:buClr>
                <a:schemeClr val="dk1"/>
              </a:buClr>
              <a:buSzPts val="2000"/>
              <a:buFont typeface="Arial"/>
              <a:buChar char="•"/>
            </a:pPr>
            <a:r>
              <a:rPr b="1" lang="en-US">
                <a:latin typeface="PMingLiU"/>
                <a:ea typeface="PMingLiU"/>
                <a:cs typeface="PMingLiU"/>
                <a:sym typeface="PMingLiU"/>
              </a:rPr>
              <a:t>NeuralTextures：</a:t>
            </a:r>
            <a:r>
              <a:rPr lang="en-US">
                <a:latin typeface="PMingLiU"/>
                <a:ea typeface="PMingLiU"/>
                <a:cs typeface="PMingLiU"/>
                <a:sym typeface="PMingLiU"/>
              </a:rPr>
              <a:t>用 AI 重新生成一張逼真的臉。</a:t>
            </a:r>
            <a:endParaRPr>
              <a:latin typeface="PMingLiU"/>
              <a:ea typeface="PMingLiU"/>
              <a:cs typeface="PMingLiU"/>
              <a:sym typeface="PMingLiU"/>
            </a:endParaRPr>
          </a:p>
        </p:txBody>
      </p:sp>
      <p:sp>
        <p:nvSpPr>
          <p:cNvPr id="145" name="Google Shape;145;p8"/>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pic>
        <p:nvPicPr>
          <p:cNvPr descr="一張含有 人的臉孔, 皮膚, 眉毛, 拼貼畫 的圖片&#10;&#10;AI 產生的內容可能不正確。" id="146" name="Google Shape;146;p8"/>
          <p:cNvPicPr preferRelativeResize="0"/>
          <p:nvPr/>
        </p:nvPicPr>
        <p:blipFill rotWithShape="1">
          <a:blip r:embed="rId3">
            <a:alphaModFix/>
          </a:blip>
          <a:srcRect b="13333" l="0" r="134" t="69"/>
          <a:stretch/>
        </p:blipFill>
        <p:spPr>
          <a:xfrm>
            <a:off x="6440170" y="2085416"/>
            <a:ext cx="5448315" cy="2374827"/>
          </a:xfrm>
          <a:prstGeom prst="rect">
            <a:avLst/>
          </a:prstGeom>
          <a:noFill/>
          <a:ln>
            <a:noFill/>
          </a:ln>
        </p:spPr>
      </p:pic>
      <p:sp>
        <p:nvSpPr>
          <p:cNvPr id="147" name="Google Shape;147;p8"/>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300"/>
              <a:buFont typeface="PMingLiU"/>
              <a:buNone/>
            </a:pPr>
            <a:r>
              <a:rPr lang="en-US" sz="4300">
                <a:latin typeface="PMingLiU"/>
                <a:ea typeface="PMingLiU"/>
                <a:cs typeface="PMingLiU"/>
                <a:sym typeface="PMingLiU"/>
              </a:rPr>
              <a:t>資料集(F</a:t>
            </a:r>
            <a:r>
              <a:rPr lang="en-US" sz="4300" cap="none">
                <a:latin typeface="PMingLiU"/>
                <a:ea typeface="PMingLiU"/>
                <a:cs typeface="PMingLiU"/>
                <a:sym typeface="PMingLiU"/>
              </a:rPr>
              <a:t>ake</a:t>
            </a:r>
            <a:r>
              <a:rPr lang="en-US" sz="4300">
                <a:latin typeface="PMingLiU"/>
                <a:ea typeface="PMingLiU"/>
                <a:cs typeface="PMingLiU"/>
                <a:sym typeface="PMingLiU"/>
              </a:rPr>
              <a:t>F</a:t>
            </a:r>
            <a:r>
              <a:rPr lang="en-US" sz="4300" cap="none">
                <a:latin typeface="PMingLiU"/>
                <a:ea typeface="PMingLiU"/>
                <a:cs typeface="PMingLiU"/>
                <a:sym typeface="PMingLiU"/>
              </a:rPr>
              <a:t>ormer</a:t>
            </a:r>
            <a:r>
              <a:rPr lang="en-US" sz="4300">
                <a:latin typeface="PMingLiU"/>
                <a:ea typeface="PMingLiU"/>
                <a:cs typeface="PMingLiU"/>
                <a:sym typeface="PMingLiU"/>
              </a:rPr>
              <a:t>)</a:t>
            </a:r>
            <a:br>
              <a:rPr lang="en-US" sz="4300">
                <a:latin typeface="PMingLiU"/>
                <a:ea typeface="PMingLiU"/>
                <a:cs typeface="PMingLiU"/>
                <a:sym typeface="PMingLiU"/>
              </a:rPr>
            </a:br>
            <a:r>
              <a:rPr lang="en-US" sz="3200">
                <a:latin typeface="PMingLiU"/>
                <a:ea typeface="PMingLiU"/>
                <a:cs typeface="PMingLiU"/>
                <a:sym typeface="PMingLiU"/>
              </a:rPr>
              <a:t>泛化用</a:t>
            </a:r>
            <a:endParaRPr sz="3200">
              <a:latin typeface="PMingLiU"/>
              <a:ea typeface="PMingLiU"/>
              <a:cs typeface="PMingLiU"/>
              <a:sym typeface="PMingLiU"/>
            </a:endParaRPr>
          </a:p>
        </p:txBody>
      </p:sp>
      <p:graphicFrame>
        <p:nvGraphicFramePr>
          <p:cNvPr id="153" name="Google Shape;153;p9"/>
          <p:cNvGraphicFramePr/>
          <p:nvPr/>
        </p:nvGraphicFramePr>
        <p:xfrm>
          <a:off x="700088" y="2292350"/>
          <a:ext cx="3000000" cy="3000000"/>
        </p:xfrm>
        <a:graphic>
          <a:graphicData uri="http://schemas.openxmlformats.org/drawingml/2006/table">
            <a:tbl>
              <a:tblPr bandRow="1" firstRow="1">
                <a:noFill/>
                <a:tableStyleId>{D4F57E2E-EB3F-4404-9A26-EBCFC7F95AF6}</a:tableStyleId>
              </a:tblPr>
              <a:tblGrid>
                <a:gridCol w="2672950"/>
                <a:gridCol w="2672950"/>
                <a:gridCol w="2672950"/>
                <a:gridCol w="2672950"/>
              </a:tblGrid>
              <a:tr h="711750">
                <a:tc>
                  <a:txBody>
                    <a:bodyPr/>
                    <a:lstStyle/>
                    <a:p>
                      <a:pPr indent="0" lvl="0" marL="0" marR="0" rtl="0" algn="ctr">
                        <a:lnSpc>
                          <a:spcPct val="100000"/>
                        </a:lnSpc>
                        <a:spcBef>
                          <a:spcPts val="0"/>
                        </a:spcBef>
                        <a:spcAft>
                          <a:spcPts val="0"/>
                        </a:spcAft>
                        <a:buClr>
                          <a:schemeClr val="dk1"/>
                        </a:buClr>
                        <a:buSzPts val="1800"/>
                        <a:buFont typeface="Lustria"/>
                        <a:buNone/>
                      </a:pPr>
                      <a:r>
                        <a:rPr lang="en-US" sz="1800" u="none" cap="none" strike="noStrike"/>
                        <a:t>資料集</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規模</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來源</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lang="en-US" sz="1800" u="none" cap="none" strike="noStrike"/>
                        <a:t>特點</a:t>
                      </a:r>
                      <a:endParaRPr sz="1400" u="none" cap="none" strike="noStrike"/>
                    </a:p>
                  </a:txBody>
                  <a:tcPr marT="45725" marB="45725" marR="91450" marL="91450" anchor="ctr"/>
                </a:tc>
              </a:tr>
              <a:tr h="711750">
                <a:tc>
                  <a:txBody>
                    <a:bodyPr/>
                    <a:lstStyle/>
                    <a:p>
                      <a:pPr indent="0" lvl="0" marL="0" marR="0" rtl="0" algn="ctr">
                        <a:lnSpc>
                          <a:spcPct val="100000"/>
                        </a:lnSpc>
                        <a:spcBef>
                          <a:spcPts val="0"/>
                        </a:spcBef>
                        <a:spcAft>
                          <a:spcPts val="0"/>
                        </a:spcAft>
                        <a:buClr>
                          <a:schemeClr val="dk1"/>
                        </a:buClr>
                        <a:buSzPts val="1600"/>
                        <a:buFont typeface="Lustria"/>
                        <a:buNone/>
                      </a:pPr>
                      <a:r>
                        <a:rPr b="0" i="0" lang="en-US" sz="1600" u="none" cap="none" strike="noStrike">
                          <a:latin typeface="Lustria"/>
                          <a:ea typeface="Lustria"/>
                          <a:cs typeface="Lustria"/>
                          <a:sym typeface="Lustria"/>
                        </a:rPr>
                        <a:t>Celeb-DF</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600"/>
                        <a:buFont typeface="Lustria"/>
                        <a:buNone/>
                      </a:pPr>
                      <a:r>
                        <a:rPr b="0" i="0" lang="en-US" sz="1600" u="none" cap="none" strike="noStrike">
                          <a:latin typeface="Lustria"/>
                          <a:ea typeface="Lustria"/>
                          <a:cs typeface="Lustria"/>
                          <a:sym typeface="Lustria"/>
                        </a:rPr>
                        <a:t>590 真實影片、5,639 偽造影片</a:t>
                      </a:r>
                      <a:endParaRPr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Lustria"/>
                        <a:buNone/>
                      </a:pPr>
                      <a:r>
                        <a:rPr b="0" i="0" lang="en-US" sz="1600" u="none" cap="none" strike="noStrike"/>
                        <a:t>取自 YouTube 名人訪談影片，再用改良 DeepFake 技術產生假影片</a:t>
                      </a:r>
                      <a:endParaRPr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Lustria"/>
                        <a:buNone/>
                      </a:pPr>
                      <a:r>
                        <a:rPr b="0" i="0" lang="en-US" sz="1600" u="none" cap="none" strike="noStrike">
                          <a:latin typeface="Lustria"/>
                          <a:ea typeface="Lustria"/>
                          <a:cs typeface="Lustria"/>
                          <a:sym typeface="Lustria"/>
                        </a:rPr>
                        <a:t>影像品質高、偽造痕跡較少</a:t>
                      </a:r>
                      <a:endParaRPr sz="1600" u="none" cap="none" strike="noStrike"/>
                    </a:p>
                  </a:txBody>
                  <a:tcPr marT="45725" marB="45725" marR="91450" marL="91450"/>
                </a:tc>
              </a:tr>
              <a:tr h="711750">
                <a:tc>
                  <a:txBody>
                    <a:bodyPr/>
                    <a:lstStyle/>
                    <a:p>
                      <a:pPr indent="0" lvl="0" marL="0" marR="0" rtl="0" algn="ctr">
                        <a:lnSpc>
                          <a:spcPct val="100000"/>
                        </a:lnSpc>
                        <a:spcBef>
                          <a:spcPts val="0"/>
                        </a:spcBef>
                        <a:spcAft>
                          <a:spcPts val="0"/>
                        </a:spcAft>
                        <a:buClr>
                          <a:schemeClr val="dk1"/>
                        </a:buClr>
                        <a:buSzPts val="1600"/>
                        <a:buFont typeface="Lustria"/>
                        <a:buNone/>
                      </a:pPr>
                      <a:r>
                        <a:rPr b="0" i="0" lang="en-US" sz="1600" u="none" cap="none" strike="noStrike">
                          <a:latin typeface="Lustria"/>
                          <a:ea typeface="Lustria"/>
                          <a:cs typeface="Lustria"/>
                          <a:sym typeface="Lustria"/>
                        </a:rPr>
                        <a:t>WildDeepfake</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600"/>
                        <a:buFont typeface="Lustria"/>
                        <a:buNone/>
                      </a:pPr>
                      <a:r>
                        <a:rPr b="0" i="0" lang="en-US" sz="1600" u="none" cap="none" strike="noStrike"/>
                        <a:t>707 個深度偽造影片</a:t>
                      </a:r>
                      <a:r>
                        <a:rPr b="0" i="0" lang="en-US" sz="1600" u="none" cap="none" strike="noStrike">
                          <a:latin typeface="Lustria"/>
                          <a:ea typeface="Lustria"/>
                          <a:cs typeface="Lustria"/>
                          <a:sym typeface="Lustria"/>
                        </a:rPr>
                        <a:t>、</a:t>
                      </a:r>
                      <a:r>
                        <a:rPr b="0" i="0" lang="en-US" sz="1600" u="none" cap="none" strike="noStrike"/>
                        <a:t>7,314 個面部序列</a:t>
                      </a:r>
                      <a:endParaRPr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Lustria"/>
                        <a:buNone/>
                      </a:pPr>
                      <a:r>
                        <a:rPr b="0" i="0" lang="en-US" sz="1600" u="none" cap="none" strike="noStrike"/>
                        <a:t>從網路真實流通的 deepfake 影片蒐集</a:t>
                      </a:r>
                      <a:endParaRPr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Lustria"/>
                        <a:buNone/>
                      </a:pPr>
                      <a:r>
                        <a:rPr b="0" i="0" lang="en-US" sz="1600" u="none" cap="none" strike="noStrike">
                          <a:latin typeface="Lustria"/>
                          <a:ea typeface="Lustria"/>
                          <a:cs typeface="Lustria"/>
                          <a:sym typeface="Lustria"/>
                        </a:rPr>
                        <a:t>場景、光線、姿勢、壓縮品質都很雜，最接近真實網路情境</a:t>
                      </a:r>
                      <a:endParaRPr sz="1600" u="none" cap="none" strike="noStrike"/>
                    </a:p>
                  </a:txBody>
                  <a:tcPr marT="45725" marB="45725" marR="91450" marL="91450"/>
                </a:tc>
              </a:tr>
              <a:tr h="711750">
                <a:tc>
                  <a:txBody>
                    <a:bodyPr/>
                    <a:lstStyle/>
                    <a:p>
                      <a:pPr indent="0" lvl="0" marL="0" marR="0" rtl="0" algn="ctr">
                        <a:lnSpc>
                          <a:spcPct val="100000"/>
                        </a:lnSpc>
                        <a:spcBef>
                          <a:spcPts val="0"/>
                        </a:spcBef>
                        <a:spcAft>
                          <a:spcPts val="0"/>
                        </a:spcAft>
                        <a:buClr>
                          <a:schemeClr val="dk1"/>
                        </a:buClr>
                        <a:buSzPts val="1600"/>
                        <a:buFont typeface="Lustria"/>
                        <a:buNone/>
                      </a:pPr>
                      <a:r>
                        <a:rPr b="0" i="0" lang="en-US" sz="1600" u="none" cap="none" strike="noStrike">
                          <a:latin typeface="Lustria"/>
                          <a:ea typeface="Lustria"/>
                          <a:cs typeface="Lustria"/>
                          <a:sym typeface="Lustria"/>
                        </a:rPr>
                        <a:t>DFD</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600"/>
                        <a:buFont typeface="Lustria"/>
                        <a:buNone/>
                      </a:pPr>
                      <a:r>
                        <a:rPr b="0" i="0" lang="en-US" sz="1600" u="none" cap="none" strike="noStrike">
                          <a:latin typeface="Lustria"/>
                          <a:ea typeface="Lustria"/>
                          <a:cs typeface="Lustria"/>
                          <a:sym typeface="Lustria"/>
                        </a:rPr>
                        <a:t>363 真實影片、3,068 偽造影片</a:t>
                      </a:r>
                      <a:endParaRPr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Lustria"/>
                        <a:buNone/>
                      </a:pPr>
                      <a:r>
                        <a:rPr b="0" i="0" lang="en-US" sz="1600" u="none" cap="none" strike="noStrike"/>
                        <a:t>Google 與 Jigsaw 製作，找演員拍攝後產生 deepfake</a:t>
                      </a:r>
                      <a:endParaRPr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Lustria"/>
                        <a:buNone/>
                      </a:pPr>
                      <a:r>
                        <a:rPr b="0" i="0" lang="en-US" sz="1600" u="none" cap="none" strike="noStrike">
                          <a:latin typeface="Lustria"/>
                          <a:ea typeface="Lustria"/>
                          <a:cs typeface="Lustria"/>
                          <a:sym typeface="Lustria"/>
                        </a:rPr>
                        <a:t>影片品質較高，人物、場景比早期資料集多樣</a:t>
                      </a:r>
                      <a:endParaRPr sz="1600" u="none" cap="none" strike="noStrike"/>
                    </a:p>
                  </a:txBody>
                  <a:tcPr marT="45725" marB="45725" marR="91450" marL="91450"/>
                </a:tc>
              </a:tr>
              <a:tr h="711750">
                <a:tc>
                  <a:txBody>
                    <a:bodyPr/>
                    <a:lstStyle/>
                    <a:p>
                      <a:pPr indent="0" lvl="0" marL="0" marR="0" rtl="0" algn="ctr">
                        <a:lnSpc>
                          <a:spcPct val="100000"/>
                        </a:lnSpc>
                        <a:spcBef>
                          <a:spcPts val="0"/>
                        </a:spcBef>
                        <a:spcAft>
                          <a:spcPts val="0"/>
                        </a:spcAft>
                        <a:buClr>
                          <a:schemeClr val="dk1"/>
                        </a:buClr>
                        <a:buSzPts val="1600"/>
                        <a:buFont typeface="Lustria"/>
                        <a:buNone/>
                      </a:pPr>
                      <a:r>
                        <a:rPr b="0" i="0" lang="en-US" sz="1600" u="none" cap="none" strike="noStrike">
                          <a:latin typeface="Lustria"/>
                          <a:ea typeface="Lustria"/>
                          <a:cs typeface="Lustria"/>
                          <a:sym typeface="Lustria"/>
                        </a:rPr>
                        <a:t>DFDCP</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600"/>
                        <a:buFont typeface="Lustria"/>
                        <a:buNone/>
                      </a:pPr>
                      <a:r>
                        <a:rPr b="0" i="0" lang="en-US" sz="1600" u="none" cap="none" strike="noStrike">
                          <a:latin typeface="Lustria"/>
                          <a:ea typeface="Lustria"/>
                          <a:cs typeface="Lustria"/>
                          <a:sym typeface="Lustria"/>
                        </a:rPr>
                        <a:t>1,133 真實影片、4,080 偽造影片</a:t>
                      </a:r>
                      <a:endParaRPr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Lustria"/>
                        <a:buNone/>
                      </a:pPr>
                      <a:r>
                        <a:rPr b="0" i="0" lang="en-US" sz="1600" u="none" cap="none" strike="noStrike"/>
                        <a:t>Facebook / Meta DFDC 挑戰賽的預覽版資料集    </a:t>
                      </a:r>
                      <a:endParaRPr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Lustria"/>
                        <a:buNone/>
                      </a:pPr>
                      <a:r>
                        <a:rPr b="0" i="0" lang="en-US" sz="1600" u="none" cap="none" strike="noStrike"/>
                        <a:t>規模比 FF++ 大，人物和背景更多樣</a:t>
                      </a:r>
                      <a:endParaRPr sz="1600" u="none" cap="none" strike="noStrike"/>
                    </a:p>
                  </a:txBody>
                  <a:tcPr marT="45725" marB="45725" marR="91450" marL="91450"/>
                </a:tc>
              </a:tr>
            </a:tbl>
          </a:graphicData>
        </a:graphic>
      </p:graphicFrame>
      <p:sp>
        <p:nvSpPr>
          <p:cNvPr id="154" name="Google Shape;154;p9"/>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sp>
        <p:nvSpPr>
          <p:cNvPr id="155" name="Google Shape;155;p9"/>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0"/>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800"/>
              <a:buFont typeface="PMingLiU"/>
              <a:buNone/>
            </a:pPr>
            <a:r>
              <a:rPr lang="en-US" sz="4800">
                <a:latin typeface="PMingLiU"/>
                <a:ea typeface="PMingLiU"/>
                <a:cs typeface="PMingLiU"/>
                <a:sym typeface="PMingLiU"/>
              </a:rPr>
              <a:t>真偽辨識方式</a:t>
            </a:r>
            <a:endParaRPr/>
          </a:p>
        </p:txBody>
      </p:sp>
      <p:sp>
        <p:nvSpPr>
          <p:cNvPr id="161" name="Google Shape;161;p10"/>
          <p:cNvSpPr txBox="1"/>
          <p:nvPr>
            <p:ph idx="1" type="body"/>
          </p:nvPr>
        </p:nvSpPr>
        <p:spPr>
          <a:xfrm>
            <a:off x="700635" y="2293126"/>
            <a:ext cx="10691265" cy="3636088"/>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2800"/>
              <a:buNone/>
            </a:pPr>
            <a:r>
              <a:rPr b="1" lang="en-US" sz="2800">
                <a:latin typeface="PMingLiU"/>
                <a:ea typeface="PMingLiU"/>
                <a:cs typeface="PMingLiU"/>
                <a:sym typeface="PMingLiU"/>
              </a:rPr>
              <a:t>局部脆弱特徵 (Local Vulnerable Features) 與邊界偽影</a:t>
            </a:r>
            <a:endParaRPr b="1" sz="2800">
              <a:latin typeface="PMingLiU"/>
              <a:ea typeface="PMingLiU"/>
              <a:cs typeface="PMingLiU"/>
              <a:sym typeface="PMingLiU"/>
            </a:endParaRPr>
          </a:p>
          <a:p>
            <a:pPr indent="-228600" lvl="0" marL="228600" rtl="0" algn="l">
              <a:lnSpc>
                <a:spcPct val="110000"/>
              </a:lnSpc>
              <a:spcBef>
                <a:spcPts val="1000"/>
              </a:spcBef>
              <a:spcAft>
                <a:spcPts val="0"/>
              </a:spcAft>
              <a:buClr>
                <a:schemeClr val="dk1"/>
              </a:buClr>
              <a:buSzPts val="2000"/>
              <a:buChar char="•"/>
            </a:pPr>
            <a:r>
              <a:rPr lang="en-US">
                <a:latin typeface="PMingLiU"/>
                <a:ea typeface="PMingLiU"/>
                <a:cs typeface="PMingLiU"/>
                <a:sym typeface="PMingLiU"/>
              </a:rPr>
              <a:t>FakeFormer 透過局部注意力機制，專注比對影像中相鄰的微小區塊間的像素關聯性。</a:t>
            </a:r>
            <a:endParaRPr>
              <a:latin typeface="PMingLiU"/>
              <a:ea typeface="PMingLiU"/>
              <a:cs typeface="PMingLiU"/>
              <a:sym typeface="PMingLiU"/>
            </a:endParaRPr>
          </a:p>
          <a:p>
            <a:pPr indent="-228600" lvl="0" marL="228600" rtl="0" algn="l">
              <a:lnSpc>
                <a:spcPct val="110000"/>
              </a:lnSpc>
              <a:spcBef>
                <a:spcPts val="1000"/>
              </a:spcBef>
              <a:spcAft>
                <a:spcPts val="0"/>
              </a:spcAft>
              <a:buClr>
                <a:schemeClr val="dk1"/>
              </a:buClr>
              <a:buSzPts val="2000"/>
              <a:buChar char="•"/>
            </a:pPr>
            <a:r>
              <a:rPr lang="en-US">
                <a:latin typeface="PMingLiU"/>
                <a:ea typeface="PMingLiU"/>
                <a:cs typeface="PMingLiU"/>
                <a:sym typeface="PMingLiU"/>
              </a:rPr>
              <a:t> 捕捉膚色斷層產生的不自然、邊界的模糊瑕疵等肉眼難見的（微小特徵），作為判斷真偽的依據。</a:t>
            </a:r>
            <a:endParaRPr>
              <a:latin typeface="PMingLiU"/>
              <a:ea typeface="PMingLiU"/>
              <a:cs typeface="PMingLiU"/>
              <a:sym typeface="PMingLiU"/>
            </a:endParaRPr>
          </a:p>
          <a:p>
            <a:pPr indent="-228600" lvl="0" marL="228600" rtl="0" algn="l">
              <a:lnSpc>
                <a:spcPct val="110000"/>
              </a:lnSpc>
              <a:spcBef>
                <a:spcPts val="1000"/>
              </a:spcBef>
              <a:spcAft>
                <a:spcPts val="0"/>
              </a:spcAft>
              <a:buClr>
                <a:schemeClr val="dk1"/>
              </a:buClr>
              <a:buSzPts val="2000"/>
              <a:buChar char="•"/>
            </a:pPr>
            <a:r>
              <a:rPr lang="en-US">
                <a:latin typeface="PMingLiU"/>
                <a:ea typeface="PMingLiU"/>
                <a:cs typeface="PMingLiU"/>
                <a:sym typeface="PMingLiU"/>
              </a:rPr>
              <a:t>例如：偵測真假臉交界處的解析度差異或光影斷層</a:t>
            </a:r>
            <a:endParaRPr>
              <a:solidFill>
                <a:srgbClr val="FF0000"/>
              </a:solidFill>
              <a:latin typeface="PMingLiU"/>
              <a:ea typeface="PMingLiU"/>
              <a:cs typeface="PMingLiU"/>
              <a:sym typeface="PMingLiU"/>
            </a:endParaRPr>
          </a:p>
        </p:txBody>
      </p:sp>
      <p:sp>
        <p:nvSpPr>
          <p:cNvPr id="162" name="Google Shape;162;p10"/>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pic>
        <p:nvPicPr>
          <p:cNvPr descr="一張含有 螢幕擷取畫面, 文字, 行, 設計 的圖片&#10;&#10;AI 產生的內容可能不正確。" id="163" name="Google Shape;163;p10"/>
          <p:cNvPicPr preferRelativeResize="0"/>
          <p:nvPr/>
        </p:nvPicPr>
        <p:blipFill rotWithShape="1">
          <a:blip r:embed="rId3">
            <a:alphaModFix/>
          </a:blip>
          <a:srcRect b="0" l="0" r="0" t="0"/>
          <a:stretch/>
        </p:blipFill>
        <p:spPr>
          <a:xfrm>
            <a:off x="6875361" y="3988671"/>
            <a:ext cx="4217732" cy="1940950"/>
          </a:xfrm>
          <a:prstGeom prst="rect">
            <a:avLst/>
          </a:prstGeom>
          <a:noFill/>
          <a:ln>
            <a:noFill/>
          </a:ln>
        </p:spPr>
      </p:pic>
      <p:sp>
        <p:nvSpPr>
          <p:cNvPr id="164" name="Google Shape;164;p10"/>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800"/>
              <a:buFont typeface="PMingLiU"/>
              <a:buNone/>
            </a:pPr>
            <a:r>
              <a:rPr lang="en-US" sz="4800">
                <a:latin typeface="PMingLiU"/>
                <a:ea typeface="PMingLiU"/>
                <a:cs typeface="PMingLiU"/>
                <a:sym typeface="PMingLiU"/>
              </a:rPr>
              <a:t>實驗設計</a:t>
            </a:r>
            <a:endParaRPr/>
          </a:p>
        </p:txBody>
      </p:sp>
      <p:graphicFrame>
        <p:nvGraphicFramePr>
          <p:cNvPr id="170" name="Google Shape;170;p11"/>
          <p:cNvGraphicFramePr/>
          <p:nvPr/>
        </p:nvGraphicFramePr>
        <p:xfrm>
          <a:off x="752640" y="1937626"/>
          <a:ext cx="3000000" cy="3000000"/>
        </p:xfrm>
        <a:graphic>
          <a:graphicData uri="http://schemas.openxmlformats.org/drawingml/2006/table">
            <a:tbl>
              <a:tblPr bandRow="1" firstRow="1">
                <a:noFill/>
                <a:tableStyleId>{2875BB27-04A7-483A-BF11-9A4B2C20D252}</a:tableStyleId>
              </a:tblPr>
              <a:tblGrid>
                <a:gridCol w="3560375"/>
                <a:gridCol w="7131400"/>
              </a:tblGrid>
              <a:tr h="370850">
                <a:tc>
                  <a:txBody>
                    <a:bodyPr/>
                    <a:lstStyle/>
                    <a:p>
                      <a:pPr indent="0" lvl="0" marL="0" marR="0" rtl="0" algn="l">
                        <a:lnSpc>
                          <a:spcPct val="100000"/>
                        </a:lnSpc>
                        <a:spcBef>
                          <a:spcPts val="0"/>
                        </a:spcBef>
                        <a:spcAft>
                          <a:spcPts val="0"/>
                        </a:spcAft>
                        <a:buClr>
                          <a:schemeClr val="dk1"/>
                        </a:buClr>
                        <a:buSzPts val="2400"/>
                        <a:buFont typeface="PMingLiU"/>
                        <a:buNone/>
                      </a:pPr>
                      <a:r>
                        <a:rPr lang="en-US" sz="2400" u="none" cap="none" strike="noStrike">
                          <a:latin typeface="PMingLiU"/>
                          <a:ea typeface="PMingLiU"/>
                          <a:cs typeface="PMingLiU"/>
                          <a:sym typeface="PMingLiU"/>
                        </a:rPr>
                        <a:t>類別</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PMingLiU"/>
                          <a:ea typeface="PMingLiU"/>
                          <a:cs typeface="PMingLiU"/>
                          <a:sym typeface="PMingLiU"/>
                        </a:rPr>
                        <a:t>內容</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tcPr>
                </a:tc>
              </a:tr>
              <a:tr h="3708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PMingLiU"/>
                          <a:ea typeface="PMingLiU"/>
                          <a:cs typeface="PMingLiU"/>
                          <a:sym typeface="PMingLiU"/>
                        </a:rPr>
                        <a:t>開發語言</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chemeClr val="dk1"/>
                        </a:buClr>
                        <a:buSzPts val="2400"/>
                        <a:buFont typeface="PMingLiU"/>
                        <a:buNone/>
                      </a:pPr>
                      <a:r>
                        <a:rPr b="0" i="0" lang="en-US" sz="2400" u="none" cap="none" strike="noStrike">
                          <a:latin typeface="PMingLiU"/>
                          <a:ea typeface="PMingLiU"/>
                          <a:cs typeface="PMingLiU"/>
                          <a:sym typeface="PMingLiU"/>
                        </a:rPr>
                        <a:t>Python </a:t>
                      </a:r>
                      <a:endParaRPr sz="2400" u="none" cap="none" strike="noStrike">
                        <a:latin typeface="PMingLiU"/>
                        <a:ea typeface="PMingLiU"/>
                        <a:cs typeface="PMingLiU"/>
                        <a:sym typeface="PMingLiU"/>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r>
              <a:tr h="370850">
                <a:tc>
                  <a:txBody>
                    <a:bodyPr/>
                    <a:lstStyle/>
                    <a:p>
                      <a:pPr indent="0" lvl="0" marL="0" marR="0" rtl="0" algn="l">
                        <a:lnSpc>
                          <a:spcPct val="100000"/>
                        </a:lnSpc>
                        <a:spcBef>
                          <a:spcPts val="0"/>
                        </a:spcBef>
                        <a:spcAft>
                          <a:spcPts val="0"/>
                        </a:spcAft>
                        <a:buClr>
                          <a:schemeClr val="dk1"/>
                        </a:buClr>
                        <a:buSzPts val="2400"/>
                        <a:buFont typeface="PMingLiU"/>
                        <a:buNone/>
                      </a:pPr>
                      <a:r>
                        <a:rPr lang="en-US" sz="2400" u="none" cap="none" strike="noStrike">
                          <a:latin typeface="PMingLiU"/>
                          <a:ea typeface="PMingLiU"/>
                          <a:cs typeface="PMingLiU"/>
                          <a:sym typeface="PMingLiU"/>
                        </a:rPr>
                        <a:t>系統平台</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chemeClr val="dk1"/>
                        </a:buClr>
                        <a:buSzPts val="2400"/>
                        <a:buFont typeface="PMingLiU"/>
                        <a:buNone/>
                      </a:pPr>
                      <a:r>
                        <a:rPr b="0" i="0" lang="en-US" sz="2400" u="none" cap="none" strike="noStrike">
                          <a:latin typeface="PMingLiU"/>
                          <a:ea typeface="PMingLiU"/>
                          <a:cs typeface="PMingLiU"/>
                          <a:sym typeface="PMingLiU"/>
                        </a:rPr>
                        <a:t>Windows 作業系統</a:t>
                      </a:r>
                      <a:endParaRPr sz="2400" u="none" cap="none" strike="noStrike">
                        <a:latin typeface="PMingLiU"/>
                        <a:ea typeface="PMingLiU"/>
                        <a:cs typeface="PMingLiU"/>
                        <a:sym typeface="PMingLiU"/>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r>
              <a:tr h="3708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PMingLiU"/>
                          <a:ea typeface="PMingLiU"/>
                          <a:cs typeface="PMingLiU"/>
                          <a:sym typeface="PMingLiU"/>
                        </a:rPr>
                        <a:t>人臉偵測模型</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chemeClr val="dk1"/>
                        </a:buClr>
                        <a:buSzPts val="2400"/>
                        <a:buFont typeface="PMingLiU"/>
                        <a:buNone/>
                      </a:pPr>
                      <a:r>
                        <a:rPr b="0" i="0" lang="en-US" sz="2400" u="none" cap="none" strike="noStrike">
                          <a:latin typeface="PMingLiU"/>
                          <a:ea typeface="PMingLiU"/>
                          <a:cs typeface="PMingLiU"/>
                          <a:sym typeface="PMingLiU"/>
                        </a:rPr>
                        <a:t>YOLOv10-s</a:t>
                      </a:r>
                      <a:endParaRPr sz="2400" u="none" cap="none" strike="noStrike">
                        <a:latin typeface="PMingLiU"/>
                        <a:ea typeface="PMingLiU"/>
                        <a:cs typeface="PMingLiU"/>
                        <a:sym typeface="PMingLiU"/>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r>
              <a:tr h="3708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PMingLiU"/>
                          <a:ea typeface="PMingLiU"/>
                          <a:cs typeface="PMingLiU"/>
                          <a:sym typeface="PMingLiU"/>
                        </a:rPr>
                        <a:t>真偽辨識模型</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chemeClr val="dk1"/>
                        </a:buClr>
                        <a:buSzPts val="2400"/>
                        <a:buFont typeface="PMingLiU"/>
                        <a:buNone/>
                      </a:pPr>
                      <a:r>
                        <a:rPr b="0" i="0" lang="en-US" sz="2400" u="none" cap="none" strike="noStrike">
                          <a:latin typeface="PMingLiU"/>
                          <a:ea typeface="PMingLiU"/>
                          <a:cs typeface="PMingLiU"/>
                          <a:sym typeface="PMingLiU"/>
                        </a:rPr>
                        <a:t>FakeFormer</a:t>
                      </a:r>
                      <a:endParaRPr sz="2400" u="none" cap="none" strike="noStrike">
                        <a:latin typeface="PMingLiU"/>
                        <a:ea typeface="PMingLiU"/>
                        <a:cs typeface="PMingLiU"/>
                        <a:sym typeface="PMingLiU"/>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r>
              <a:tr h="459825">
                <a:tc>
                  <a:txBody>
                    <a:bodyPr/>
                    <a:lstStyle/>
                    <a:p>
                      <a:pPr indent="0" lvl="0" marL="0" marR="0" rtl="0" algn="l">
                        <a:lnSpc>
                          <a:spcPct val="100000"/>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人臉偵測模型訓練</a:t>
                      </a:r>
                      <a:r>
                        <a:rPr lang="en-US" sz="2400" u="none" cap="none" strike="noStrike">
                          <a:latin typeface="PMingLiU"/>
                          <a:ea typeface="PMingLiU"/>
                          <a:cs typeface="PMingLiU"/>
                          <a:sym typeface="PMingLiU"/>
                        </a:rPr>
                        <a:t>資料集</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202124"/>
                        </a:buClr>
                        <a:buSzPts val="2400"/>
                        <a:buFont typeface="PMingLiU"/>
                        <a:buNone/>
                      </a:pPr>
                      <a:r>
                        <a:rPr b="0" i="0" lang="en-US" sz="2400" u="none" cap="none" strike="noStrike">
                          <a:solidFill>
                            <a:srgbClr val="202124"/>
                          </a:solidFill>
                          <a:highlight>
                            <a:srgbClr val="FFFFFF"/>
                          </a:highlight>
                          <a:latin typeface="PMingLiU"/>
                          <a:ea typeface="PMingLiU"/>
                          <a:cs typeface="PMingLiU"/>
                          <a:sym typeface="PMingLiU"/>
                        </a:rPr>
                        <a:t>WIDER_FACE_A_FACE_DETECTION_DATASETE</a:t>
                      </a:r>
                      <a:endParaRPr sz="2400" u="none" cap="none" strike="noStrike">
                        <a:latin typeface="PMingLiU"/>
                        <a:ea typeface="PMingLiU"/>
                        <a:cs typeface="PMingLiU"/>
                        <a:sym typeface="PMingLiU"/>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r>
              <a:tr h="370850">
                <a:tc>
                  <a:txBody>
                    <a:bodyPr/>
                    <a:lstStyle/>
                    <a:p>
                      <a:pPr indent="0" lvl="0" marL="0" marR="0" rtl="0" algn="l">
                        <a:lnSpc>
                          <a:spcPct val="100000"/>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真偽辨識模型訓練資料集</a:t>
                      </a:r>
                      <a:endParaRPr sz="1800" u="none" cap="none" strike="noStrike">
                        <a:latin typeface="PMingLiU"/>
                        <a:ea typeface="PMingLiU"/>
                        <a:cs typeface="PMingLiU"/>
                        <a:sym typeface="PMingLiU"/>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2400"/>
                        <a:buFont typeface="PMingLiU"/>
                        <a:buNone/>
                      </a:pPr>
                      <a:r>
                        <a:rPr b="0" i="0" lang="en-US" sz="2400" u="none" cap="none" strike="noStrike">
                          <a:solidFill>
                            <a:srgbClr val="000000"/>
                          </a:solidFill>
                          <a:highlight>
                            <a:srgbClr val="FFFFFF"/>
                          </a:highlight>
                          <a:latin typeface="PMingLiU"/>
                          <a:ea typeface="PMingLiU"/>
                          <a:cs typeface="PMingLiU"/>
                          <a:sym typeface="PMingLiU"/>
                        </a:rPr>
                        <a:t>FACEFORENSICS++</a:t>
                      </a:r>
                      <a:endParaRPr b="0" i="0" sz="2400" u="none" cap="none" strike="noStrike">
                        <a:solidFill>
                          <a:srgbClr val="000000"/>
                        </a:solidFill>
                        <a:latin typeface="PMingLiU"/>
                        <a:ea typeface="PMingLiU"/>
                        <a:cs typeface="PMingLiU"/>
                        <a:sym typeface="PMingLiU"/>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r>
              <a:tr h="370850">
                <a:tc>
                  <a:txBody>
                    <a:bodyPr/>
                    <a:lstStyle/>
                    <a:p>
                      <a:pPr indent="0" lvl="0" marL="0" marR="0" rtl="0" algn="l">
                        <a:lnSpc>
                          <a:spcPct val="100000"/>
                        </a:lnSpc>
                        <a:spcBef>
                          <a:spcPts val="0"/>
                        </a:spcBef>
                        <a:spcAft>
                          <a:spcPts val="0"/>
                        </a:spcAft>
                        <a:buClr>
                          <a:schemeClr val="dk1"/>
                        </a:buClr>
                        <a:buSzPts val="2400"/>
                        <a:buFont typeface="PMingLiU"/>
                        <a:buNone/>
                      </a:pPr>
                      <a:r>
                        <a:rPr lang="en-US" sz="2400" u="none" cap="none" strike="noStrike">
                          <a:latin typeface="PMingLiU"/>
                          <a:ea typeface="PMingLiU"/>
                          <a:cs typeface="PMingLiU"/>
                          <a:sym typeface="PMingLiU"/>
                        </a:rPr>
                        <a:t>Fake人臉合成方式</a:t>
                      </a:r>
                      <a:endParaRPr sz="1800" u="none" cap="none" strike="noStrike">
                        <a:latin typeface="PMingLiU"/>
                        <a:ea typeface="PMingLiU"/>
                        <a:cs typeface="PMingLiU"/>
                        <a:sym typeface="PMingLiU"/>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chemeClr val="dk1"/>
                        </a:buClr>
                        <a:buSzPts val="2400"/>
                        <a:buFont typeface="PMingLiU"/>
                        <a:buNone/>
                      </a:pPr>
                      <a:r>
                        <a:rPr b="0" i="0" lang="en-US" sz="2400" u="none" cap="none" strike="noStrike">
                          <a:latin typeface="PMingLiU"/>
                          <a:ea typeface="PMingLiU"/>
                          <a:cs typeface="PMingLiU"/>
                          <a:sym typeface="PMingLiU"/>
                        </a:rPr>
                        <a:t>BI (跨影像融合)、SBI (自我影像融合)</a:t>
                      </a:r>
                      <a:endParaRPr sz="1800" u="none" cap="none" strike="noStrike">
                        <a:latin typeface="PMingLiU"/>
                        <a:ea typeface="PMingLiU"/>
                        <a:cs typeface="PMingLiU"/>
                        <a:sym typeface="PMingLiU"/>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tcPr>
                </a:tc>
              </a:tr>
              <a:tr h="3708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PMingLiU"/>
                          <a:ea typeface="PMingLiU"/>
                          <a:cs typeface="PMingLiU"/>
                          <a:sym typeface="PMingLiU"/>
                        </a:rPr>
                        <a:t>訓練輪數</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YOLOv10-s：150、FakeFormer：150</a:t>
                      </a:r>
                      <a:endParaRPr b="0" i="0" sz="2400" u="none" cap="none" strike="noStrike">
                        <a:solidFill>
                          <a:srgbClr val="000000"/>
                        </a:solidFill>
                        <a:latin typeface="PMingLiU"/>
                        <a:ea typeface="PMingLiU"/>
                        <a:cs typeface="PMingLiU"/>
                        <a:sym typeface="PMingLiU"/>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tcPr>
                </a:tc>
              </a:tr>
            </a:tbl>
          </a:graphicData>
        </a:graphic>
      </p:graphicFrame>
      <p:sp>
        <p:nvSpPr>
          <p:cNvPr id="171" name="Google Shape;171;p11"/>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sp>
        <p:nvSpPr>
          <p:cNvPr id="172" name="Google Shape;172;p11"/>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2"/>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800"/>
              <a:buFont typeface="PMingLiU"/>
              <a:buNone/>
            </a:pPr>
            <a:r>
              <a:rPr lang="en-US" sz="4800">
                <a:latin typeface="PMingLiU"/>
                <a:ea typeface="PMingLiU"/>
                <a:cs typeface="PMingLiU"/>
                <a:sym typeface="PMingLiU"/>
              </a:rPr>
              <a:t>實驗結果</a:t>
            </a:r>
            <a:endParaRPr/>
          </a:p>
        </p:txBody>
      </p:sp>
      <p:graphicFrame>
        <p:nvGraphicFramePr>
          <p:cNvPr id="178" name="Google Shape;178;p12"/>
          <p:cNvGraphicFramePr/>
          <p:nvPr/>
        </p:nvGraphicFramePr>
        <p:xfrm>
          <a:off x="749249" y="2771673"/>
          <a:ext cx="3000000" cy="3000000"/>
        </p:xfrm>
        <a:graphic>
          <a:graphicData uri="http://schemas.openxmlformats.org/drawingml/2006/table">
            <a:tbl>
              <a:tblPr bandRow="1" firstRow="1">
                <a:noFill/>
                <a:tableStyleId>{D4F57E2E-EB3F-4404-9A26-EBCFC7F95AF6}</a:tableStyleId>
              </a:tblPr>
              <a:tblGrid>
                <a:gridCol w="3120250"/>
                <a:gridCol w="3120250"/>
                <a:gridCol w="4451300"/>
              </a:tblGrid>
              <a:tr h="367850">
                <a:tc>
                  <a:txBody>
                    <a:bodyPr/>
                    <a:lstStyle/>
                    <a:p>
                      <a:pPr indent="0" lvl="0" marL="0" marR="0" rtl="0" algn="ctr">
                        <a:lnSpc>
                          <a:spcPct val="65625"/>
                        </a:lnSpc>
                        <a:spcBef>
                          <a:spcPts val="0"/>
                        </a:spcBef>
                        <a:spcAft>
                          <a:spcPts val="0"/>
                        </a:spcAft>
                        <a:buClr>
                          <a:srgbClr val="FFFFFF"/>
                        </a:buClr>
                        <a:buSzPts val="2400"/>
                        <a:buFont typeface="PMingLiU"/>
                        <a:buNone/>
                      </a:pPr>
                      <a:r>
                        <a:rPr b="0" i="0" lang="en-US" sz="2400" u="none" cap="none" strike="noStrike">
                          <a:solidFill>
                            <a:srgbClr val="FFFFFF"/>
                          </a:solidFill>
                          <a:latin typeface="PMingLiU"/>
                          <a:ea typeface="PMingLiU"/>
                          <a:cs typeface="PMingLiU"/>
                          <a:sym typeface="PMingLiU"/>
                        </a:rPr>
                        <a:t>評估指標</a:t>
                      </a:r>
                      <a:endParaRPr b="1" i="0" sz="2400" u="none" cap="none" strike="noStrike">
                        <a:solidFill>
                          <a:srgbClr val="FFFFFF"/>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7600">
                      <a:solidFill>
                        <a:srgbClr val="FFFFFF"/>
                      </a:solidFill>
                      <a:prstDash val="solid"/>
                      <a:round/>
                      <a:headEnd len="sm" w="sm" type="none"/>
                      <a:tailEnd len="sm" w="sm" type="none"/>
                    </a:lnB>
                  </a:tcPr>
                </a:tc>
                <a:tc>
                  <a:txBody>
                    <a:bodyPr/>
                    <a:lstStyle/>
                    <a:p>
                      <a:pPr indent="0" lvl="0" marL="0" marR="0" rtl="0" algn="ctr">
                        <a:lnSpc>
                          <a:spcPct val="65625"/>
                        </a:lnSpc>
                        <a:spcBef>
                          <a:spcPts val="0"/>
                        </a:spcBef>
                        <a:spcAft>
                          <a:spcPts val="0"/>
                        </a:spcAft>
                        <a:buClr>
                          <a:srgbClr val="FFFFFF"/>
                        </a:buClr>
                        <a:buSzPts val="2400"/>
                        <a:buFont typeface="PMingLiU"/>
                        <a:buNone/>
                      </a:pPr>
                      <a:r>
                        <a:rPr b="0" i="0" lang="en-US" sz="2400" u="none" cap="none" strike="noStrike">
                          <a:solidFill>
                            <a:srgbClr val="FFFFFF"/>
                          </a:solidFill>
                          <a:latin typeface="PMingLiU"/>
                          <a:ea typeface="PMingLiU"/>
                          <a:cs typeface="PMingLiU"/>
                          <a:sym typeface="PMingLiU"/>
                        </a:rPr>
                        <a:t>實測數值</a:t>
                      </a:r>
                      <a:endParaRPr b="1" i="0" sz="2400" u="none" cap="none" strike="noStrike">
                        <a:solidFill>
                          <a:srgbClr val="FFFFFF"/>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7600">
                      <a:solidFill>
                        <a:srgbClr val="FFFFFF"/>
                      </a:solidFill>
                      <a:prstDash val="solid"/>
                      <a:round/>
                      <a:headEnd len="sm" w="sm" type="none"/>
                      <a:tailEnd len="sm" w="sm" type="none"/>
                    </a:lnB>
                  </a:tcPr>
                </a:tc>
                <a:tc>
                  <a:txBody>
                    <a:bodyPr/>
                    <a:lstStyle/>
                    <a:p>
                      <a:pPr indent="0" lvl="0" marL="0" marR="0" rtl="0" algn="ctr">
                        <a:lnSpc>
                          <a:spcPct val="65625"/>
                        </a:lnSpc>
                        <a:spcBef>
                          <a:spcPts val="0"/>
                        </a:spcBef>
                        <a:spcAft>
                          <a:spcPts val="0"/>
                        </a:spcAft>
                        <a:buClr>
                          <a:srgbClr val="FFFFFF"/>
                        </a:buClr>
                        <a:buSzPts val="2400"/>
                        <a:buFont typeface="PMingLiU"/>
                        <a:buNone/>
                      </a:pPr>
                      <a:r>
                        <a:rPr b="0" i="0" lang="en-US" sz="2400" u="none" cap="none" strike="noStrike">
                          <a:solidFill>
                            <a:srgbClr val="FFFFFF"/>
                          </a:solidFill>
                          <a:latin typeface="PMingLiU"/>
                          <a:ea typeface="PMingLiU"/>
                          <a:cs typeface="PMingLiU"/>
                          <a:sym typeface="PMingLiU"/>
                        </a:rPr>
                        <a:t>指標說明</a:t>
                      </a:r>
                      <a:endParaRPr b="1" i="0" sz="2400" u="none" cap="none" strike="noStrike">
                        <a:solidFill>
                          <a:srgbClr val="FFFFFF"/>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7600">
                      <a:solidFill>
                        <a:srgbClr val="FFFFFF"/>
                      </a:solidFill>
                      <a:prstDash val="solid"/>
                      <a:round/>
                      <a:headEnd len="sm" w="sm" type="none"/>
                      <a:tailEnd len="sm" w="sm" type="none"/>
                    </a:lnB>
                  </a:tcPr>
                </a:tc>
              </a:tr>
              <a:tr h="643750">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Precision</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76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88.87%</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76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模型框出的人臉中，是正確的人臉機率</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76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643750">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Recall</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68.18%</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資料集中所有的人臉，模型成功捕捉率</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643750">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mAP@0.5</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75.07%</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預測框與真實人臉重疊達 50% 以上的綜合精度</a:t>
                      </a:r>
                      <a:endParaRPr sz="2400" u="none" cap="none" strike="noStrike">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
        <p:nvSpPr>
          <p:cNvPr id="179" name="Google Shape;179;p12"/>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sp>
        <p:nvSpPr>
          <p:cNvPr id="180" name="Google Shape;180;p12"/>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3"/>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PMingLiU"/>
              <a:buNone/>
            </a:pPr>
            <a:r>
              <a:rPr lang="en-US" sz="5300">
                <a:latin typeface="PMingLiU"/>
                <a:ea typeface="PMingLiU"/>
                <a:cs typeface="PMingLiU"/>
                <a:sym typeface="PMingLiU"/>
              </a:rPr>
              <a:t>實驗結果</a:t>
            </a:r>
            <a:br>
              <a:rPr lang="en-US" sz="5300">
                <a:latin typeface="PMingLiU"/>
                <a:ea typeface="PMingLiU"/>
                <a:cs typeface="PMingLiU"/>
                <a:sym typeface="PMingLiU"/>
              </a:rPr>
            </a:br>
            <a:r>
              <a:rPr lang="en-US">
                <a:latin typeface="PMingLiU"/>
                <a:ea typeface="PMingLiU"/>
                <a:cs typeface="PMingLiU"/>
                <a:sym typeface="PMingLiU"/>
              </a:rPr>
              <a:t>C</a:t>
            </a:r>
            <a:r>
              <a:rPr lang="en-US" cap="none">
                <a:latin typeface="PMingLiU"/>
                <a:ea typeface="PMingLiU"/>
                <a:cs typeface="PMingLiU"/>
                <a:sym typeface="PMingLiU"/>
              </a:rPr>
              <a:t>eleb</a:t>
            </a:r>
            <a:r>
              <a:rPr lang="en-US">
                <a:latin typeface="PMingLiU"/>
                <a:ea typeface="PMingLiU"/>
                <a:cs typeface="PMingLiU"/>
                <a:sym typeface="PMingLiU"/>
              </a:rPr>
              <a:t>-DF</a:t>
            </a:r>
            <a:endParaRPr>
              <a:latin typeface="PMingLiU"/>
              <a:ea typeface="PMingLiU"/>
              <a:cs typeface="PMingLiU"/>
              <a:sym typeface="PMingLiU"/>
            </a:endParaRPr>
          </a:p>
        </p:txBody>
      </p:sp>
      <p:graphicFrame>
        <p:nvGraphicFramePr>
          <p:cNvPr id="186" name="Google Shape;186;p13"/>
          <p:cNvGraphicFramePr/>
          <p:nvPr/>
        </p:nvGraphicFramePr>
        <p:xfrm>
          <a:off x="700613" y="3016288"/>
          <a:ext cx="3000000" cy="3000000"/>
        </p:xfrm>
        <a:graphic>
          <a:graphicData uri="http://schemas.openxmlformats.org/drawingml/2006/table">
            <a:tbl>
              <a:tblPr bandRow="1" firstRow="1">
                <a:noFill/>
                <a:tableStyleId>{D4F57E2E-EB3F-4404-9A26-EBCFC7F95AF6}</a:tableStyleId>
              </a:tblPr>
              <a:tblGrid>
                <a:gridCol w="2791800"/>
                <a:gridCol w="2791800"/>
              </a:tblGrid>
              <a:tr h="367850">
                <a:tc>
                  <a:txBody>
                    <a:bodyPr/>
                    <a:lstStyle/>
                    <a:p>
                      <a:pPr indent="0" lvl="0" marL="0" marR="0" rtl="0" algn="ctr">
                        <a:lnSpc>
                          <a:spcPct val="87500"/>
                        </a:lnSpc>
                        <a:spcBef>
                          <a:spcPts val="0"/>
                        </a:spcBef>
                        <a:spcAft>
                          <a:spcPts val="0"/>
                        </a:spcAft>
                        <a:buClr>
                          <a:srgbClr val="FFFFFF"/>
                        </a:buClr>
                        <a:buSzPts val="1800"/>
                        <a:buFont typeface="Quattrocento Sans"/>
                        <a:buNone/>
                      </a:pPr>
                      <a:r>
                        <a:rPr b="0" i="0" lang="en-US" sz="1800" u="none" cap="none" strike="noStrike">
                          <a:solidFill>
                            <a:srgbClr val="FFFFFF"/>
                          </a:solidFill>
                          <a:latin typeface="Quattrocento Sans"/>
                          <a:ea typeface="Quattrocento Sans"/>
                          <a:cs typeface="Quattrocento Sans"/>
                          <a:sym typeface="Quattrocento Sans"/>
                        </a:rPr>
                        <a:t>評估指標</a:t>
                      </a:r>
                      <a:endParaRPr b="1" i="0" sz="900" u="none" cap="none" strike="noStrike">
                        <a:solidFill>
                          <a:srgbClr val="FFFFFF"/>
                        </a:solidFill>
                        <a:latin typeface="Quattrocento Sans"/>
                        <a:ea typeface="Quattrocento Sans"/>
                        <a:cs typeface="Quattrocento Sans"/>
                        <a:sym typeface="Quattrocento Sans"/>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7600">
                      <a:solidFill>
                        <a:srgbClr val="FFFFFF"/>
                      </a:solidFill>
                      <a:prstDash val="solid"/>
                      <a:round/>
                      <a:headEnd len="sm" w="sm" type="none"/>
                      <a:tailEnd len="sm" w="sm" type="none"/>
                    </a:lnB>
                  </a:tcPr>
                </a:tc>
                <a:tc>
                  <a:txBody>
                    <a:bodyPr/>
                    <a:lstStyle/>
                    <a:p>
                      <a:pPr indent="0" lvl="0" marL="0" marR="0" rtl="0" algn="ctr">
                        <a:lnSpc>
                          <a:spcPct val="87500"/>
                        </a:lnSpc>
                        <a:spcBef>
                          <a:spcPts val="0"/>
                        </a:spcBef>
                        <a:spcAft>
                          <a:spcPts val="0"/>
                        </a:spcAft>
                        <a:buClr>
                          <a:srgbClr val="FFFFFF"/>
                        </a:buClr>
                        <a:buSzPts val="1800"/>
                        <a:buFont typeface="Quattrocento Sans"/>
                        <a:buNone/>
                      </a:pPr>
                      <a:r>
                        <a:rPr b="0" i="0" lang="en-US" sz="1800" u="none" cap="none" strike="noStrike">
                          <a:solidFill>
                            <a:srgbClr val="FFFFFF"/>
                          </a:solidFill>
                          <a:latin typeface="Quattrocento Sans"/>
                          <a:ea typeface="Quattrocento Sans"/>
                          <a:cs typeface="Quattrocento Sans"/>
                          <a:sym typeface="Quattrocento Sans"/>
                        </a:rPr>
                        <a:t>實測數值</a:t>
                      </a:r>
                      <a:endParaRPr b="1" i="0" sz="900" u="none" cap="none" strike="noStrike">
                        <a:solidFill>
                          <a:srgbClr val="FFFFFF"/>
                        </a:solidFill>
                        <a:latin typeface="Quattrocento Sans"/>
                        <a:ea typeface="Quattrocento Sans"/>
                        <a:cs typeface="Quattrocento Sans"/>
                        <a:sym typeface="Quattrocento Sans"/>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7600">
                      <a:solidFill>
                        <a:srgbClr val="FFFFFF"/>
                      </a:solidFill>
                      <a:prstDash val="solid"/>
                      <a:round/>
                      <a:headEnd len="sm" w="sm" type="none"/>
                      <a:tailEnd len="sm" w="sm" type="none"/>
                    </a:lnB>
                  </a:tcPr>
                </a:tc>
              </a:tr>
              <a:tr h="919650">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AUC</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76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91.16%</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76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643750">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AP</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91.61%</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
        <p:nvSpPr>
          <p:cNvPr id="187" name="Google Shape;187;p13"/>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pic>
        <p:nvPicPr>
          <p:cNvPr descr="一張含有 文字, 螢幕擷取畫面, 圖表, 數字 的圖片&#10;&#10;AI 產生的內容可能不正確。" id="188" name="Google Shape;188;p13"/>
          <p:cNvPicPr preferRelativeResize="0"/>
          <p:nvPr/>
        </p:nvPicPr>
        <p:blipFill rotWithShape="1">
          <a:blip r:embed="rId3">
            <a:alphaModFix/>
          </a:blip>
          <a:srcRect b="0" l="0" r="0" t="0"/>
          <a:stretch/>
        </p:blipFill>
        <p:spPr>
          <a:xfrm>
            <a:off x="6814514" y="2053683"/>
            <a:ext cx="4575337" cy="3856464"/>
          </a:xfrm>
          <a:prstGeom prst="rect">
            <a:avLst/>
          </a:prstGeom>
          <a:noFill/>
          <a:ln>
            <a:noFill/>
          </a:ln>
        </p:spPr>
      </p:pic>
      <p:sp>
        <p:nvSpPr>
          <p:cNvPr id="189" name="Google Shape;189;p13"/>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4"/>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PMingLiU"/>
              <a:buNone/>
            </a:pPr>
            <a:r>
              <a:rPr lang="en-US" sz="5300">
                <a:latin typeface="PMingLiU"/>
                <a:ea typeface="PMingLiU"/>
                <a:cs typeface="PMingLiU"/>
                <a:sym typeface="PMingLiU"/>
              </a:rPr>
              <a:t>實驗結果</a:t>
            </a:r>
            <a:br>
              <a:rPr lang="en-US" sz="5300">
                <a:latin typeface="PMingLiU"/>
                <a:ea typeface="PMingLiU"/>
                <a:cs typeface="PMingLiU"/>
                <a:sym typeface="PMingLiU"/>
              </a:rPr>
            </a:br>
            <a:r>
              <a:rPr lang="en-US">
                <a:latin typeface="PMingLiU"/>
                <a:ea typeface="PMingLiU"/>
                <a:cs typeface="PMingLiU"/>
                <a:sym typeface="PMingLiU"/>
              </a:rPr>
              <a:t>DFW</a:t>
            </a:r>
            <a:endParaRPr>
              <a:latin typeface="PMingLiU"/>
              <a:ea typeface="PMingLiU"/>
              <a:cs typeface="PMingLiU"/>
              <a:sym typeface="PMingLiU"/>
            </a:endParaRPr>
          </a:p>
        </p:txBody>
      </p:sp>
      <p:graphicFrame>
        <p:nvGraphicFramePr>
          <p:cNvPr id="195" name="Google Shape;195;p14"/>
          <p:cNvGraphicFramePr/>
          <p:nvPr/>
        </p:nvGraphicFramePr>
        <p:xfrm>
          <a:off x="700613" y="3016913"/>
          <a:ext cx="3000000" cy="3000000"/>
        </p:xfrm>
        <a:graphic>
          <a:graphicData uri="http://schemas.openxmlformats.org/drawingml/2006/table">
            <a:tbl>
              <a:tblPr bandRow="1" firstRow="1">
                <a:noFill/>
                <a:tableStyleId>{D4F57E2E-EB3F-4404-9A26-EBCFC7F95AF6}</a:tableStyleId>
              </a:tblPr>
              <a:tblGrid>
                <a:gridCol w="2791800"/>
                <a:gridCol w="2791800"/>
              </a:tblGrid>
              <a:tr h="367850">
                <a:tc>
                  <a:txBody>
                    <a:bodyPr/>
                    <a:lstStyle/>
                    <a:p>
                      <a:pPr indent="0" lvl="0" marL="0" marR="0" rtl="0" algn="ctr">
                        <a:lnSpc>
                          <a:spcPct val="87500"/>
                        </a:lnSpc>
                        <a:spcBef>
                          <a:spcPts val="0"/>
                        </a:spcBef>
                        <a:spcAft>
                          <a:spcPts val="0"/>
                        </a:spcAft>
                        <a:buClr>
                          <a:srgbClr val="FFFFFF"/>
                        </a:buClr>
                        <a:buSzPts val="1800"/>
                        <a:buFont typeface="Quattrocento Sans"/>
                        <a:buNone/>
                      </a:pPr>
                      <a:r>
                        <a:rPr b="0" i="0" lang="en-US" sz="1800" u="none" cap="none" strike="noStrike">
                          <a:solidFill>
                            <a:srgbClr val="FFFFFF"/>
                          </a:solidFill>
                          <a:latin typeface="Quattrocento Sans"/>
                          <a:ea typeface="Quattrocento Sans"/>
                          <a:cs typeface="Quattrocento Sans"/>
                          <a:sym typeface="Quattrocento Sans"/>
                        </a:rPr>
                        <a:t>評估指標</a:t>
                      </a:r>
                      <a:endParaRPr b="1" i="0" sz="900" u="none" cap="none" strike="noStrike">
                        <a:solidFill>
                          <a:srgbClr val="FFFFFF"/>
                        </a:solidFill>
                        <a:latin typeface="Quattrocento Sans"/>
                        <a:ea typeface="Quattrocento Sans"/>
                        <a:cs typeface="Quattrocento Sans"/>
                        <a:sym typeface="Quattrocento Sans"/>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7600">
                      <a:solidFill>
                        <a:srgbClr val="FFFFFF"/>
                      </a:solidFill>
                      <a:prstDash val="solid"/>
                      <a:round/>
                      <a:headEnd len="sm" w="sm" type="none"/>
                      <a:tailEnd len="sm" w="sm" type="none"/>
                    </a:lnB>
                  </a:tcPr>
                </a:tc>
                <a:tc>
                  <a:txBody>
                    <a:bodyPr/>
                    <a:lstStyle/>
                    <a:p>
                      <a:pPr indent="0" lvl="0" marL="0" marR="0" rtl="0" algn="ctr">
                        <a:lnSpc>
                          <a:spcPct val="87500"/>
                        </a:lnSpc>
                        <a:spcBef>
                          <a:spcPts val="0"/>
                        </a:spcBef>
                        <a:spcAft>
                          <a:spcPts val="0"/>
                        </a:spcAft>
                        <a:buClr>
                          <a:srgbClr val="FFFFFF"/>
                        </a:buClr>
                        <a:buSzPts val="1800"/>
                        <a:buFont typeface="Quattrocento Sans"/>
                        <a:buNone/>
                      </a:pPr>
                      <a:r>
                        <a:rPr b="0" i="0" lang="en-US" sz="1800" u="none" cap="none" strike="noStrike">
                          <a:solidFill>
                            <a:srgbClr val="FFFFFF"/>
                          </a:solidFill>
                          <a:latin typeface="Quattrocento Sans"/>
                          <a:ea typeface="Quattrocento Sans"/>
                          <a:cs typeface="Quattrocento Sans"/>
                          <a:sym typeface="Quattrocento Sans"/>
                        </a:rPr>
                        <a:t>實測數值</a:t>
                      </a:r>
                      <a:endParaRPr b="1" i="0" sz="900" u="none" cap="none" strike="noStrike">
                        <a:solidFill>
                          <a:srgbClr val="FFFFFF"/>
                        </a:solidFill>
                        <a:latin typeface="Quattrocento Sans"/>
                        <a:ea typeface="Quattrocento Sans"/>
                        <a:cs typeface="Quattrocento Sans"/>
                        <a:sym typeface="Quattrocento Sans"/>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7600">
                      <a:solidFill>
                        <a:srgbClr val="FFFFFF"/>
                      </a:solidFill>
                      <a:prstDash val="solid"/>
                      <a:round/>
                      <a:headEnd len="sm" w="sm" type="none"/>
                      <a:tailEnd len="sm" w="sm" type="none"/>
                    </a:lnB>
                  </a:tcPr>
                </a:tc>
              </a:tr>
              <a:tr h="919650">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AUC</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76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77.87%</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76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643750">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AP</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65625"/>
                        </a:lnSpc>
                        <a:spcBef>
                          <a:spcPts val="0"/>
                        </a:spcBef>
                        <a:spcAft>
                          <a:spcPts val="0"/>
                        </a:spcAft>
                        <a:buClr>
                          <a:srgbClr val="000000"/>
                        </a:buClr>
                        <a:buSzPts val="2400"/>
                        <a:buFont typeface="PMingLiU"/>
                        <a:buNone/>
                      </a:pPr>
                      <a:r>
                        <a:rPr b="0" i="0" lang="en-US" sz="2400" u="none" cap="none" strike="noStrike">
                          <a:solidFill>
                            <a:srgbClr val="000000"/>
                          </a:solidFill>
                          <a:latin typeface="PMingLiU"/>
                          <a:ea typeface="PMingLiU"/>
                          <a:cs typeface="PMingLiU"/>
                          <a:sym typeface="PMingLiU"/>
                        </a:rPr>
                        <a:t>79.39%</a:t>
                      </a:r>
                      <a:endParaRPr b="0" i="0" sz="2400" u="none" cap="none" strike="noStrike">
                        <a:solidFill>
                          <a:srgbClr val="000000"/>
                        </a:solidFill>
                        <a:latin typeface="PMingLiU"/>
                        <a:ea typeface="PMingLiU"/>
                        <a:cs typeface="PMingLiU"/>
                        <a:sym typeface="PMingLiU"/>
                      </a:endParaRPr>
                    </a:p>
                  </a:txBody>
                  <a:tcPr marT="33150" marB="33150" marR="66300" marL="66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
        <p:nvSpPr>
          <p:cNvPr id="196" name="Google Shape;196;p14"/>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pic>
        <p:nvPicPr>
          <p:cNvPr descr="一張含有 文字, 螢幕擷取畫面, 圖表, 數字 的圖片&#10;&#10;AI 產生的內容可能不正確。" id="197" name="Google Shape;197;p14"/>
          <p:cNvPicPr preferRelativeResize="0"/>
          <p:nvPr/>
        </p:nvPicPr>
        <p:blipFill rotWithShape="1">
          <a:blip r:embed="rId3">
            <a:alphaModFix/>
          </a:blip>
          <a:srcRect b="0" l="0" r="0" t="0"/>
          <a:stretch/>
        </p:blipFill>
        <p:spPr>
          <a:xfrm>
            <a:off x="6888330" y="2070339"/>
            <a:ext cx="4496963" cy="3824378"/>
          </a:xfrm>
          <a:prstGeom prst="rect">
            <a:avLst/>
          </a:prstGeom>
          <a:noFill/>
          <a:ln>
            <a:noFill/>
          </a:ln>
        </p:spPr>
      </p:pic>
      <p:sp>
        <p:nvSpPr>
          <p:cNvPr id="198" name="Google Shape;198;p14"/>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2" name="Shape 202"/>
        <p:cNvGrpSpPr/>
        <p:nvPr/>
      </p:nvGrpSpPr>
      <p:grpSpPr>
        <a:xfrm>
          <a:off x="0" y="0"/>
          <a:ext cx="0" cy="0"/>
          <a:chOff x="0" y="0"/>
          <a:chExt cx="0" cy="0"/>
        </a:xfrm>
      </p:grpSpPr>
      <p:pic>
        <p:nvPicPr>
          <p:cNvPr descr="一張含有 文字, 螢幕擷取畫面, 圖表, 數字 的圖片&#10;&#10;AI 產生的內容可能不正確。" id="203" name="Google Shape;203;p15"/>
          <p:cNvPicPr preferRelativeResize="0"/>
          <p:nvPr>
            <p:ph idx="1" type="body"/>
          </p:nvPr>
        </p:nvPicPr>
        <p:blipFill rotWithShape="1">
          <a:blip r:embed="rId3">
            <a:alphaModFix/>
          </a:blip>
          <a:srcRect b="0" l="0" r="0" t="0"/>
          <a:stretch/>
        </p:blipFill>
        <p:spPr>
          <a:xfrm>
            <a:off x="893597" y="1164900"/>
            <a:ext cx="9362322" cy="5193216"/>
          </a:xfrm>
          <a:prstGeom prst="rect">
            <a:avLst/>
          </a:prstGeom>
          <a:noFill/>
          <a:ln>
            <a:noFill/>
          </a:ln>
        </p:spPr>
      </p:pic>
      <p:sp>
        <p:nvSpPr>
          <p:cNvPr id="204" name="Google Shape;204;p15"/>
          <p:cNvSpPr txBox="1"/>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4000"/>
              <a:buFont typeface="PMingLiU"/>
              <a:buNone/>
            </a:pPr>
            <a:r>
              <a:rPr b="1" i="0" lang="en-US" sz="4000" u="none" cap="none" strike="noStrike">
                <a:solidFill>
                  <a:schemeClr val="dk1"/>
                </a:solidFill>
                <a:latin typeface="PMingLiU"/>
                <a:ea typeface="PMingLiU"/>
                <a:cs typeface="PMingLiU"/>
                <a:sym typeface="PMingLiU"/>
              </a:rPr>
              <a:t>2.系統架構圖</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4000"/>
              <a:buFont typeface="PMingLiU"/>
              <a:buNone/>
            </a:pPr>
            <a:r>
              <a:rPr b="1" i="0" lang="en-US" sz="4000" u="none" cap="none" strike="noStrike">
                <a:solidFill>
                  <a:schemeClr val="dk1"/>
                </a:solidFill>
                <a:latin typeface="PMingLiU"/>
                <a:ea typeface="PMingLiU"/>
                <a:cs typeface="PMingLiU"/>
                <a:sym typeface="PMingLiU"/>
              </a:rPr>
              <a:t> </a:t>
            </a:r>
            <a:endParaRPr b="0" i="0" sz="1400" u="none" cap="none" strike="noStrike">
              <a:solidFill>
                <a:srgbClr val="000000"/>
              </a:solidFill>
              <a:latin typeface="Arial"/>
              <a:ea typeface="Arial"/>
              <a:cs typeface="Arial"/>
              <a:sym typeface="Arial"/>
            </a:endParaRPr>
          </a:p>
        </p:txBody>
      </p:sp>
      <p:sp>
        <p:nvSpPr>
          <p:cNvPr id="205" name="Google Shape;205;p15"/>
          <p:cNvSpPr txBox="1"/>
          <p:nvPr/>
        </p:nvSpPr>
        <p:spPr>
          <a:xfrm>
            <a:off x="4269827" y="6359182"/>
            <a:ext cx="34437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MingLiU"/>
                <a:ea typeface="PMingLiU"/>
                <a:cs typeface="PMingLiU"/>
                <a:sym typeface="PMingLiU"/>
              </a:rPr>
              <a:t>圖 1：系統架構圖</a:t>
            </a:r>
            <a:endParaRPr b="0" i="0" sz="1800" u="none" cap="none" strike="noStrike">
              <a:solidFill>
                <a:schemeClr val="dk1"/>
              </a:solidFill>
              <a:latin typeface="PMingLiU"/>
              <a:ea typeface="PMingLiU"/>
              <a:cs typeface="PMingLiU"/>
              <a:sym typeface="PMingLiU"/>
            </a:endParaRPr>
          </a:p>
        </p:txBody>
      </p:sp>
      <p:sp>
        <p:nvSpPr>
          <p:cNvPr id="206" name="Google Shape;206;p15"/>
          <p:cNvSpPr txBox="1"/>
          <p:nvPr/>
        </p:nvSpPr>
        <p:spPr>
          <a:xfrm>
            <a:off x="0" y="5211097"/>
            <a:ext cx="6096000"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Arial"/>
                <a:ea typeface="Arial"/>
                <a:cs typeface="Arial"/>
                <a:sym typeface="Arial"/>
              </a:rPr>
              <a:t>3.簡報的系統架構圖的螢幕擷取模組裡的東西要寫清楚關係，架構圖頁面要整理好，沒偵測到人臉不是架構圖該出現的，判定結果和判定為真實可以改寫法，不要雙線，警示視窗不要畫到螢幕擷取模組，架構圖沒有寫前處理，也沒寫怎麼訓練模型的，架構圖</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Lustria"/>
              <a:ea typeface="Lustria"/>
              <a:cs typeface="Lustria"/>
              <a:sym typeface="Lustria"/>
            </a:endParaRPr>
          </a:p>
        </p:txBody>
      </p:sp>
      <p:sp>
        <p:nvSpPr>
          <p:cNvPr id="207" name="Google Shape;207;p15"/>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1" name="Shape 211"/>
        <p:cNvGrpSpPr/>
        <p:nvPr/>
      </p:nvGrpSpPr>
      <p:grpSpPr>
        <a:xfrm>
          <a:off x="0" y="0"/>
          <a:ext cx="0" cy="0"/>
          <a:chOff x="0" y="0"/>
          <a:chExt cx="0" cy="0"/>
        </a:xfrm>
      </p:grpSpPr>
      <p:sp>
        <p:nvSpPr>
          <p:cNvPr id="212" name="Google Shape;212;p16"/>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3.使用者UI介面</a:t>
            </a:r>
            <a:endParaRPr/>
          </a:p>
        </p:txBody>
      </p:sp>
      <p:sp>
        <p:nvSpPr>
          <p:cNvPr id="213" name="Google Shape;213;p16"/>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pic>
        <p:nvPicPr>
          <p:cNvPr descr="一張含有 文字, 螢幕擷取畫面, 字型, 軟體 的圖片&#10;&#10;AI 產生的內容可能不正確。" id="214" name="Google Shape;214;p16"/>
          <p:cNvPicPr preferRelativeResize="0"/>
          <p:nvPr>
            <p:ph idx="1" type="body"/>
          </p:nvPr>
        </p:nvPicPr>
        <p:blipFill rotWithShape="1">
          <a:blip r:embed="rId3">
            <a:alphaModFix/>
          </a:blip>
          <a:srcRect b="0" l="0" r="0" t="0"/>
          <a:stretch/>
        </p:blipFill>
        <p:spPr>
          <a:xfrm>
            <a:off x="5119602" y="769126"/>
            <a:ext cx="2750522" cy="5319862"/>
          </a:xfrm>
          <a:prstGeom prst="rect">
            <a:avLst/>
          </a:prstGeom>
          <a:noFill/>
          <a:ln>
            <a:noFill/>
          </a:ln>
        </p:spPr>
      </p:pic>
      <p:sp>
        <p:nvSpPr>
          <p:cNvPr id="215" name="Google Shape;215;p16"/>
          <p:cNvSpPr txBox="1"/>
          <p:nvPr/>
        </p:nvSpPr>
        <p:spPr>
          <a:xfrm>
            <a:off x="1722764" y="2302104"/>
            <a:ext cx="265386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PMingLiU"/>
                <a:ea typeface="PMingLiU"/>
                <a:cs typeface="PMingLiU"/>
                <a:sym typeface="PMingLiU"/>
              </a:rPr>
              <a:t>使用者操作介面</a:t>
            </a:r>
            <a:endParaRPr b="0" i="0" sz="1400" u="none" cap="none" strike="noStrike">
              <a:solidFill>
                <a:srgbClr val="000000"/>
              </a:solidFill>
              <a:latin typeface="Arial"/>
              <a:ea typeface="Arial"/>
              <a:cs typeface="Arial"/>
              <a:sym typeface="Arial"/>
            </a:endParaRPr>
          </a:p>
        </p:txBody>
      </p:sp>
      <p:sp>
        <p:nvSpPr>
          <p:cNvPr id="216" name="Google Shape;216;p16"/>
          <p:cNvSpPr txBox="1"/>
          <p:nvPr/>
        </p:nvSpPr>
        <p:spPr>
          <a:xfrm>
            <a:off x="1278194" y="3306097"/>
            <a:ext cx="3551902" cy="96154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0" i="0" lang="en-US" sz="2000" u="none" cap="none" strike="noStrike">
                <a:solidFill>
                  <a:srgbClr val="FF0000"/>
                </a:solidFill>
                <a:latin typeface="Arial"/>
                <a:ea typeface="Arial"/>
                <a:cs typeface="Arial"/>
                <a:sym typeface="Arial"/>
              </a:rPr>
              <a:t>4.ui不要叫雷達</a:t>
            </a:r>
            <a:endParaRPr b="0" i="0" sz="2000" u="none" cap="none" strike="noStrike">
              <a:solidFill>
                <a:srgbClr val="FF0000"/>
              </a:solidFill>
              <a:latin typeface="Lustria"/>
              <a:ea typeface="Lustria"/>
              <a:cs typeface="Lustria"/>
              <a:sym typeface="Lustria"/>
            </a:endParaRPr>
          </a:p>
          <a:p>
            <a:pPr indent="0" lvl="0" marL="0" marR="0" rtl="0" algn="l">
              <a:lnSpc>
                <a:spcPct val="150000"/>
              </a:lnSpc>
              <a:spcBef>
                <a:spcPts val="0"/>
              </a:spcBef>
              <a:spcAft>
                <a:spcPts val="0"/>
              </a:spcAft>
              <a:buClr>
                <a:srgbClr val="000000"/>
              </a:buClr>
              <a:buSzPts val="2000"/>
              <a:buFont typeface="Arial"/>
              <a:buNone/>
            </a:pPr>
            <a:r>
              <a:rPr b="0" i="0" lang="en-US" sz="2000" u="none" cap="none" strike="noStrike">
                <a:solidFill>
                  <a:srgbClr val="FF0000"/>
                </a:solidFill>
                <a:latin typeface="Lustria"/>
                <a:ea typeface="Lustria"/>
                <a:cs typeface="Lustria"/>
                <a:sym typeface="Lustria"/>
              </a:rPr>
              <a:t>5.ui是擷取頻率不是通知頻率</a:t>
            </a:r>
            <a:endParaRPr b="0" i="0" sz="2000" u="none" cap="none" strike="noStrike">
              <a:solidFill>
                <a:srgbClr val="FF0000"/>
              </a:solidFill>
              <a:latin typeface="Lustria"/>
              <a:ea typeface="Lustria"/>
              <a:cs typeface="Lustria"/>
              <a:sym typeface="Lustria"/>
            </a:endParaRPr>
          </a:p>
        </p:txBody>
      </p:sp>
      <p:sp>
        <p:nvSpPr>
          <p:cNvPr id="217" name="Google Shape;217;p16"/>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1" name="Shape 221"/>
        <p:cNvGrpSpPr/>
        <p:nvPr/>
      </p:nvGrpSpPr>
      <p:grpSpPr>
        <a:xfrm>
          <a:off x="0" y="0"/>
          <a:ext cx="0" cy="0"/>
          <a:chOff x="0" y="0"/>
          <a:chExt cx="0" cy="0"/>
        </a:xfrm>
      </p:grpSpPr>
      <p:sp>
        <p:nvSpPr>
          <p:cNvPr id="222" name="Google Shape;222;p17"/>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3.使用者UI介面</a:t>
            </a:r>
            <a:endParaRPr/>
          </a:p>
        </p:txBody>
      </p:sp>
      <p:sp>
        <p:nvSpPr>
          <p:cNvPr id="223" name="Google Shape;223;p17"/>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pic>
        <p:nvPicPr>
          <p:cNvPr descr="一張含有 文字, 人的臉孔, 風鏡, 螢幕擷取畫面 的圖片&#10;&#10;AI 產生的內容可能不正確。" id="224" name="Google Shape;224;p17"/>
          <p:cNvPicPr preferRelativeResize="0"/>
          <p:nvPr/>
        </p:nvPicPr>
        <p:blipFill rotWithShape="1">
          <a:blip r:embed="rId3">
            <a:alphaModFix/>
          </a:blip>
          <a:srcRect b="0" l="0" r="0" t="0"/>
          <a:stretch/>
        </p:blipFill>
        <p:spPr>
          <a:xfrm>
            <a:off x="5254490" y="855159"/>
            <a:ext cx="3918717" cy="5160087"/>
          </a:xfrm>
          <a:prstGeom prst="rect">
            <a:avLst/>
          </a:prstGeom>
          <a:noFill/>
          <a:ln>
            <a:noFill/>
          </a:ln>
        </p:spPr>
      </p:pic>
      <p:sp>
        <p:nvSpPr>
          <p:cNvPr id="225" name="Google Shape;225;p17"/>
          <p:cNvSpPr txBox="1"/>
          <p:nvPr/>
        </p:nvSpPr>
        <p:spPr>
          <a:xfrm>
            <a:off x="1722764" y="2302104"/>
            <a:ext cx="265386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PMingLiU"/>
                <a:ea typeface="PMingLiU"/>
                <a:cs typeface="PMingLiU"/>
                <a:sym typeface="PMingLiU"/>
              </a:rPr>
              <a:t>警示使用者視窗</a:t>
            </a:r>
            <a:endParaRPr b="0" i="0" sz="1400" u="none" cap="none" strike="noStrike">
              <a:solidFill>
                <a:srgbClr val="000000"/>
              </a:solidFill>
              <a:latin typeface="Arial"/>
              <a:ea typeface="Arial"/>
              <a:cs typeface="Arial"/>
              <a:sym typeface="Arial"/>
            </a:endParaRPr>
          </a:p>
        </p:txBody>
      </p:sp>
      <p:sp>
        <p:nvSpPr>
          <p:cNvPr id="226" name="Google Shape;226;p17"/>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0" name="Shape 230"/>
        <p:cNvGrpSpPr/>
        <p:nvPr/>
      </p:nvGrpSpPr>
      <p:grpSpPr>
        <a:xfrm>
          <a:off x="0" y="0"/>
          <a:ext cx="0" cy="0"/>
          <a:chOff x="0" y="0"/>
          <a:chExt cx="0" cy="0"/>
        </a:xfrm>
      </p:grpSpPr>
      <p:sp>
        <p:nvSpPr>
          <p:cNvPr id="231" name="Google Shape;231;p18"/>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4.人臉偵測模組</a:t>
            </a:r>
            <a:endParaRPr/>
          </a:p>
        </p:txBody>
      </p:sp>
      <p:sp>
        <p:nvSpPr>
          <p:cNvPr id="232" name="Google Shape;232;p18"/>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sp>
        <p:nvSpPr>
          <p:cNvPr id="233" name="Google Shape;233;p18"/>
          <p:cNvSpPr txBox="1"/>
          <p:nvPr/>
        </p:nvSpPr>
        <p:spPr>
          <a:xfrm>
            <a:off x="705711" y="4854345"/>
            <a:ext cx="9687739" cy="1031051"/>
          </a:xfrm>
          <a:prstGeom prst="rect">
            <a:avLst/>
          </a:prstGeom>
          <a:solidFill>
            <a:schemeClr val="lt1"/>
          </a:solidFill>
          <a:ln cap="flat" cmpd="sng" w="12700">
            <a:solidFill>
              <a:schemeClr val="lt1"/>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[1]"</a:t>
            </a:r>
            <a:r>
              <a:rPr b="0" i="0" lang="en-US" sz="1600" u="none" cap="none" strike="noStrike">
                <a:solidFill>
                  <a:srgbClr val="000000"/>
                </a:solidFill>
                <a:highlight>
                  <a:srgbClr val="FFFFFF"/>
                </a:highlight>
                <a:latin typeface="Calibri"/>
                <a:ea typeface="Calibri"/>
                <a:cs typeface="Calibri"/>
                <a:sym typeface="Calibri"/>
              </a:rPr>
              <a:t>YOLOv10: Real-Time End-to-End Object Detection</a:t>
            </a:r>
            <a:r>
              <a:rPr b="0" i="0" lang="en-US" sz="1600" u="none" cap="none" strike="noStrike">
                <a:solidFill>
                  <a:srgbClr val="000000"/>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highlight>
                  <a:srgbClr val="FFFFFF"/>
                </a:highlight>
                <a:latin typeface="Calibri"/>
                <a:ea typeface="Calibri"/>
                <a:cs typeface="Calibri"/>
                <a:sym typeface="Calibri"/>
              </a:rPr>
              <a:t>Ao Wang, Hui Chen, Lihao Liu, Kai Chen, Zijia Lin, Jungong Han, Guiguang Ding</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highlight>
                  <a:srgbClr val="FFFFFF"/>
                </a:highlight>
                <a:latin typeface="Calibri"/>
                <a:ea typeface="Calibri"/>
                <a:cs typeface="Calibri"/>
                <a:sym typeface="Calibri"/>
              </a:rPr>
              <a:t>Published</a:t>
            </a:r>
            <a:r>
              <a:rPr b="0" i="0" lang="en-US" sz="1500" u="none" cap="none" strike="noStrike">
                <a:solidFill>
                  <a:srgbClr val="333333"/>
                </a:solidFill>
                <a:highlight>
                  <a:srgbClr val="FFFFFF"/>
                </a:highlight>
                <a:latin typeface="Calibri"/>
                <a:ea typeface="Calibri"/>
                <a:cs typeface="Calibri"/>
                <a:sym typeface="Calibri"/>
              </a:rPr>
              <a:t>: 10 December 2024 ; Article No.: 3429, Pages 107984 - 108011</a:t>
            </a:r>
            <a:endParaRPr b="0" i="0" sz="1500" u="none" cap="none" strike="noStrike">
              <a:solidFill>
                <a:srgbClr val="33333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b="0" i="0" lang="en-US" sz="1500" u="sng" cap="none" strike="noStrike">
                <a:solidFill>
                  <a:schemeClr val="dk1"/>
                </a:solidFill>
                <a:highlight>
                  <a:srgbClr val="FFFFFF"/>
                </a:highlight>
                <a:latin typeface="Calibri"/>
                <a:ea typeface="Calibri"/>
                <a:cs typeface="Calibri"/>
                <a:sym typeface="Calibri"/>
                <a:hlinkClick r:id="rId3">
                  <a:extLst>
                    <a:ext uri="{A12FA001-AC4F-418D-AE19-62706E023703}">
                      <ahyp:hlinkClr val="tx"/>
                    </a:ext>
                  </a:extLst>
                </a:hlinkClick>
              </a:rPr>
              <a:t>NIPS '24: Proceedings of the 38th International Conference on Neural Information Processing Systems</a:t>
            </a:r>
            <a:endParaRPr b="0" i="0" sz="1500" u="sng" cap="none" strike="noStrike">
              <a:solidFill>
                <a:schemeClr val="dk1"/>
              </a:solidFill>
              <a:latin typeface="Calibri"/>
              <a:ea typeface="Calibri"/>
              <a:cs typeface="Calibri"/>
              <a:sym typeface="Calibri"/>
              <a:hlinkClick r:id="rId4">
                <a:extLst>
                  <a:ext uri="{A12FA001-AC4F-418D-AE19-62706E023703}">
                    <ahyp:hlinkClr val="tx"/>
                  </a:ext>
                </a:extLst>
              </a:hlinkClick>
            </a:endParaRPr>
          </a:p>
        </p:txBody>
      </p:sp>
      <p:sp>
        <p:nvSpPr>
          <p:cNvPr id="234" name="Google Shape;234;p18"/>
          <p:cNvSpPr txBox="1"/>
          <p:nvPr/>
        </p:nvSpPr>
        <p:spPr>
          <a:xfrm>
            <a:off x="704013" y="1718945"/>
            <a:ext cx="10699148" cy="3136265"/>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Clr>
                <a:schemeClr val="dk1"/>
              </a:buClr>
              <a:buSzPts val="2700"/>
              <a:buFont typeface="Arial"/>
              <a:buNone/>
            </a:pPr>
            <a:r>
              <a:rPr b="1" i="0" lang="en-US" sz="2700" u="none" cap="none" strike="noStrike">
                <a:solidFill>
                  <a:schemeClr val="dk1"/>
                </a:solidFill>
                <a:latin typeface="PMingLiU"/>
                <a:ea typeface="PMingLiU"/>
                <a:cs typeface="PMingLiU"/>
                <a:sym typeface="PMingLiU"/>
              </a:rPr>
              <a:t>使用模型：</a:t>
            </a:r>
            <a:r>
              <a:rPr b="0" i="0" lang="en-US" sz="2700" u="none" cap="none" strike="noStrike">
                <a:solidFill>
                  <a:schemeClr val="dk1"/>
                </a:solidFill>
                <a:latin typeface="PMingLiU"/>
                <a:ea typeface="PMingLiU"/>
                <a:cs typeface="PMingLiU"/>
                <a:sym typeface="PMingLiU"/>
              </a:rPr>
              <a:t> YOLOv10-s 模型[1] (2024年由中國清華大學團隊發表於 NeurIPS 會議) </a:t>
            </a:r>
            <a:endParaRPr b="0" i="0" sz="2700" u="none" cap="none" strike="noStrike">
              <a:solidFill>
                <a:schemeClr val="dk1"/>
              </a:solidFill>
              <a:latin typeface="PMingLiU"/>
              <a:ea typeface="PMingLiU"/>
              <a:cs typeface="PMingLiU"/>
              <a:sym typeface="PMingLiU"/>
            </a:endParaRPr>
          </a:p>
          <a:p>
            <a:pPr indent="0" lvl="0" marL="0" marR="0" rtl="0" algn="l">
              <a:lnSpc>
                <a:spcPct val="150000"/>
              </a:lnSpc>
              <a:spcBef>
                <a:spcPts val="1000"/>
              </a:spcBef>
              <a:spcAft>
                <a:spcPts val="0"/>
              </a:spcAft>
              <a:buClr>
                <a:schemeClr val="dk1"/>
              </a:buClr>
              <a:buSzPts val="2700"/>
              <a:buFont typeface="Arial"/>
              <a:buNone/>
            </a:pPr>
            <a:r>
              <a:rPr b="1" i="0" lang="en-US" sz="2700" u="none" cap="none" strike="noStrike">
                <a:solidFill>
                  <a:schemeClr val="dk1"/>
                </a:solidFill>
                <a:latin typeface="PMingLiU"/>
                <a:ea typeface="PMingLiU"/>
                <a:cs typeface="PMingLiU"/>
                <a:sym typeface="PMingLiU"/>
              </a:rPr>
              <a:t>模組定位：</a:t>
            </a:r>
            <a:r>
              <a:rPr b="0" i="0" lang="en-US" sz="2700" u="none" cap="none" strike="noStrike">
                <a:solidFill>
                  <a:schemeClr val="dk1"/>
                </a:solidFill>
                <a:latin typeface="PMingLiU"/>
                <a:ea typeface="PMingLiU"/>
                <a:cs typeface="PMingLiU"/>
                <a:sym typeface="PMingLiU"/>
              </a:rPr>
              <a:t> 接收系統自動從使用者的全螢幕上截圖的影像，來 偵測畫面上是否出現人臉。</a:t>
            </a:r>
            <a:endParaRPr b="0" i="0" sz="2700" u="none" cap="none" strike="noStrike">
              <a:solidFill>
                <a:schemeClr val="dk1"/>
              </a:solidFill>
              <a:latin typeface="PMingLiU"/>
              <a:ea typeface="PMingLiU"/>
              <a:cs typeface="PMingLiU"/>
              <a:sym typeface="PMingLiU"/>
            </a:endParaRPr>
          </a:p>
        </p:txBody>
      </p:sp>
      <p:sp>
        <p:nvSpPr>
          <p:cNvPr id="235" name="Google Shape;235;p18"/>
          <p:cNvSpPr txBox="1"/>
          <p:nvPr/>
        </p:nvSpPr>
        <p:spPr>
          <a:xfrm>
            <a:off x="6046839" y="404351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Arial"/>
                <a:ea typeface="Arial"/>
                <a:cs typeface="Arial"/>
                <a:sym typeface="Arial"/>
              </a:rPr>
              <a:t>8.介紹模組時可以在旁邊把一個架構圖來提醒 </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ustria"/>
              <a:ea typeface="Lustria"/>
              <a:cs typeface="Lustria"/>
              <a:sym typeface="Lustria"/>
            </a:endParaRPr>
          </a:p>
        </p:txBody>
      </p:sp>
      <p:sp>
        <p:nvSpPr>
          <p:cNvPr id="236" name="Google Shape;236;p18"/>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0" name="Shape 240"/>
        <p:cNvGrpSpPr/>
        <p:nvPr/>
      </p:nvGrpSpPr>
      <p:grpSpPr>
        <a:xfrm>
          <a:off x="0" y="0"/>
          <a:ext cx="0" cy="0"/>
          <a:chOff x="0" y="0"/>
          <a:chExt cx="0" cy="0"/>
        </a:xfrm>
      </p:grpSpPr>
      <p:sp>
        <p:nvSpPr>
          <p:cNvPr id="241" name="Google Shape;241;p19"/>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4-4.YOLO</a:t>
            </a:r>
            <a:r>
              <a:rPr b="1" lang="en-US" cap="none">
                <a:latin typeface="PMingLiU"/>
                <a:ea typeface="PMingLiU"/>
                <a:cs typeface="PMingLiU"/>
                <a:sym typeface="PMingLiU"/>
              </a:rPr>
              <a:t>v</a:t>
            </a:r>
            <a:r>
              <a:rPr b="1" lang="en-US">
                <a:latin typeface="PMingLiU"/>
                <a:ea typeface="PMingLiU"/>
                <a:cs typeface="PMingLiU"/>
                <a:sym typeface="PMingLiU"/>
              </a:rPr>
              <a:t>10-</a:t>
            </a:r>
            <a:r>
              <a:rPr b="1" lang="en-US" cap="none">
                <a:latin typeface="PMingLiU"/>
                <a:ea typeface="PMingLiU"/>
                <a:cs typeface="PMingLiU"/>
                <a:sym typeface="PMingLiU"/>
              </a:rPr>
              <a:t>s</a:t>
            </a:r>
            <a:r>
              <a:rPr b="1" lang="en-US">
                <a:latin typeface="PMingLiU"/>
                <a:ea typeface="PMingLiU"/>
                <a:cs typeface="PMingLiU"/>
                <a:sym typeface="PMingLiU"/>
              </a:rPr>
              <a:t>訓練用資料集</a:t>
            </a:r>
            <a:br>
              <a:rPr b="1" lang="en-US">
                <a:latin typeface="PMingLiU"/>
                <a:ea typeface="PMingLiU"/>
                <a:cs typeface="PMingLiU"/>
                <a:sym typeface="PMingLiU"/>
              </a:rPr>
            </a:br>
            <a:r>
              <a:rPr b="1" lang="en-US" sz="3100" cap="none">
                <a:solidFill>
                  <a:srgbClr val="202124"/>
                </a:solidFill>
                <a:highlight>
                  <a:srgbClr val="FFFFFF"/>
                </a:highlight>
                <a:latin typeface="PMingLiU"/>
                <a:ea typeface="PMingLiU"/>
                <a:cs typeface="PMingLiU"/>
                <a:sym typeface="PMingLiU"/>
              </a:rPr>
              <a:t>WIDER_FACE_A_Face_Detection_Dataset</a:t>
            </a:r>
            <a:endParaRPr b="1" sz="3100">
              <a:solidFill>
                <a:srgbClr val="202124"/>
              </a:solidFill>
              <a:highlight>
                <a:srgbClr val="FFFFFF"/>
              </a:highlight>
              <a:latin typeface="PMingLiU"/>
              <a:ea typeface="PMingLiU"/>
              <a:cs typeface="PMingLiU"/>
              <a:sym typeface="PMingLiU"/>
            </a:endParaRPr>
          </a:p>
        </p:txBody>
      </p:sp>
      <p:sp>
        <p:nvSpPr>
          <p:cNvPr id="242" name="Google Shape;242;p19"/>
          <p:cNvSpPr txBox="1"/>
          <p:nvPr>
            <p:ph idx="1" type="body"/>
          </p:nvPr>
        </p:nvSpPr>
        <p:spPr>
          <a:xfrm>
            <a:off x="712925" y="2293126"/>
            <a:ext cx="10777297" cy="3636088"/>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chemeClr val="dk1"/>
              </a:buClr>
              <a:buSzPts val="2000"/>
              <a:buChar char="•"/>
            </a:pPr>
            <a:r>
              <a:rPr lang="en-US">
                <a:latin typeface="PMingLiU"/>
                <a:ea typeface="PMingLiU"/>
                <a:cs typeface="PMingLiU"/>
                <a:sym typeface="PMingLiU"/>
              </a:rPr>
              <a:t>圖片總數：32,203 張</a:t>
            </a:r>
            <a:endParaRPr/>
          </a:p>
          <a:p>
            <a:pPr indent="-228600" lvl="1" marL="685800" rtl="0" algn="l">
              <a:lnSpc>
                <a:spcPct val="110000"/>
              </a:lnSpc>
              <a:spcBef>
                <a:spcPts val="500"/>
              </a:spcBef>
              <a:spcAft>
                <a:spcPts val="0"/>
              </a:spcAft>
              <a:buClr>
                <a:schemeClr val="dk1"/>
              </a:buClr>
              <a:buSzPts val="1800"/>
              <a:buChar char="•"/>
            </a:pPr>
            <a:r>
              <a:rPr lang="en-US">
                <a:latin typeface="PMingLiU"/>
                <a:ea typeface="PMingLiU"/>
                <a:cs typeface="PMingLiU"/>
                <a:sym typeface="PMingLiU"/>
              </a:rPr>
              <a:t>Training Set (12,876 張)： 用於訓練模型</a:t>
            </a:r>
            <a:endParaRPr>
              <a:latin typeface="PMingLiU"/>
              <a:ea typeface="PMingLiU"/>
              <a:cs typeface="PMingLiU"/>
              <a:sym typeface="PMingLiU"/>
            </a:endParaRPr>
          </a:p>
          <a:p>
            <a:pPr indent="-228600" lvl="1" marL="685800" rtl="0" algn="l">
              <a:lnSpc>
                <a:spcPct val="110000"/>
              </a:lnSpc>
              <a:spcBef>
                <a:spcPts val="500"/>
              </a:spcBef>
              <a:spcAft>
                <a:spcPts val="0"/>
              </a:spcAft>
              <a:buClr>
                <a:schemeClr val="dk1"/>
              </a:buClr>
              <a:buSzPts val="1800"/>
              <a:buChar char="•"/>
            </a:pPr>
            <a:r>
              <a:rPr lang="en-US">
                <a:latin typeface="PMingLiU"/>
                <a:ea typeface="PMingLiU"/>
                <a:cs typeface="PMingLiU"/>
                <a:sym typeface="PMingLiU"/>
              </a:rPr>
              <a:t>Validation Set (3,226 張)： 用於調參和消融實驗</a:t>
            </a:r>
            <a:endParaRPr b="1">
              <a:latin typeface="PMingLiU"/>
              <a:ea typeface="PMingLiU"/>
              <a:cs typeface="PMingLiU"/>
              <a:sym typeface="PMingLiU"/>
            </a:endParaRPr>
          </a:p>
          <a:p>
            <a:pPr indent="-228600" lvl="1" marL="685800" rtl="0" algn="l">
              <a:lnSpc>
                <a:spcPct val="110000"/>
              </a:lnSpc>
              <a:spcBef>
                <a:spcPts val="500"/>
              </a:spcBef>
              <a:spcAft>
                <a:spcPts val="0"/>
              </a:spcAft>
              <a:buClr>
                <a:schemeClr val="dk1"/>
              </a:buClr>
              <a:buSzPts val="1800"/>
              <a:buChar char="•"/>
            </a:pPr>
            <a:r>
              <a:rPr lang="en-US">
                <a:latin typeface="PMingLiU"/>
                <a:ea typeface="PMingLiU"/>
                <a:cs typeface="PMingLiU"/>
                <a:sym typeface="PMingLiU"/>
              </a:rPr>
              <a:t>Testing Set (16,097 張)： 標籤不對外公布</a:t>
            </a:r>
            <a:endParaRPr/>
          </a:p>
          <a:p>
            <a:pPr indent="-228600" lvl="0" marL="228600" rtl="0" algn="l">
              <a:lnSpc>
                <a:spcPct val="110000"/>
              </a:lnSpc>
              <a:spcBef>
                <a:spcPts val="1000"/>
              </a:spcBef>
              <a:spcAft>
                <a:spcPts val="0"/>
              </a:spcAft>
              <a:buClr>
                <a:schemeClr val="dk1"/>
              </a:buClr>
              <a:buSzPts val="2000"/>
              <a:buChar char="•"/>
            </a:pPr>
            <a:r>
              <a:rPr lang="en-US">
                <a:latin typeface="PMingLiU"/>
                <a:ea typeface="PMingLiU"/>
                <a:cs typeface="PMingLiU"/>
                <a:sym typeface="PMingLiU"/>
              </a:rPr>
              <a:t>標註人臉數：393,703 個</a:t>
            </a:r>
            <a:endParaRPr>
              <a:latin typeface="PMingLiU"/>
              <a:ea typeface="PMingLiU"/>
              <a:cs typeface="PMingLiU"/>
              <a:sym typeface="PMingLiU"/>
            </a:endParaRPr>
          </a:p>
          <a:p>
            <a:pPr indent="-228600" lvl="0" marL="228600" rtl="0" algn="l">
              <a:lnSpc>
                <a:spcPct val="110000"/>
              </a:lnSpc>
              <a:spcBef>
                <a:spcPts val="1000"/>
              </a:spcBef>
              <a:spcAft>
                <a:spcPts val="0"/>
              </a:spcAft>
              <a:buClr>
                <a:schemeClr val="dk1"/>
              </a:buClr>
              <a:buSzPts val="2000"/>
              <a:buChar char="•"/>
            </a:pPr>
            <a:r>
              <a:rPr lang="en-US">
                <a:latin typeface="PMingLiU"/>
                <a:ea typeface="PMingLiU"/>
                <a:cs typeface="PMingLiU"/>
                <a:sym typeface="PMingLiU"/>
              </a:rPr>
              <a:t>場景類別：61 個事件類別（如：遊行、交通、節日、辦公室等）</a:t>
            </a:r>
            <a:endParaRPr>
              <a:latin typeface="PMingLiU"/>
              <a:ea typeface="PMingLiU"/>
              <a:cs typeface="PMingLiU"/>
              <a:sym typeface="PMingLiU"/>
            </a:endParaRPr>
          </a:p>
          <a:p>
            <a:pPr indent="-228600" lvl="0" marL="228600" rtl="0" algn="l">
              <a:lnSpc>
                <a:spcPct val="110000"/>
              </a:lnSpc>
              <a:spcBef>
                <a:spcPts val="1000"/>
              </a:spcBef>
              <a:spcAft>
                <a:spcPts val="0"/>
              </a:spcAft>
              <a:buClr>
                <a:schemeClr val="dk1"/>
              </a:buClr>
              <a:buSzPts val="2000"/>
              <a:buChar char="•"/>
            </a:pPr>
            <a:r>
              <a:rPr lang="en-US">
                <a:latin typeface="PMingLiU"/>
                <a:ea typeface="PMingLiU"/>
                <a:cs typeface="PMingLiU"/>
                <a:sym typeface="PMingLiU"/>
              </a:rPr>
              <a:t>發布年份：2016</a:t>
            </a:r>
            <a:endParaRPr/>
          </a:p>
          <a:p>
            <a:pPr indent="-228600" lvl="0" marL="228600" rtl="0" algn="l">
              <a:lnSpc>
                <a:spcPct val="110000"/>
              </a:lnSpc>
              <a:spcBef>
                <a:spcPts val="1000"/>
              </a:spcBef>
              <a:spcAft>
                <a:spcPts val="0"/>
              </a:spcAft>
              <a:buClr>
                <a:srgbClr val="202124"/>
              </a:buClr>
              <a:buSzPts val="2000"/>
              <a:buChar char="•"/>
            </a:pPr>
            <a:r>
              <a:rPr b="1" lang="en-US">
                <a:solidFill>
                  <a:srgbClr val="202124"/>
                </a:solidFill>
                <a:latin typeface="PMingLiU"/>
                <a:ea typeface="PMingLiU"/>
                <a:cs typeface="PMingLiU"/>
                <a:sym typeface="PMingLiU"/>
              </a:rPr>
              <a:t>作者：</a:t>
            </a:r>
            <a:r>
              <a:rPr lang="en-US">
                <a:solidFill>
                  <a:srgbClr val="0C0C0C"/>
                </a:solidFill>
                <a:highlight>
                  <a:srgbClr val="FFFFFF"/>
                </a:highlight>
                <a:latin typeface="PMingLiU"/>
                <a:ea typeface="PMingLiU"/>
                <a:cs typeface="PMingLiU"/>
                <a:sym typeface="PMingLiU"/>
              </a:rPr>
              <a:t>Yang, Shuo and Luo, Ping and Loy, Chen Change and Tang, Xiaoou</a:t>
            </a:r>
            <a:endParaRPr>
              <a:solidFill>
                <a:srgbClr val="0C0C0C"/>
              </a:solidFill>
              <a:latin typeface="PMingLiU"/>
              <a:ea typeface="PMingLiU"/>
              <a:cs typeface="PMingLiU"/>
              <a:sym typeface="PMingLiU"/>
            </a:endParaRPr>
          </a:p>
          <a:p>
            <a:pPr indent="-101600" lvl="0" marL="228600" rtl="0" algn="l">
              <a:lnSpc>
                <a:spcPct val="110000"/>
              </a:lnSpc>
              <a:spcBef>
                <a:spcPts val="1000"/>
              </a:spcBef>
              <a:spcAft>
                <a:spcPts val="0"/>
              </a:spcAft>
              <a:buClr>
                <a:schemeClr val="dk1"/>
              </a:buClr>
              <a:buSzPts val="2000"/>
              <a:buNone/>
            </a:pPr>
            <a:r>
              <a:t/>
            </a:r>
            <a:endParaRPr>
              <a:solidFill>
                <a:srgbClr val="0C0C0C"/>
              </a:solidFill>
              <a:latin typeface="PMingLiU"/>
              <a:ea typeface="PMingLiU"/>
              <a:cs typeface="PMingLiU"/>
              <a:sym typeface="PMingLiU"/>
            </a:endParaRPr>
          </a:p>
          <a:p>
            <a:pPr indent="-101600" lvl="0" marL="228600" rtl="0" algn="l">
              <a:lnSpc>
                <a:spcPct val="110000"/>
              </a:lnSpc>
              <a:spcBef>
                <a:spcPts val="1000"/>
              </a:spcBef>
              <a:spcAft>
                <a:spcPts val="0"/>
              </a:spcAft>
              <a:buClr>
                <a:schemeClr val="dk1"/>
              </a:buClr>
              <a:buSzPts val="2000"/>
              <a:buNone/>
            </a:pPr>
            <a:r>
              <a:t/>
            </a:r>
            <a:endParaRPr>
              <a:latin typeface="PMingLiU"/>
              <a:ea typeface="PMingLiU"/>
              <a:cs typeface="PMingLiU"/>
              <a:sym typeface="PMingLiU"/>
            </a:endParaRPr>
          </a:p>
        </p:txBody>
      </p:sp>
      <p:sp>
        <p:nvSpPr>
          <p:cNvPr id="243" name="Google Shape;243;p19"/>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sp>
        <p:nvSpPr>
          <p:cNvPr id="244" name="Google Shape;244;p19"/>
          <p:cNvSpPr txBox="1"/>
          <p:nvPr/>
        </p:nvSpPr>
        <p:spPr>
          <a:xfrm>
            <a:off x="6894871" y="2531806"/>
            <a:ext cx="60960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Lustria"/>
                <a:ea typeface="Lustria"/>
                <a:cs typeface="Lustria"/>
                <a:sym typeface="Lustria"/>
              </a:rPr>
              <a:t>什麼是調參和消融實驗?</a:t>
            </a:r>
            <a:endParaRPr b="0" i="0" sz="1800" u="none" cap="none" strike="noStrike">
              <a:solidFill>
                <a:srgbClr val="FF0000"/>
              </a:solidFill>
              <a:latin typeface="Lustria"/>
              <a:ea typeface="Lustria"/>
              <a:cs typeface="Lustria"/>
              <a:sym typeface="Lustria"/>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PMingLiU"/>
                <a:ea typeface="PMingLiU"/>
                <a:cs typeface="PMingLiU"/>
                <a:sym typeface="PMingLiU"/>
              </a:rPr>
              <a:t>​訓練用了哪些</a:t>
            </a:r>
            <a:br>
              <a:rPr b="0" i="0" lang="en-US" sz="1800" u="none" cap="none" strike="noStrike">
                <a:solidFill>
                  <a:srgbClr val="FF0000"/>
                </a:solidFill>
                <a:latin typeface="PMingLiU"/>
                <a:ea typeface="PMingLiU"/>
                <a:cs typeface="PMingLiU"/>
                <a:sym typeface="PMingLiU"/>
              </a:rPr>
            </a:br>
            <a:r>
              <a:rPr b="0" i="0" lang="en-US" sz="1800" u="none" cap="none" strike="noStrike">
                <a:solidFill>
                  <a:srgbClr val="FF0000"/>
                </a:solidFill>
                <a:latin typeface="PMingLiU"/>
                <a:ea typeface="PMingLiU"/>
                <a:cs typeface="PMingLiU"/>
                <a:sym typeface="PMingLiU"/>
              </a:rPr>
              <a:t>測試用了哪些</a:t>
            </a:r>
            <a:endParaRPr b="0" i="0" sz="1800" u="none" cap="none" strike="noStrike">
              <a:solidFill>
                <a:srgbClr val="FF0000"/>
              </a:solidFill>
              <a:latin typeface="Lustria"/>
              <a:ea typeface="Lustria"/>
              <a:cs typeface="Lustria"/>
              <a:sym typeface="Lustria"/>
            </a:endParaRPr>
          </a:p>
        </p:txBody>
      </p:sp>
      <p:sp>
        <p:nvSpPr>
          <p:cNvPr id="245" name="Google Shape;245;p19"/>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9" name="Shape 249"/>
        <p:cNvGrpSpPr/>
        <p:nvPr/>
      </p:nvGrpSpPr>
      <p:grpSpPr>
        <a:xfrm>
          <a:off x="0" y="0"/>
          <a:ext cx="0" cy="0"/>
          <a:chOff x="0" y="0"/>
          <a:chExt cx="0" cy="0"/>
        </a:xfrm>
      </p:grpSpPr>
      <p:sp>
        <p:nvSpPr>
          <p:cNvPr id="250" name="Google Shape;250;p20"/>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cap="none">
                <a:latin typeface="PMingLiU"/>
                <a:ea typeface="PMingLiU"/>
                <a:cs typeface="PMingLiU"/>
                <a:sym typeface="PMingLiU"/>
              </a:rPr>
              <a:t>4-1.YOLOv10模型</a:t>
            </a:r>
            <a:endParaRPr b="1" cap="none">
              <a:latin typeface="PMingLiU"/>
              <a:ea typeface="PMingLiU"/>
              <a:cs typeface="PMingLiU"/>
              <a:sym typeface="PMingLiU"/>
            </a:endParaRPr>
          </a:p>
        </p:txBody>
      </p:sp>
      <p:sp>
        <p:nvSpPr>
          <p:cNvPr id="251" name="Google Shape;251;p20"/>
          <p:cNvSpPr txBox="1"/>
          <p:nvPr>
            <p:ph idx="1" type="body"/>
          </p:nvPr>
        </p:nvSpPr>
        <p:spPr>
          <a:xfrm>
            <a:off x="811924" y="1983280"/>
            <a:ext cx="641063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chemeClr val="dk1"/>
              </a:buClr>
              <a:buSzPts val="2400"/>
              <a:buChar char="•"/>
            </a:pPr>
            <a:r>
              <a:rPr lang="en-US" sz="2400">
                <a:latin typeface="PMingLiU"/>
                <a:ea typeface="PMingLiU"/>
                <a:cs typeface="PMingLiU"/>
                <a:sym typeface="PMingLiU"/>
              </a:rPr>
              <a:t>延遲與準確度</a:t>
            </a:r>
            <a:r>
              <a:rPr lang="en-US">
                <a:latin typeface="PMingLiU"/>
                <a:ea typeface="PMingLiU"/>
                <a:cs typeface="PMingLiU"/>
                <a:sym typeface="PMingLiU"/>
              </a:rPr>
              <a:t>： </a:t>
            </a:r>
            <a:r>
              <a:rPr lang="en-US" sz="2400">
                <a:latin typeface="PMingLiU"/>
                <a:ea typeface="PMingLiU"/>
                <a:cs typeface="PMingLiU"/>
                <a:sym typeface="PMingLiU"/>
              </a:rPr>
              <a:t>在相同的延遲（Latency）下，YOLOv10 的準確度（COCO AP）最高；也就是在達到相同準確度時，它的速度最快</a:t>
            </a:r>
            <a:endParaRPr sz="2400">
              <a:latin typeface="PMingLiU"/>
              <a:ea typeface="PMingLiU"/>
              <a:cs typeface="PMingLiU"/>
              <a:sym typeface="PMingLiU"/>
            </a:endParaRPr>
          </a:p>
          <a:p>
            <a:pPr indent="-228600" lvl="0" marL="228600" rtl="0" algn="l">
              <a:lnSpc>
                <a:spcPct val="110000"/>
              </a:lnSpc>
              <a:spcBef>
                <a:spcPts val="1000"/>
              </a:spcBef>
              <a:spcAft>
                <a:spcPts val="0"/>
              </a:spcAft>
              <a:buClr>
                <a:schemeClr val="dk1"/>
              </a:buClr>
              <a:buSzPts val="2400"/>
              <a:buChar char="•"/>
            </a:pPr>
            <a:r>
              <a:rPr lang="en-US" sz="2400">
                <a:latin typeface="PMingLiU"/>
                <a:ea typeface="PMingLiU"/>
                <a:cs typeface="PMingLiU"/>
                <a:sym typeface="PMingLiU"/>
              </a:rPr>
              <a:t>模型輕量化</a:t>
            </a:r>
            <a:r>
              <a:rPr lang="en-US">
                <a:latin typeface="PMingLiU"/>
                <a:ea typeface="PMingLiU"/>
                <a:cs typeface="PMingLiU"/>
                <a:sym typeface="PMingLiU"/>
              </a:rPr>
              <a:t>： </a:t>
            </a:r>
            <a:r>
              <a:rPr lang="en-US" sz="2400">
                <a:latin typeface="PMingLiU"/>
                <a:ea typeface="PMingLiU"/>
                <a:cs typeface="PMingLiU"/>
                <a:sym typeface="PMingLiU"/>
              </a:rPr>
              <a:t>在參數點（Number of Parameters）的對比中，YOLOv10 展現了極高的參數利用率。它用更少的參數就超越了參數更多的舊款模型</a:t>
            </a:r>
            <a:endParaRPr sz="2400">
              <a:latin typeface="PMingLiU"/>
              <a:ea typeface="PMingLiU"/>
              <a:cs typeface="PMingLiU"/>
              <a:sym typeface="PMingLiU"/>
            </a:endParaRPr>
          </a:p>
          <a:p>
            <a:pPr indent="-101600" lvl="0" marL="228600" rtl="0" algn="l">
              <a:lnSpc>
                <a:spcPct val="110000"/>
              </a:lnSpc>
              <a:spcBef>
                <a:spcPts val="1000"/>
              </a:spcBef>
              <a:spcAft>
                <a:spcPts val="0"/>
              </a:spcAft>
              <a:buClr>
                <a:schemeClr val="dk1"/>
              </a:buClr>
              <a:buSzPts val="2000"/>
              <a:buNone/>
            </a:pPr>
            <a:r>
              <a:t/>
            </a:r>
            <a:endParaRPr>
              <a:latin typeface="PMingLiU"/>
              <a:ea typeface="PMingLiU"/>
              <a:cs typeface="PMingLiU"/>
              <a:sym typeface="PMingLiU"/>
            </a:endParaRPr>
          </a:p>
        </p:txBody>
      </p:sp>
      <p:pic>
        <p:nvPicPr>
          <p:cNvPr id="252" name="Google Shape;252;p20"/>
          <p:cNvPicPr preferRelativeResize="0"/>
          <p:nvPr/>
        </p:nvPicPr>
        <p:blipFill rotWithShape="1">
          <a:blip r:embed="rId3">
            <a:alphaModFix/>
          </a:blip>
          <a:srcRect b="0" l="0" r="0" t="0"/>
          <a:stretch/>
        </p:blipFill>
        <p:spPr>
          <a:xfrm>
            <a:off x="7413983" y="359492"/>
            <a:ext cx="4295775" cy="3238500"/>
          </a:xfrm>
          <a:prstGeom prst="rect">
            <a:avLst/>
          </a:prstGeom>
          <a:noFill/>
          <a:ln>
            <a:noFill/>
          </a:ln>
        </p:spPr>
      </p:pic>
      <p:pic>
        <p:nvPicPr>
          <p:cNvPr id="253" name="Google Shape;253;p20"/>
          <p:cNvPicPr preferRelativeResize="0"/>
          <p:nvPr/>
        </p:nvPicPr>
        <p:blipFill rotWithShape="1">
          <a:blip r:embed="rId4">
            <a:alphaModFix/>
          </a:blip>
          <a:srcRect b="0" l="0" r="0" t="0"/>
          <a:stretch/>
        </p:blipFill>
        <p:spPr>
          <a:xfrm>
            <a:off x="7443327" y="3603369"/>
            <a:ext cx="4286250" cy="3190875"/>
          </a:xfrm>
          <a:prstGeom prst="rect">
            <a:avLst/>
          </a:prstGeom>
          <a:noFill/>
          <a:ln>
            <a:noFill/>
          </a:ln>
        </p:spPr>
      </p:pic>
      <p:sp>
        <p:nvSpPr>
          <p:cNvPr id="254" name="Google Shape;254;p20"/>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8" name="Shape 258"/>
        <p:cNvGrpSpPr/>
        <p:nvPr/>
      </p:nvGrpSpPr>
      <p:grpSpPr>
        <a:xfrm>
          <a:off x="0" y="0"/>
          <a:ext cx="0" cy="0"/>
          <a:chOff x="0" y="0"/>
          <a:chExt cx="0" cy="0"/>
        </a:xfrm>
      </p:grpSpPr>
      <p:sp>
        <p:nvSpPr>
          <p:cNvPr id="259" name="Google Shape;259;p21"/>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4-2.YOLO各版本數據比較</a:t>
            </a:r>
            <a:endParaRPr/>
          </a:p>
        </p:txBody>
      </p:sp>
      <p:graphicFrame>
        <p:nvGraphicFramePr>
          <p:cNvPr id="260" name="Google Shape;260;p21"/>
          <p:cNvGraphicFramePr/>
          <p:nvPr/>
        </p:nvGraphicFramePr>
        <p:xfrm>
          <a:off x="949709" y="3041211"/>
          <a:ext cx="3000000" cy="3000000"/>
        </p:xfrm>
        <a:graphic>
          <a:graphicData uri="http://schemas.openxmlformats.org/drawingml/2006/table">
            <a:tbl>
              <a:tblPr bandRow="1" firstRow="1">
                <a:noFill/>
                <a:tableStyleId>{D4F57E2E-EB3F-4404-9A26-EBCFC7F95AF6}</a:tableStyleId>
              </a:tblPr>
              <a:tblGrid>
                <a:gridCol w="1957550"/>
                <a:gridCol w="1221825"/>
                <a:gridCol w="1576550"/>
                <a:gridCol w="1221825"/>
                <a:gridCol w="1439950"/>
                <a:gridCol w="1439950"/>
                <a:gridCol w="1439950"/>
              </a:tblGrid>
              <a:tr h="370850">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模型版本</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Easy mAP</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Medium mAP</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Hard mAP</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參數量 (Params)</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運算量 (FLOPs)</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數據出處</a:t>
                      </a:r>
                      <a:endParaRPr sz="2000" u="none" cap="none" strike="noStrike">
                        <a:latin typeface="PMingLiU"/>
                        <a:ea typeface="PMingLiU"/>
                        <a:cs typeface="PMingLiU"/>
                        <a:sym typeface="PMingLiU"/>
                      </a:endParaRPr>
                    </a:p>
                  </a:txBody>
                  <a:tcPr marT="45725" marB="45725" marR="91450" marL="91450" anchor="ctr"/>
                </a:tc>
              </a:tr>
              <a:tr h="370850">
                <a:tc>
                  <a:txBody>
                    <a:bodyPr/>
                    <a:lstStyle/>
                    <a:p>
                      <a:pPr indent="0" lvl="0" marL="0" marR="0" rtl="0" algn="l">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YOLOv5m Face</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95.30%</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93.76%</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85.28%</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21.06 M</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18.15 G</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[18]</a:t>
                      </a:r>
                      <a:endParaRPr b="0" i="0" sz="2000" u="none" cap="none" strike="noStrike">
                        <a:latin typeface="PMingLiU"/>
                        <a:ea typeface="PMingLiU"/>
                        <a:cs typeface="PMingLiU"/>
                        <a:sym typeface="PMingLiU"/>
                      </a:endParaRPr>
                    </a:p>
                  </a:txBody>
                  <a:tcPr marT="45725" marB="45725" marR="91450" marL="91450" anchor="ctr"/>
                </a:tc>
              </a:tr>
              <a:tr h="370850">
                <a:tc>
                  <a:txBody>
                    <a:bodyPr/>
                    <a:lstStyle/>
                    <a:p>
                      <a:pPr indent="0" lvl="0" marL="0" marR="0" rtl="0" algn="l">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YOLOv7 Face</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96.90%</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95.50%</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88.00%</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36.50 M</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103.40 G</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[19]</a:t>
                      </a:r>
                      <a:endParaRPr b="0" i="0" sz="2000" u="none" cap="none" strike="noStrike">
                        <a:latin typeface="PMingLiU"/>
                        <a:ea typeface="PMingLiU"/>
                        <a:cs typeface="PMingLiU"/>
                        <a:sym typeface="PMingLiU"/>
                      </a:endParaRPr>
                    </a:p>
                  </a:txBody>
                  <a:tcPr marT="45725" marB="45725" marR="91450" marL="91450" anchor="ctr"/>
                </a:tc>
              </a:tr>
              <a:tr h="370850">
                <a:tc>
                  <a:txBody>
                    <a:bodyPr/>
                    <a:lstStyle/>
                    <a:p>
                      <a:pPr indent="0" lvl="0" marL="0" marR="0" rtl="0" algn="l">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YOLOv8m Face</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96.60%</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95.00%</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84.70%</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25.90 M</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78.90 G</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[20]</a:t>
                      </a:r>
                      <a:endParaRPr b="0" i="0" sz="2000" u="none" cap="none" strike="noStrike">
                        <a:latin typeface="PMingLiU"/>
                        <a:ea typeface="PMingLiU"/>
                        <a:cs typeface="PMingLiU"/>
                        <a:sym typeface="PMingLiU"/>
                      </a:endParaRPr>
                    </a:p>
                  </a:txBody>
                  <a:tcPr marT="45725" marB="45725" marR="91450" marL="91450" anchor="ctr"/>
                </a:tc>
              </a:tr>
              <a:tr h="370850">
                <a:tc>
                  <a:txBody>
                    <a:bodyPr/>
                    <a:lstStyle/>
                    <a:p>
                      <a:pPr indent="0" lvl="0" marL="0" marR="0" rtl="0" algn="l">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YOLOv9-c Face</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95.60%</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94.10%</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83.20%</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25.30 M</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102.10 G</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[20]</a:t>
                      </a:r>
                      <a:endParaRPr b="0" i="0" sz="2000" u="none" cap="none" strike="noStrike">
                        <a:latin typeface="PMingLiU"/>
                        <a:ea typeface="PMingLiU"/>
                        <a:cs typeface="PMingLiU"/>
                        <a:sym typeface="PMingLiU"/>
                      </a:endParaRPr>
                    </a:p>
                  </a:txBody>
                  <a:tcPr marT="45725" marB="45725" marR="91450" marL="91450" anchor="ctr"/>
                </a:tc>
              </a:tr>
              <a:tr h="370850">
                <a:tc>
                  <a:txBody>
                    <a:bodyPr/>
                    <a:lstStyle/>
                    <a:p>
                      <a:pPr indent="0" lvl="0" marL="0" marR="0" rtl="0" algn="l">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YOLOv10m Face</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~96.40%</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~94.60%</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~86.30%</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16.45 M</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59.10 G</a:t>
                      </a:r>
                      <a:endParaRPr sz="2000" u="none" cap="none" strike="noStrike">
                        <a:latin typeface="PMingLiU"/>
                        <a:ea typeface="PMingLiU"/>
                        <a:cs typeface="PMingLiU"/>
                        <a:sym typeface="PMingLiU"/>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PMingLiU"/>
                        <a:buNone/>
                      </a:pPr>
                      <a:r>
                        <a:rPr b="0" i="0" lang="en-US" sz="2000" u="none" cap="none" strike="noStrike">
                          <a:latin typeface="PMingLiU"/>
                          <a:ea typeface="PMingLiU"/>
                          <a:cs typeface="PMingLiU"/>
                          <a:sym typeface="PMingLiU"/>
                        </a:rPr>
                        <a:t>[21]</a:t>
                      </a:r>
                      <a:endParaRPr sz="1400" u="none" cap="none" strike="noStrike"/>
                    </a:p>
                  </a:txBody>
                  <a:tcPr marT="45725" marB="45725" marR="91450" marL="91450" anchor="ctr"/>
                </a:tc>
              </a:tr>
            </a:tbl>
          </a:graphicData>
        </a:graphic>
      </p:graphicFrame>
      <p:sp>
        <p:nvSpPr>
          <p:cNvPr id="261" name="Google Shape;261;p21"/>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sp>
        <p:nvSpPr>
          <p:cNvPr id="262" name="Google Shape;262;p21"/>
          <p:cNvSpPr txBox="1"/>
          <p:nvPr/>
        </p:nvSpPr>
        <p:spPr>
          <a:xfrm>
            <a:off x="7263581" y="688258"/>
            <a:ext cx="60960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Lustria"/>
                <a:ea typeface="Lustria"/>
                <a:cs typeface="Lustria"/>
                <a:sym typeface="Lustria"/>
              </a:rPr>
              <a:t>11.yolo的介紹表格要解釋參數用意，還要特寫使用的是哪個模型 </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Lustria"/>
              <a:ea typeface="Lustria"/>
              <a:cs typeface="Lustria"/>
              <a:sym typeface="Lustria"/>
            </a:endParaRPr>
          </a:p>
        </p:txBody>
      </p:sp>
      <p:sp>
        <p:nvSpPr>
          <p:cNvPr id="263" name="Google Shape;263;p21"/>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7" name="Shape 267"/>
        <p:cNvGrpSpPr/>
        <p:nvPr/>
      </p:nvGrpSpPr>
      <p:grpSpPr>
        <a:xfrm>
          <a:off x="0" y="0"/>
          <a:ext cx="0" cy="0"/>
          <a:chOff x="0" y="0"/>
          <a:chExt cx="0" cy="0"/>
        </a:xfrm>
      </p:grpSpPr>
      <p:sp>
        <p:nvSpPr>
          <p:cNvPr id="268" name="Google Shape;268;p22"/>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4-3.YOLO</a:t>
            </a:r>
            <a:r>
              <a:rPr b="1" lang="en-US" cap="none">
                <a:latin typeface="PMingLiU"/>
                <a:ea typeface="PMingLiU"/>
                <a:cs typeface="PMingLiU"/>
                <a:sym typeface="PMingLiU"/>
              </a:rPr>
              <a:t>v</a:t>
            </a:r>
            <a:r>
              <a:rPr b="1" lang="en-US">
                <a:latin typeface="PMingLiU"/>
                <a:ea typeface="PMingLiU"/>
                <a:cs typeface="PMingLiU"/>
                <a:sym typeface="PMingLiU"/>
              </a:rPr>
              <a:t>10 模型比較</a:t>
            </a:r>
            <a:endParaRPr b="1">
              <a:latin typeface="PMingLiU"/>
              <a:ea typeface="PMingLiU"/>
              <a:cs typeface="PMingLiU"/>
              <a:sym typeface="PMingLiU"/>
            </a:endParaRPr>
          </a:p>
        </p:txBody>
      </p:sp>
      <p:pic>
        <p:nvPicPr>
          <p:cNvPr id="269" name="Google Shape;269;p22"/>
          <p:cNvPicPr preferRelativeResize="0"/>
          <p:nvPr>
            <p:ph idx="1" type="body"/>
          </p:nvPr>
        </p:nvPicPr>
        <p:blipFill rotWithShape="1">
          <a:blip r:embed="rId3">
            <a:alphaModFix/>
          </a:blip>
          <a:srcRect b="0" l="0" r="0" t="0"/>
          <a:stretch/>
        </p:blipFill>
        <p:spPr>
          <a:xfrm>
            <a:off x="4796914" y="2329656"/>
            <a:ext cx="6248400" cy="3158920"/>
          </a:xfrm>
          <a:prstGeom prst="rect">
            <a:avLst/>
          </a:prstGeom>
          <a:noFill/>
          <a:ln>
            <a:noFill/>
          </a:ln>
        </p:spPr>
      </p:pic>
      <p:sp>
        <p:nvSpPr>
          <p:cNvPr id="270" name="Google Shape;270;p22"/>
          <p:cNvSpPr txBox="1"/>
          <p:nvPr/>
        </p:nvSpPr>
        <p:spPr>
          <a:xfrm>
            <a:off x="853118" y="2516972"/>
            <a:ext cx="3947650" cy="27973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400"/>
              <a:buFont typeface="Arial"/>
              <a:buNone/>
            </a:pPr>
            <a:r>
              <a:rPr b="0" i="0" lang="en-US" sz="2400" u="none" cap="none" strike="noStrike">
                <a:solidFill>
                  <a:schemeClr val="dk1"/>
                </a:solidFill>
                <a:latin typeface="PMingLiU"/>
                <a:ea typeface="PMingLiU"/>
                <a:cs typeface="PMingLiU"/>
                <a:sym typeface="PMingLiU"/>
              </a:rPr>
              <a:t>YOLOv10-s 可以提供極其穩定的即時人臉追蹤，且低延遲特性可以為後續複雜的 FakeFormer 模型留出更多的計算時間成本。</a:t>
            </a:r>
            <a:endParaRPr b="0" i="0" sz="2400" u="none" cap="none" strike="noStrike">
              <a:solidFill>
                <a:schemeClr val="dk1"/>
              </a:solidFill>
              <a:latin typeface="PMingLiU"/>
              <a:ea typeface="PMingLiU"/>
              <a:cs typeface="PMingLiU"/>
              <a:sym typeface="PMingLiU"/>
            </a:endParaRPr>
          </a:p>
        </p:txBody>
      </p:sp>
      <p:sp>
        <p:nvSpPr>
          <p:cNvPr id="271" name="Google Shape;271;p22"/>
          <p:cNvSpPr txBox="1"/>
          <p:nvPr/>
        </p:nvSpPr>
        <p:spPr>
          <a:xfrm>
            <a:off x="5161935" y="1610032"/>
            <a:ext cx="60960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Lustria"/>
                <a:ea typeface="Lustria"/>
                <a:cs typeface="Lustria"/>
                <a:sym typeface="Lustria"/>
              </a:rPr>
              <a:t>11.yolo的介紹表格要解釋參數用意，還要特寫使用的是哪個模型</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Lustria"/>
              <a:ea typeface="Lustria"/>
              <a:cs typeface="Lustria"/>
              <a:sym typeface="Lustria"/>
            </a:endParaRPr>
          </a:p>
        </p:txBody>
      </p:sp>
      <p:sp>
        <p:nvSpPr>
          <p:cNvPr id="272" name="Google Shape;272;p22"/>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6" name="Shape 276"/>
        <p:cNvGrpSpPr/>
        <p:nvPr/>
      </p:nvGrpSpPr>
      <p:grpSpPr>
        <a:xfrm>
          <a:off x="0" y="0"/>
          <a:ext cx="0" cy="0"/>
          <a:chOff x="0" y="0"/>
          <a:chExt cx="0" cy="0"/>
        </a:xfrm>
      </p:grpSpPr>
      <p:sp>
        <p:nvSpPr>
          <p:cNvPr id="277" name="Google Shape;277;p23"/>
          <p:cNvSpPr txBox="1"/>
          <p:nvPr>
            <p:ph type="title"/>
          </p:nvPr>
        </p:nvSpPr>
        <p:spPr>
          <a:xfrm>
            <a:off x="712925" y="922096"/>
            <a:ext cx="10678975" cy="682772"/>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PMingLiU"/>
              <a:buNone/>
            </a:pPr>
            <a:r>
              <a:rPr b="1" lang="en-US" sz="4400">
                <a:latin typeface="PMingLiU"/>
                <a:ea typeface="PMingLiU"/>
                <a:cs typeface="PMingLiU"/>
                <a:sym typeface="PMingLiU"/>
              </a:rPr>
              <a:t>5.YOLO</a:t>
            </a:r>
            <a:r>
              <a:rPr b="1" lang="en-US" sz="4400" cap="none">
                <a:latin typeface="PMingLiU"/>
                <a:ea typeface="PMingLiU"/>
                <a:cs typeface="PMingLiU"/>
                <a:sym typeface="PMingLiU"/>
              </a:rPr>
              <a:t>v</a:t>
            </a:r>
            <a:r>
              <a:rPr b="1" lang="en-US" sz="4400">
                <a:latin typeface="PMingLiU"/>
                <a:ea typeface="PMingLiU"/>
                <a:cs typeface="PMingLiU"/>
                <a:sym typeface="PMingLiU"/>
              </a:rPr>
              <a:t>10-</a:t>
            </a:r>
            <a:r>
              <a:rPr b="1" lang="en-US" sz="4400" cap="none">
                <a:latin typeface="PMingLiU"/>
                <a:ea typeface="PMingLiU"/>
                <a:cs typeface="PMingLiU"/>
                <a:sym typeface="PMingLiU"/>
              </a:rPr>
              <a:t>s</a:t>
            </a:r>
            <a:r>
              <a:rPr b="1" lang="en-US" sz="4400">
                <a:latin typeface="PMingLiU"/>
                <a:ea typeface="PMingLiU"/>
                <a:cs typeface="PMingLiU"/>
                <a:sym typeface="PMingLiU"/>
              </a:rPr>
              <a:t> 模型訓練</a:t>
            </a:r>
            <a:endParaRPr b="1" sz="4400">
              <a:latin typeface="PMingLiU"/>
              <a:ea typeface="PMingLiU"/>
              <a:cs typeface="PMingLiU"/>
              <a:sym typeface="PMingLiU"/>
            </a:endParaRPr>
          </a:p>
        </p:txBody>
      </p:sp>
      <p:graphicFrame>
        <p:nvGraphicFramePr>
          <p:cNvPr id="278" name="Google Shape;278;p23"/>
          <p:cNvGraphicFramePr/>
          <p:nvPr/>
        </p:nvGraphicFramePr>
        <p:xfrm>
          <a:off x="700088" y="1714705"/>
          <a:ext cx="3000000" cy="3000000"/>
        </p:xfrm>
        <a:graphic>
          <a:graphicData uri="http://schemas.openxmlformats.org/drawingml/2006/table">
            <a:tbl>
              <a:tblPr bandRow="1">
                <a:noFill/>
                <a:tableStyleId>{D4F57E2E-EB3F-4404-9A26-EBCFC7F95AF6}</a:tableStyleId>
              </a:tblPr>
              <a:tblGrid>
                <a:gridCol w="2740725"/>
                <a:gridCol w="2740725"/>
                <a:gridCol w="2740725"/>
                <a:gridCol w="2469650"/>
              </a:tblGrid>
              <a:tr h="228600">
                <a:tc>
                  <a:txBody>
                    <a:bodyPr/>
                    <a:lstStyle/>
                    <a:p>
                      <a:pPr indent="0" lvl="0" marL="0" marR="0" rtl="0" algn="l">
                        <a:lnSpc>
                          <a:spcPct val="100000"/>
                        </a:lnSpc>
                        <a:spcBef>
                          <a:spcPts val="0"/>
                        </a:spcBef>
                        <a:spcAft>
                          <a:spcPts val="0"/>
                        </a:spcAft>
                        <a:buClr>
                          <a:schemeClr val="dk1"/>
                        </a:buClr>
                        <a:buSzPts val="1800"/>
                        <a:buFont typeface="Lustria"/>
                        <a:buNone/>
                      </a:pPr>
                      <a:r>
                        <a:t/>
                      </a:r>
                      <a:endParaRPr b="1" sz="1800" u="none" cap="none" strike="noStrike">
                        <a:solidFill>
                          <a:srgbClr val="0C0C0C"/>
                        </a:solidFill>
                        <a:latin typeface="PMingLiU"/>
                        <a:ea typeface="PMingLiU"/>
                        <a:cs typeface="PMingLiU"/>
                        <a:sym typeface="PMingLiU"/>
                      </a:endParaRPr>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b="1" lang="en-US" sz="1800" u="none" cap="none" strike="noStrike">
                          <a:solidFill>
                            <a:srgbClr val="0C0C0C"/>
                          </a:solidFill>
                          <a:latin typeface="PMingLiU"/>
                          <a:ea typeface="PMingLiU"/>
                          <a:cs typeface="PMingLiU"/>
                          <a:sym typeface="PMingLiU"/>
                        </a:rPr>
                        <a:t>項目</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b="1" lang="en-US" sz="1800" u="none" cap="none" strike="noStrike">
                          <a:solidFill>
                            <a:srgbClr val="0C0C0C"/>
                          </a:solidFill>
                          <a:latin typeface="PMingLiU"/>
                          <a:ea typeface="PMingLiU"/>
                          <a:cs typeface="PMingLiU"/>
                          <a:sym typeface="PMingLiU"/>
                        </a:rPr>
                        <a:t>檔案/參數</a:t>
                      </a:r>
                      <a:endParaRPr b="1" sz="1800" u="none" cap="none" strike="noStrike">
                        <a:solidFill>
                          <a:srgbClr val="0C0C0C"/>
                        </a:solidFill>
                        <a:latin typeface="PMingLiU"/>
                        <a:ea typeface="PMingLiU"/>
                        <a:cs typeface="PMingLiU"/>
                        <a:sym typeface="PMingLiU"/>
                      </a:endParaRPr>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b="1" lang="en-US" sz="1800" u="none" cap="none" strike="noStrike">
                          <a:solidFill>
                            <a:srgbClr val="0C0C0C"/>
                          </a:solidFill>
                          <a:latin typeface="PMingLiU"/>
                          <a:ea typeface="PMingLiU"/>
                          <a:cs typeface="PMingLiU"/>
                          <a:sym typeface="PMingLiU"/>
                        </a:rPr>
                        <a:t>功能</a:t>
                      </a:r>
                      <a:endParaRPr sz="1400" u="none" cap="none" strike="noStrike"/>
                    </a:p>
                  </a:txBody>
                  <a:tcPr marT="152400" marB="152400"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C0C0C"/>
                        </a:buClr>
                        <a:buSzPts val="1800"/>
                        <a:buFont typeface="PMingLiU"/>
                        <a:buNone/>
                      </a:pPr>
                      <a:r>
                        <a:rPr b="1" lang="en-US" sz="1800" u="none" cap="none" strike="noStrike">
                          <a:solidFill>
                            <a:srgbClr val="0C0C0C"/>
                          </a:solidFill>
                          <a:latin typeface="PMingLiU"/>
                          <a:ea typeface="PMingLiU"/>
                          <a:cs typeface="PMingLiU"/>
                          <a:sym typeface="PMingLiU"/>
                        </a:rPr>
                        <a:t>Input</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b="1" lang="en-US" sz="1800" u="none" cap="none" strike="noStrike">
                          <a:solidFill>
                            <a:srgbClr val="0C0C0C"/>
                          </a:solidFill>
                          <a:latin typeface="PMingLiU"/>
                          <a:ea typeface="PMingLiU"/>
                          <a:cs typeface="PMingLiU"/>
                          <a:sym typeface="PMingLiU"/>
                        </a:rPr>
                        <a:t>預訓練模型</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lang="en-US" sz="1800" u="none" cap="none" strike="noStrike">
                          <a:solidFill>
                            <a:srgbClr val="0C0C0C"/>
                          </a:solidFill>
                          <a:latin typeface="PMingLiU"/>
                          <a:ea typeface="PMingLiU"/>
                          <a:cs typeface="PMingLiU"/>
                          <a:sym typeface="PMingLiU"/>
                        </a:rPr>
                        <a:t>yolov10s.pt</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lang="en-US" sz="1800" u="none" cap="none" strike="noStrike">
                          <a:solidFill>
                            <a:srgbClr val="0C0C0C"/>
                          </a:solidFill>
                          <a:latin typeface="PMingLiU"/>
                          <a:ea typeface="PMingLiU"/>
                          <a:cs typeface="PMingLiU"/>
                          <a:sym typeface="PMingLiU"/>
                        </a:rPr>
                        <a:t>提供初始視覺特徵</a:t>
                      </a:r>
                      <a:endParaRPr sz="1800" u="none" cap="none" strike="noStrike">
                        <a:solidFill>
                          <a:srgbClr val="0C0C0C"/>
                        </a:solidFill>
                      </a:endParaRPr>
                    </a:p>
                  </a:txBody>
                  <a:tcPr marT="152400" marB="152400"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chemeClr val="dk1"/>
                        </a:buClr>
                        <a:buSzPts val="1800"/>
                        <a:buFont typeface="Lustria"/>
                        <a:buNone/>
                      </a:pPr>
                      <a:r>
                        <a:t/>
                      </a:r>
                      <a:endParaRPr sz="1800" u="none" cap="none" strike="noStrike">
                        <a:solidFill>
                          <a:srgbClr val="0C0C0C"/>
                        </a:solidFill>
                        <a:latin typeface="PMingLiU"/>
                        <a:ea typeface="PMingLiU"/>
                        <a:cs typeface="PMingLiU"/>
                        <a:sym typeface="PMingLiU"/>
                      </a:endParaRPr>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b="1" lang="en-US" sz="1800" u="none" cap="none" strike="noStrike">
                          <a:solidFill>
                            <a:srgbClr val="0C0C0C"/>
                          </a:solidFill>
                          <a:latin typeface="PMingLiU"/>
                          <a:ea typeface="PMingLiU"/>
                          <a:cs typeface="PMingLiU"/>
                          <a:sym typeface="PMingLiU"/>
                        </a:rPr>
                        <a:t>資料位置</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lang="en-US" sz="1800" u="none" cap="none" strike="noStrike">
                          <a:solidFill>
                            <a:srgbClr val="0C0C0C"/>
                          </a:solidFill>
                          <a:latin typeface="PMingLiU"/>
                          <a:ea typeface="PMingLiU"/>
                          <a:cs typeface="PMingLiU"/>
                          <a:sym typeface="PMingLiU"/>
                        </a:rPr>
                        <a:t>data.yaml</a:t>
                      </a:r>
                      <a:endParaRPr sz="1800" u="none" cap="none" strike="noStrike">
                        <a:solidFill>
                          <a:srgbClr val="0C0C0C"/>
                        </a:solidFill>
                        <a:latin typeface="PMingLiU"/>
                        <a:ea typeface="PMingLiU"/>
                        <a:cs typeface="PMingLiU"/>
                        <a:sym typeface="PMingLiU"/>
                      </a:endParaRPr>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lang="en-US" sz="1800" u="none" cap="none" strike="noStrike">
                          <a:solidFill>
                            <a:srgbClr val="0C0C0C"/>
                          </a:solidFill>
                          <a:latin typeface="PMingLiU"/>
                          <a:ea typeface="PMingLiU"/>
                          <a:cs typeface="PMingLiU"/>
                          <a:sym typeface="PMingLiU"/>
                        </a:rPr>
                        <a:t>指引資料存放位置</a:t>
                      </a:r>
                      <a:endParaRPr sz="1800" u="none" cap="none" strike="noStrike">
                        <a:solidFill>
                          <a:srgbClr val="0C0C0C"/>
                        </a:solidFill>
                      </a:endParaRPr>
                    </a:p>
                  </a:txBody>
                  <a:tcPr marT="152400" marB="152400"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chemeClr val="dk1"/>
                        </a:buClr>
                        <a:buSzPts val="1800"/>
                        <a:buFont typeface="Lustria"/>
                        <a:buNone/>
                      </a:pPr>
                      <a:r>
                        <a:t/>
                      </a:r>
                      <a:endParaRPr sz="1800" u="none" cap="none" strike="noStrike">
                        <a:solidFill>
                          <a:srgbClr val="0C0C0C"/>
                        </a:solidFill>
                        <a:latin typeface="PMingLiU"/>
                        <a:ea typeface="PMingLiU"/>
                        <a:cs typeface="PMingLiU"/>
                        <a:sym typeface="PMingLiU"/>
                      </a:endParaRPr>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b="1" lang="en-US" sz="1800" u="none" cap="none" strike="noStrike">
                          <a:solidFill>
                            <a:srgbClr val="0C0C0C"/>
                          </a:solidFill>
                          <a:latin typeface="PMingLiU"/>
                          <a:ea typeface="PMingLiU"/>
                          <a:cs typeface="PMingLiU"/>
                          <a:sym typeface="PMingLiU"/>
                        </a:rPr>
                        <a:t>控制參數</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lang="en-US" sz="1800" u="none" cap="none" strike="noStrike">
                          <a:solidFill>
                            <a:srgbClr val="0C0C0C"/>
                          </a:solidFill>
                          <a:latin typeface="PMingLiU"/>
                          <a:ea typeface="PMingLiU"/>
                          <a:cs typeface="PMingLiU"/>
                          <a:sym typeface="PMingLiU"/>
                        </a:rPr>
                        <a:t>batch, epochs,...</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lang="en-US" sz="1800" u="none" cap="none" strike="noStrike">
                          <a:solidFill>
                            <a:srgbClr val="0C0C0C"/>
                          </a:solidFill>
                          <a:latin typeface="PMingLiU"/>
                          <a:ea typeface="PMingLiU"/>
                          <a:cs typeface="PMingLiU"/>
                          <a:sym typeface="PMingLiU"/>
                        </a:rPr>
                        <a:t>決定訓練次數與大小</a:t>
                      </a:r>
                      <a:endParaRPr sz="1800" u="none" cap="none" strike="noStrike">
                        <a:solidFill>
                          <a:srgbClr val="0C0C0C"/>
                        </a:solidFill>
                      </a:endParaRPr>
                    </a:p>
                  </a:txBody>
                  <a:tcPr marT="152400" marB="152400"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C0C0C"/>
                        </a:buClr>
                        <a:buSzPts val="1800"/>
                        <a:buFont typeface="PMingLiU"/>
                        <a:buNone/>
                      </a:pPr>
                      <a:r>
                        <a:rPr b="1" lang="en-US" sz="1800" u="none" cap="none" strike="noStrike">
                          <a:solidFill>
                            <a:srgbClr val="0C0C0C"/>
                          </a:solidFill>
                          <a:latin typeface="PMingLiU"/>
                          <a:ea typeface="PMingLiU"/>
                          <a:cs typeface="PMingLiU"/>
                          <a:sym typeface="PMingLiU"/>
                        </a:rPr>
                        <a:t>Output</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b="1" lang="en-US" sz="1800" u="none" cap="none" strike="noStrike">
                          <a:solidFill>
                            <a:srgbClr val="0C0C0C"/>
                          </a:solidFill>
                          <a:latin typeface="PMingLiU"/>
                          <a:ea typeface="PMingLiU"/>
                          <a:cs typeface="PMingLiU"/>
                          <a:sym typeface="PMingLiU"/>
                        </a:rPr>
                        <a:t>訓練成果模型</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b="0" lang="en-US" sz="1800" u="none" cap="none" strike="noStrike">
                          <a:solidFill>
                            <a:srgbClr val="0C0C0C"/>
                          </a:solidFill>
                          <a:latin typeface="PMingLiU"/>
                          <a:ea typeface="PMingLiU"/>
                          <a:cs typeface="PMingLiU"/>
                          <a:sym typeface="PMingLiU"/>
                        </a:rPr>
                        <a:t>best.pt</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b="0" lang="en-US" sz="1800" u="none" cap="none" strike="noStrike">
                          <a:solidFill>
                            <a:srgbClr val="0C0C0C"/>
                          </a:solidFill>
                          <a:latin typeface="PMingLiU"/>
                          <a:ea typeface="PMingLiU"/>
                          <a:cs typeface="PMingLiU"/>
                          <a:sym typeface="PMingLiU"/>
                        </a:rPr>
                        <a:t>作為人臉篩選器的核心</a:t>
                      </a:r>
                      <a:endParaRPr sz="1400" u="none" cap="none" strike="noStrike"/>
                    </a:p>
                  </a:txBody>
                  <a:tcPr marT="152400" marB="152400"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chemeClr val="dk1"/>
                        </a:buClr>
                        <a:buSzPts val="1800"/>
                        <a:buFont typeface="Lustria"/>
                        <a:buNone/>
                      </a:pPr>
                      <a:r>
                        <a:t/>
                      </a:r>
                      <a:endParaRPr sz="1800" u="none" cap="none" strike="noStrike">
                        <a:solidFill>
                          <a:srgbClr val="0C0C0C"/>
                        </a:solidFill>
                        <a:latin typeface="PMingLiU"/>
                        <a:ea typeface="PMingLiU"/>
                        <a:cs typeface="PMingLiU"/>
                        <a:sym typeface="PMingLiU"/>
                      </a:endParaRPr>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b="1" lang="en-US" sz="1800" u="none" cap="none" strike="noStrike">
                          <a:solidFill>
                            <a:srgbClr val="0C0C0C"/>
                          </a:solidFill>
                          <a:latin typeface="PMingLiU"/>
                          <a:ea typeface="PMingLiU"/>
                          <a:cs typeface="PMingLiU"/>
                          <a:sym typeface="PMingLiU"/>
                        </a:rPr>
                        <a:t>效能圖表</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lang="en-US" sz="1800" u="none" cap="none" strike="noStrike">
                          <a:solidFill>
                            <a:srgbClr val="0C0C0C"/>
                          </a:solidFill>
                          <a:latin typeface="PMingLiU"/>
                          <a:ea typeface="PMingLiU"/>
                          <a:cs typeface="PMingLiU"/>
                          <a:sym typeface="PMingLiU"/>
                        </a:rPr>
                        <a:t>results.png</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b="0" i="0" lang="en-US" sz="1800" u="none" cap="none" strike="noStrike">
                          <a:solidFill>
                            <a:srgbClr val="0C0C0C"/>
                          </a:solidFill>
                          <a:latin typeface="PMingLiU"/>
                          <a:ea typeface="PMingLiU"/>
                          <a:cs typeface="PMingLiU"/>
                          <a:sym typeface="PMingLiU"/>
                        </a:rPr>
                        <a:t>過度擬合</a:t>
                      </a:r>
                      <a:r>
                        <a:rPr b="0" lang="en-US" sz="1800" u="none" cap="none" strike="noStrike">
                          <a:solidFill>
                            <a:srgbClr val="0C0C0C"/>
                          </a:solidFill>
                          <a:latin typeface="PMingLiU"/>
                          <a:ea typeface="PMingLiU"/>
                          <a:cs typeface="PMingLiU"/>
                          <a:sym typeface="PMingLiU"/>
                        </a:rPr>
                        <a:t> (Overfitting)</a:t>
                      </a:r>
                      <a:endParaRPr b="0" sz="1800" u="none" cap="none" strike="noStrike">
                        <a:solidFill>
                          <a:srgbClr val="0C0C0C"/>
                        </a:solidFill>
                        <a:latin typeface="PMingLiU"/>
                        <a:ea typeface="PMingLiU"/>
                        <a:cs typeface="PMingLiU"/>
                        <a:sym typeface="PMingLiU"/>
                      </a:endParaRPr>
                    </a:p>
                  </a:txBody>
                  <a:tcPr marT="152400" marB="152400"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chemeClr val="dk1"/>
                        </a:buClr>
                        <a:buSzPts val="1800"/>
                        <a:buFont typeface="Lustria"/>
                        <a:buNone/>
                      </a:pPr>
                      <a:r>
                        <a:t/>
                      </a:r>
                      <a:endParaRPr sz="1800" u="none" cap="none" strike="noStrike">
                        <a:solidFill>
                          <a:srgbClr val="0C0C0C"/>
                        </a:solidFill>
                        <a:latin typeface="PMingLiU"/>
                        <a:ea typeface="PMingLiU"/>
                        <a:cs typeface="PMingLiU"/>
                        <a:sym typeface="PMingLiU"/>
                      </a:endParaRPr>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b="1" lang="en-US" sz="1800" u="none" cap="none" strike="noStrike">
                          <a:solidFill>
                            <a:srgbClr val="0C0C0C"/>
                          </a:solidFill>
                          <a:latin typeface="PMingLiU"/>
                          <a:ea typeface="PMingLiU"/>
                          <a:cs typeface="PMingLiU"/>
                          <a:sym typeface="PMingLiU"/>
                        </a:rPr>
                        <a:t>日誌紀錄</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lang="en-US" sz="1800" u="none" cap="none" strike="noStrike">
                          <a:solidFill>
                            <a:srgbClr val="0C0C0C"/>
                          </a:solidFill>
                          <a:latin typeface="PMingLiU"/>
                          <a:ea typeface="PMingLiU"/>
                          <a:cs typeface="PMingLiU"/>
                          <a:sym typeface="PMingLiU"/>
                        </a:rPr>
                        <a:t>results.csv</a:t>
                      </a:r>
                      <a:endParaRPr sz="1400" u="none" cap="none" strike="noStrike"/>
                    </a:p>
                  </a:txBody>
                  <a:tcPr marT="152400" marB="152400" marR="11430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0C0C"/>
                        </a:buClr>
                        <a:buSzPts val="1800"/>
                        <a:buFont typeface="PMingLiU"/>
                        <a:buNone/>
                      </a:pPr>
                      <a:r>
                        <a:rPr lang="en-US" sz="1800" u="none" cap="none" strike="noStrike">
                          <a:solidFill>
                            <a:srgbClr val="0C0C0C"/>
                          </a:solidFill>
                          <a:latin typeface="PMingLiU"/>
                          <a:ea typeface="PMingLiU"/>
                          <a:cs typeface="PMingLiU"/>
                          <a:sym typeface="PMingLiU"/>
                        </a:rPr>
                        <a:t>紀錄每一輪的詳細數據</a:t>
                      </a:r>
                      <a:endParaRPr sz="1800" u="none" cap="none" strike="noStrike">
                        <a:solidFill>
                          <a:srgbClr val="0C0C0C"/>
                        </a:solidFill>
                      </a:endParaRPr>
                    </a:p>
                  </a:txBody>
                  <a:tcPr marT="152400" marB="152400"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279" name="Google Shape;279;p23"/>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sp>
        <p:nvSpPr>
          <p:cNvPr id="280" name="Google Shape;280;p23"/>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4" name="Shape 284"/>
        <p:cNvGrpSpPr/>
        <p:nvPr/>
      </p:nvGrpSpPr>
      <p:grpSpPr>
        <a:xfrm>
          <a:off x="0" y="0"/>
          <a:ext cx="0" cy="0"/>
          <a:chOff x="0" y="0"/>
          <a:chExt cx="0" cy="0"/>
        </a:xfrm>
      </p:grpSpPr>
      <p:sp>
        <p:nvSpPr>
          <p:cNvPr id="285" name="Google Shape;285;p24"/>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5.YOLO</a:t>
            </a:r>
            <a:r>
              <a:rPr b="1" lang="en-US" cap="none">
                <a:latin typeface="PMingLiU"/>
                <a:ea typeface="PMingLiU"/>
                <a:cs typeface="PMingLiU"/>
                <a:sym typeface="PMingLiU"/>
              </a:rPr>
              <a:t>v</a:t>
            </a:r>
            <a:r>
              <a:rPr b="1" lang="en-US">
                <a:latin typeface="PMingLiU"/>
                <a:ea typeface="PMingLiU"/>
                <a:cs typeface="PMingLiU"/>
                <a:sym typeface="PMingLiU"/>
              </a:rPr>
              <a:t>10-</a:t>
            </a:r>
            <a:r>
              <a:rPr b="1" lang="en-US" cap="none">
                <a:latin typeface="PMingLiU"/>
                <a:ea typeface="PMingLiU"/>
                <a:cs typeface="PMingLiU"/>
                <a:sym typeface="PMingLiU"/>
              </a:rPr>
              <a:t>s</a:t>
            </a:r>
            <a:r>
              <a:rPr b="1" lang="en-US">
                <a:latin typeface="PMingLiU"/>
                <a:ea typeface="PMingLiU"/>
                <a:cs typeface="PMingLiU"/>
                <a:sym typeface="PMingLiU"/>
              </a:rPr>
              <a:t> 模型訓練</a:t>
            </a:r>
            <a:endParaRPr b="1"/>
          </a:p>
        </p:txBody>
      </p:sp>
      <p:sp>
        <p:nvSpPr>
          <p:cNvPr id="286" name="Google Shape;286;p24"/>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pic>
        <p:nvPicPr>
          <p:cNvPr id="287" name="Google Shape;287;p24"/>
          <p:cNvPicPr preferRelativeResize="0"/>
          <p:nvPr>
            <p:ph idx="1" type="body"/>
          </p:nvPr>
        </p:nvPicPr>
        <p:blipFill rotWithShape="1">
          <a:blip r:embed="rId3">
            <a:alphaModFix/>
          </a:blip>
          <a:srcRect b="58186" l="948" r="12559" t="8716"/>
          <a:stretch/>
        </p:blipFill>
        <p:spPr>
          <a:xfrm>
            <a:off x="713894" y="1899837"/>
            <a:ext cx="10378712" cy="3980280"/>
          </a:xfrm>
          <a:prstGeom prst="rect">
            <a:avLst/>
          </a:prstGeom>
          <a:noFill/>
          <a:ln>
            <a:noFill/>
          </a:ln>
        </p:spPr>
      </p:pic>
      <p:sp>
        <p:nvSpPr>
          <p:cNvPr id="288" name="Google Shape;288;p24"/>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2" name="Shape 292"/>
        <p:cNvGrpSpPr/>
        <p:nvPr/>
      </p:nvGrpSpPr>
      <p:grpSpPr>
        <a:xfrm>
          <a:off x="0" y="0"/>
          <a:ext cx="0" cy="0"/>
          <a:chOff x="0" y="0"/>
          <a:chExt cx="0" cy="0"/>
        </a:xfrm>
      </p:grpSpPr>
      <p:sp>
        <p:nvSpPr>
          <p:cNvPr id="293" name="Google Shape;293;p25"/>
          <p:cNvSpPr txBox="1"/>
          <p:nvPr>
            <p:ph type="title"/>
          </p:nvPr>
        </p:nvSpPr>
        <p:spPr>
          <a:xfrm>
            <a:off x="712925" y="922096"/>
            <a:ext cx="10678975" cy="79338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cap="none">
                <a:latin typeface="PMingLiU"/>
                <a:ea typeface="PMingLiU"/>
                <a:cs typeface="PMingLiU"/>
                <a:sym typeface="PMingLiU"/>
              </a:rPr>
              <a:t>5-1.data.yaml</a:t>
            </a:r>
            <a:endParaRPr b="1">
              <a:latin typeface="PMingLiU"/>
              <a:ea typeface="PMingLiU"/>
              <a:cs typeface="PMingLiU"/>
              <a:sym typeface="PMingLiU"/>
            </a:endParaRPr>
          </a:p>
        </p:txBody>
      </p:sp>
      <p:pic>
        <p:nvPicPr>
          <p:cNvPr id="294" name="Google Shape;294;p25"/>
          <p:cNvPicPr preferRelativeResize="0"/>
          <p:nvPr>
            <p:ph idx="1" type="body"/>
          </p:nvPr>
        </p:nvPicPr>
        <p:blipFill rotWithShape="1">
          <a:blip r:embed="rId3">
            <a:alphaModFix/>
          </a:blip>
          <a:srcRect b="0" l="0" r="0" t="0"/>
          <a:stretch/>
        </p:blipFill>
        <p:spPr>
          <a:xfrm>
            <a:off x="3316280" y="2261938"/>
            <a:ext cx="8077814" cy="3428078"/>
          </a:xfrm>
          <a:prstGeom prst="rect">
            <a:avLst/>
          </a:prstGeom>
          <a:noFill/>
          <a:ln>
            <a:noFill/>
          </a:ln>
        </p:spPr>
      </p:pic>
      <p:sp>
        <p:nvSpPr>
          <p:cNvPr id="295" name="Google Shape;295;p25"/>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sp>
        <p:nvSpPr>
          <p:cNvPr id="296" name="Google Shape;296;p25"/>
          <p:cNvSpPr txBox="1"/>
          <p:nvPr/>
        </p:nvSpPr>
        <p:spPr>
          <a:xfrm>
            <a:off x="572559" y="2113512"/>
            <a:ext cx="2628433" cy="3731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0" i="0" lang="en-US" sz="2000" u="none" cap="none" strike="noStrike">
                <a:solidFill>
                  <a:schemeClr val="dk1"/>
                </a:solidFill>
                <a:latin typeface="PMingLiU"/>
                <a:ea typeface="PMingLiU"/>
                <a:cs typeface="PMingLiU"/>
                <a:sym typeface="PMingLiU"/>
              </a:rPr>
              <a:t>data.yaml檔案會告訴訓練程式要去哪裡找要訓練的圖片。YOLOv10 會自動化讀取 data.yaml 裡面的圖片路徑，然後自動去旁邊找對應的標籤檔（.txt）。</a:t>
            </a:r>
            <a:endParaRPr b="0" i="0" sz="2000" u="none" cap="none" strike="noStrike">
              <a:solidFill>
                <a:schemeClr val="dk1"/>
              </a:solidFill>
              <a:latin typeface="PMingLiU"/>
              <a:ea typeface="PMingLiU"/>
              <a:cs typeface="PMingLiU"/>
              <a:sym typeface="PMingLiU"/>
            </a:endParaRPr>
          </a:p>
        </p:txBody>
      </p:sp>
      <p:sp>
        <p:nvSpPr>
          <p:cNvPr id="297" name="Google Shape;297;p25"/>
          <p:cNvSpPr txBox="1"/>
          <p:nvPr/>
        </p:nvSpPr>
        <p:spPr>
          <a:xfrm>
            <a:off x="4129548" y="1167581"/>
            <a:ext cx="60960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Lustria"/>
                <a:ea typeface="Lustria"/>
                <a:cs typeface="Lustria"/>
                <a:sym typeface="Lustria"/>
              </a:rPr>
              <a:t>9.yolo的訓練集要搞清楚的，那些是訓練那些是測試，數量個多少，.yaml那一頁的資料集路徑要講寫清楚 </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Lustria"/>
              <a:ea typeface="Lustria"/>
              <a:cs typeface="Lustria"/>
              <a:sym typeface="Lustria"/>
            </a:endParaRPr>
          </a:p>
        </p:txBody>
      </p:sp>
      <p:sp>
        <p:nvSpPr>
          <p:cNvPr id="298" name="Google Shape;298;p25"/>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2" name="Shape 302"/>
        <p:cNvGrpSpPr/>
        <p:nvPr/>
      </p:nvGrpSpPr>
      <p:grpSpPr>
        <a:xfrm>
          <a:off x="0" y="0"/>
          <a:ext cx="0" cy="0"/>
          <a:chOff x="0" y="0"/>
          <a:chExt cx="0" cy="0"/>
        </a:xfrm>
      </p:grpSpPr>
      <p:sp>
        <p:nvSpPr>
          <p:cNvPr id="303" name="Google Shape;303;p26"/>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5-2.YOLO</a:t>
            </a:r>
            <a:r>
              <a:rPr b="1" lang="en-US" cap="none">
                <a:latin typeface="PMingLiU"/>
                <a:ea typeface="PMingLiU"/>
                <a:cs typeface="PMingLiU"/>
                <a:sym typeface="PMingLiU"/>
              </a:rPr>
              <a:t>v</a:t>
            </a:r>
            <a:r>
              <a:rPr b="1" lang="en-US">
                <a:latin typeface="PMingLiU"/>
                <a:ea typeface="PMingLiU"/>
                <a:cs typeface="PMingLiU"/>
                <a:sym typeface="PMingLiU"/>
              </a:rPr>
              <a:t>10-</a:t>
            </a:r>
            <a:r>
              <a:rPr b="1" lang="en-US" cap="none">
                <a:latin typeface="PMingLiU"/>
                <a:ea typeface="PMingLiU"/>
                <a:cs typeface="PMingLiU"/>
                <a:sym typeface="PMingLiU"/>
              </a:rPr>
              <a:t>s</a:t>
            </a:r>
            <a:r>
              <a:rPr b="1" lang="en-US">
                <a:latin typeface="PMingLiU"/>
                <a:ea typeface="PMingLiU"/>
                <a:cs typeface="PMingLiU"/>
                <a:sym typeface="PMingLiU"/>
              </a:rPr>
              <a:t> 模型訓練成果檔案</a:t>
            </a:r>
            <a:endParaRPr b="1">
              <a:latin typeface="PMingLiU"/>
              <a:ea typeface="PMingLiU"/>
              <a:cs typeface="PMingLiU"/>
              <a:sym typeface="PMingLiU"/>
            </a:endParaRPr>
          </a:p>
        </p:txBody>
      </p:sp>
      <p:pic>
        <p:nvPicPr>
          <p:cNvPr id="304" name="Google Shape;304;p26"/>
          <p:cNvPicPr preferRelativeResize="0"/>
          <p:nvPr>
            <p:ph idx="1" type="body"/>
          </p:nvPr>
        </p:nvPicPr>
        <p:blipFill rotWithShape="1">
          <a:blip r:embed="rId3">
            <a:alphaModFix/>
          </a:blip>
          <a:srcRect b="0" l="0" r="0" t="0"/>
          <a:stretch/>
        </p:blipFill>
        <p:spPr>
          <a:xfrm>
            <a:off x="698440" y="1844220"/>
            <a:ext cx="10695653" cy="1743996"/>
          </a:xfrm>
          <a:prstGeom prst="rect">
            <a:avLst/>
          </a:prstGeom>
          <a:noFill/>
          <a:ln>
            <a:noFill/>
          </a:ln>
        </p:spPr>
      </p:pic>
      <p:sp>
        <p:nvSpPr>
          <p:cNvPr id="305" name="Google Shape;305;p26"/>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pic>
        <p:nvPicPr>
          <p:cNvPr id="306" name="Google Shape;306;p26"/>
          <p:cNvPicPr preferRelativeResize="0"/>
          <p:nvPr/>
        </p:nvPicPr>
        <p:blipFill rotWithShape="1">
          <a:blip r:embed="rId4">
            <a:alphaModFix/>
          </a:blip>
          <a:srcRect b="26415" l="4335" r="54913" t="3773"/>
          <a:stretch/>
        </p:blipFill>
        <p:spPr>
          <a:xfrm>
            <a:off x="197719" y="5932538"/>
            <a:ext cx="1405236" cy="795444"/>
          </a:xfrm>
          <a:prstGeom prst="rect">
            <a:avLst/>
          </a:prstGeom>
          <a:noFill/>
          <a:ln>
            <a:noFill/>
          </a:ln>
          <a:effectLst>
            <a:outerShdw blurRad="292100" rotWithShape="0" algn="tl" dir="2700000" dist="139700">
              <a:srgbClr val="333333">
                <a:alpha val="65098"/>
              </a:srgbClr>
            </a:outerShdw>
          </a:effectLst>
        </p:spPr>
      </p:pic>
      <p:sp>
        <p:nvSpPr>
          <p:cNvPr id="307" name="Google Shape;307;p26"/>
          <p:cNvSpPr txBox="1"/>
          <p:nvPr/>
        </p:nvSpPr>
        <p:spPr>
          <a:xfrm>
            <a:off x="700549" y="3699387"/>
            <a:ext cx="11135031" cy="2121093"/>
          </a:xfrm>
          <a:prstGeom prst="rect">
            <a:avLst/>
          </a:prstGeom>
          <a:noFill/>
          <a:ln>
            <a:noFill/>
          </a:ln>
        </p:spPr>
        <p:txBody>
          <a:bodyPr anchorCtr="0" anchor="t" bIns="45700" lIns="91425" spcFirstLastPara="1" rIns="91425" wrap="square" tIns="45700">
            <a:spAutoFit/>
          </a:bodyPr>
          <a:lstStyle/>
          <a:p>
            <a:pPr indent="-228600" lvl="0" marL="228600" marR="0" rtl="0" algn="l">
              <a:lnSpc>
                <a:spcPct val="150000"/>
              </a:lnSpc>
              <a:spcBef>
                <a:spcPts val="0"/>
              </a:spcBef>
              <a:spcAft>
                <a:spcPts val="0"/>
              </a:spcAft>
              <a:buClr>
                <a:srgbClr val="0C0C0C"/>
              </a:buClr>
              <a:buSzPts val="1800"/>
              <a:buFont typeface="Arial"/>
              <a:buChar char="•"/>
            </a:pPr>
            <a:r>
              <a:rPr b="1" i="0" lang="en-US" sz="1800" u="none" cap="none" strike="noStrike">
                <a:solidFill>
                  <a:srgbClr val="0C0C0C"/>
                </a:solidFill>
                <a:latin typeface="PMingLiU"/>
                <a:ea typeface="PMingLiU"/>
                <a:cs typeface="PMingLiU"/>
                <a:sym typeface="PMingLiU"/>
              </a:rPr>
              <a:t>args.yaml 訓練清單：</a:t>
            </a:r>
            <a:r>
              <a:rPr b="0" i="0" lang="en-US" sz="1800" u="none" cap="none" strike="noStrike">
                <a:solidFill>
                  <a:srgbClr val="0C0C0C"/>
                </a:solidFill>
                <a:latin typeface="PMingLiU"/>
                <a:ea typeface="PMingLiU"/>
                <a:cs typeface="PMingLiU"/>
                <a:sym typeface="PMingLiU"/>
              </a:rPr>
              <a:t>記錄了啟動訓練時所有的參數(例如 imgsz: 640, batch: 4, epochs: 50 以及資料路徑)</a:t>
            </a:r>
            <a:endParaRPr b="0" i="0" sz="1800" u="none" cap="none" strike="noStrike">
              <a:solidFill>
                <a:srgbClr val="0C0C0C"/>
              </a:solidFill>
              <a:latin typeface="PMingLiU"/>
              <a:ea typeface="PMingLiU"/>
              <a:cs typeface="PMingLiU"/>
              <a:sym typeface="PMingLiU"/>
            </a:endParaRPr>
          </a:p>
          <a:p>
            <a:pPr indent="-228600" lvl="0" marL="228600" marR="0" rtl="0" algn="l">
              <a:lnSpc>
                <a:spcPct val="150000"/>
              </a:lnSpc>
              <a:spcBef>
                <a:spcPts val="0"/>
              </a:spcBef>
              <a:spcAft>
                <a:spcPts val="0"/>
              </a:spcAft>
              <a:buClr>
                <a:srgbClr val="0C0C0C"/>
              </a:buClr>
              <a:buSzPts val="1800"/>
              <a:buFont typeface="Arial"/>
              <a:buChar char="•"/>
            </a:pPr>
            <a:r>
              <a:rPr b="1" i="0" lang="en-US" sz="1800" u="none" cap="none" strike="noStrike">
                <a:solidFill>
                  <a:srgbClr val="0C0C0C"/>
                </a:solidFill>
                <a:latin typeface="PMingLiU"/>
                <a:ea typeface="PMingLiU"/>
                <a:cs typeface="PMingLiU"/>
                <a:sym typeface="PMingLiU"/>
              </a:rPr>
              <a:t>labels 標籤分佈圖：</a:t>
            </a:r>
            <a:r>
              <a:rPr b="0" i="0" lang="en-US" sz="1800" u="none" cap="none" strike="noStrike">
                <a:solidFill>
                  <a:srgbClr val="0C0C0C"/>
                </a:solidFill>
                <a:latin typeface="PMingLiU"/>
                <a:ea typeface="PMingLiU"/>
                <a:cs typeface="PMingLiU"/>
                <a:sym typeface="PMingLiU"/>
              </a:rPr>
              <a:t>畫出你所有資料集中「人臉框」的位置、大小與數量分佈</a:t>
            </a:r>
            <a:endParaRPr b="0" i="0" sz="1400" u="none" cap="none" strike="noStrike">
              <a:solidFill>
                <a:srgbClr val="000000"/>
              </a:solidFill>
              <a:latin typeface="Arial"/>
              <a:ea typeface="Arial"/>
              <a:cs typeface="Arial"/>
              <a:sym typeface="Arial"/>
            </a:endParaRPr>
          </a:p>
          <a:p>
            <a:pPr indent="-228600" lvl="0" marL="228600" marR="0" rtl="0" algn="l">
              <a:lnSpc>
                <a:spcPct val="150000"/>
              </a:lnSpc>
              <a:spcBef>
                <a:spcPts val="0"/>
              </a:spcBef>
              <a:spcAft>
                <a:spcPts val="0"/>
              </a:spcAft>
              <a:buClr>
                <a:srgbClr val="0C0C0C"/>
              </a:buClr>
              <a:buSzPts val="1800"/>
              <a:buFont typeface="Arial"/>
              <a:buChar char="•"/>
            </a:pPr>
            <a:r>
              <a:rPr b="1" i="0" lang="en-US" sz="1800" u="none" cap="none" strike="noStrike">
                <a:solidFill>
                  <a:srgbClr val="0C0C0C"/>
                </a:solidFill>
                <a:latin typeface="PMingLiU"/>
                <a:ea typeface="PMingLiU"/>
                <a:cs typeface="PMingLiU"/>
                <a:sym typeface="PMingLiU"/>
              </a:rPr>
              <a:t>labels_correlogram 座標相關性圖：</a:t>
            </a:r>
            <a:r>
              <a:rPr b="0" i="0" lang="en-US" sz="1800" u="none" cap="none" strike="noStrike">
                <a:solidFill>
                  <a:srgbClr val="0C0C0C"/>
                </a:solidFill>
                <a:latin typeface="PMingLiU"/>
                <a:ea typeface="PMingLiU"/>
                <a:cs typeface="PMingLiU"/>
                <a:sym typeface="PMingLiU"/>
              </a:rPr>
              <a:t>展示 x, y, width, height 之間的關聯用來檢查框的大小是否跟位置有關聯</a:t>
            </a:r>
            <a:endParaRPr b="0" i="0" sz="1800" u="none" cap="none" strike="noStrike">
              <a:solidFill>
                <a:srgbClr val="0C0C0C"/>
              </a:solidFill>
              <a:latin typeface="PMingLiU"/>
              <a:ea typeface="PMingLiU"/>
              <a:cs typeface="PMingLiU"/>
              <a:sym typeface="PMingLiU"/>
            </a:endParaRPr>
          </a:p>
          <a:p>
            <a:pPr indent="-228600" lvl="0" marL="228600" marR="0" rtl="0" algn="l">
              <a:lnSpc>
                <a:spcPct val="150000"/>
              </a:lnSpc>
              <a:spcBef>
                <a:spcPts val="0"/>
              </a:spcBef>
              <a:spcAft>
                <a:spcPts val="0"/>
              </a:spcAft>
              <a:buClr>
                <a:srgbClr val="0C0C0C"/>
              </a:buClr>
              <a:buSzPts val="1800"/>
              <a:buFont typeface="Arial"/>
              <a:buChar char="•"/>
            </a:pPr>
            <a:r>
              <a:rPr b="1" i="0" lang="en-US" sz="1800" u="none" cap="none" strike="noStrike">
                <a:solidFill>
                  <a:srgbClr val="0C0C0C"/>
                </a:solidFill>
                <a:latin typeface="PMingLiU"/>
                <a:ea typeface="PMingLiU"/>
                <a:cs typeface="PMingLiU"/>
                <a:sym typeface="PMingLiU"/>
              </a:rPr>
              <a:t>results 核心成績：</a:t>
            </a:r>
            <a:r>
              <a:rPr b="0" i="0" lang="en-US" sz="1800" u="none" cap="none" strike="noStrike">
                <a:solidFill>
                  <a:srgbClr val="0C0C0C"/>
                </a:solidFill>
                <a:latin typeface="PMingLiU"/>
                <a:ea typeface="PMingLiU"/>
                <a:cs typeface="PMingLiU"/>
                <a:sym typeface="PMingLiU"/>
              </a:rPr>
              <a:t>記錄了每一輪的損失值 (Loss) 和精準度 (mAP)</a:t>
            </a:r>
            <a:endParaRPr b="0" i="0" sz="1400" u="none" cap="none" strike="noStrike">
              <a:solidFill>
                <a:srgbClr val="000000"/>
              </a:solidFill>
              <a:latin typeface="Arial"/>
              <a:ea typeface="Arial"/>
              <a:cs typeface="Arial"/>
              <a:sym typeface="Arial"/>
            </a:endParaRPr>
          </a:p>
          <a:p>
            <a:pPr indent="-228600" lvl="0" marL="228600" marR="0" rtl="0" algn="l">
              <a:lnSpc>
                <a:spcPct val="150000"/>
              </a:lnSpc>
              <a:spcBef>
                <a:spcPts val="0"/>
              </a:spcBef>
              <a:spcAft>
                <a:spcPts val="0"/>
              </a:spcAft>
              <a:buClr>
                <a:srgbClr val="0C0C0C"/>
              </a:buClr>
              <a:buSzPts val="1800"/>
              <a:buFont typeface="Arial"/>
              <a:buChar char="•"/>
            </a:pPr>
            <a:r>
              <a:rPr b="1" i="0" lang="en-US" sz="1800" u="none" cap="none" strike="noStrike">
                <a:solidFill>
                  <a:srgbClr val="0C0C0C"/>
                </a:solidFill>
                <a:latin typeface="PMingLiU"/>
                <a:ea typeface="PMingLiU"/>
                <a:cs typeface="PMingLiU"/>
                <a:sym typeface="PMingLiU"/>
              </a:rPr>
              <a:t>train_batch0,1,2：</a:t>
            </a:r>
            <a:r>
              <a:rPr b="0" i="0" lang="en-US" sz="1800" u="none" cap="none" strike="noStrike">
                <a:solidFill>
                  <a:srgbClr val="0C0C0C"/>
                </a:solidFill>
                <a:latin typeface="PMingLiU"/>
                <a:ea typeface="PMingLiU"/>
                <a:cs typeface="PMingLiU"/>
                <a:sym typeface="PMingLiU"/>
              </a:rPr>
              <a:t>模型測試圖</a:t>
            </a:r>
            <a:endParaRPr b="0" i="0" sz="1800" u="none" cap="none" strike="noStrike">
              <a:solidFill>
                <a:srgbClr val="0C0C0C"/>
              </a:solidFill>
              <a:latin typeface="PMingLiU"/>
              <a:ea typeface="PMingLiU"/>
              <a:cs typeface="PMingLiU"/>
              <a:sym typeface="PMingLiU"/>
            </a:endParaRPr>
          </a:p>
        </p:txBody>
      </p:sp>
      <p:sp>
        <p:nvSpPr>
          <p:cNvPr id="308" name="Google Shape;308;p26"/>
          <p:cNvSpPr txBox="1"/>
          <p:nvPr/>
        </p:nvSpPr>
        <p:spPr>
          <a:xfrm>
            <a:off x="3220065" y="98322"/>
            <a:ext cx="60960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Arial"/>
                <a:ea typeface="Arial"/>
                <a:cs typeface="Arial"/>
                <a:sym typeface="Arial"/>
              </a:rPr>
              <a:t>7.Yolo的成果展示要馬解釋清楚作用，如果不太需要的就不用放上來</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Lustria"/>
              <a:ea typeface="Lustria"/>
              <a:cs typeface="Lustria"/>
              <a:sym typeface="Lustria"/>
            </a:endParaRPr>
          </a:p>
        </p:txBody>
      </p:sp>
      <p:sp>
        <p:nvSpPr>
          <p:cNvPr id="309" name="Google Shape;309;p26"/>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3" name="Shape 313"/>
        <p:cNvGrpSpPr/>
        <p:nvPr/>
      </p:nvGrpSpPr>
      <p:grpSpPr>
        <a:xfrm>
          <a:off x="0" y="0"/>
          <a:ext cx="0" cy="0"/>
          <a:chOff x="0" y="0"/>
          <a:chExt cx="0" cy="0"/>
        </a:xfrm>
      </p:grpSpPr>
      <p:sp>
        <p:nvSpPr>
          <p:cNvPr id="314" name="Google Shape;314;p27"/>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5-2.YOLO</a:t>
            </a:r>
            <a:r>
              <a:rPr b="1" lang="en-US" cap="none">
                <a:latin typeface="PMingLiU"/>
                <a:ea typeface="PMingLiU"/>
                <a:cs typeface="PMingLiU"/>
                <a:sym typeface="PMingLiU"/>
              </a:rPr>
              <a:t>v</a:t>
            </a:r>
            <a:r>
              <a:rPr b="1" lang="en-US">
                <a:latin typeface="PMingLiU"/>
                <a:ea typeface="PMingLiU"/>
                <a:cs typeface="PMingLiU"/>
                <a:sym typeface="PMingLiU"/>
              </a:rPr>
              <a:t>10-</a:t>
            </a:r>
            <a:r>
              <a:rPr b="1" lang="en-US" cap="none">
                <a:latin typeface="PMingLiU"/>
                <a:ea typeface="PMingLiU"/>
                <a:cs typeface="PMingLiU"/>
                <a:sym typeface="PMingLiU"/>
              </a:rPr>
              <a:t>s</a:t>
            </a:r>
            <a:r>
              <a:rPr b="1" lang="en-US">
                <a:latin typeface="PMingLiU"/>
                <a:ea typeface="PMingLiU"/>
                <a:cs typeface="PMingLiU"/>
                <a:sym typeface="PMingLiU"/>
              </a:rPr>
              <a:t> 模型訓練成果檔案</a:t>
            </a:r>
            <a:endParaRPr>
              <a:latin typeface="PMingLiU"/>
              <a:ea typeface="PMingLiU"/>
              <a:cs typeface="PMingLiU"/>
              <a:sym typeface="PMingLiU"/>
            </a:endParaRPr>
          </a:p>
        </p:txBody>
      </p:sp>
      <p:graphicFrame>
        <p:nvGraphicFramePr>
          <p:cNvPr id="315" name="Google Shape;315;p27"/>
          <p:cNvGraphicFramePr/>
          <p:nvPr/>
        </p:nvGraphicFramePr>
        <p:xfrm>
          <a:off x="700088" y="2292350"/>
          <a:ext cx="3000000" cy="3000000"/>
        </p:xfrm>
        <a:graphic>
          <a:graphicData uri="http://schemas.openxmlformats.org/drawingml/2006/table">
            <a:tbl>
              <a:tblPr bandRow="1" firstRow="1">
                <a:noFill/>
                <a:tableStyleId>{D4F57E2E-EB3F-4404-9A26-EBCFC7F95AF6}</a:tableStyleId>
              </a:tblPr>
              <a:tblGrid>
                <a:gridCol w="3563925"/>
                <a:gridCol w="3563925"/>
                <a:gridCol w="3563925"/>
              </a:tblGrid>
              <a:tr h="370850">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評估指標</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實測數值</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指標說明</a:t>
                      </a:r>
                      <a:endParaRPr sz="1800" u="none" cap="none" strike="noStrike"/>
                    </a:p>
                  </a:txBody>
                  <a:tcPr marT="45725" marB="45725" marR="91450" marL="91450" anchor="ctr"/>
                </a:tc>
              </a:tr>
              <a:tr h="370850">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Precision</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88.87%</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模型框出的人臉中，是正確的人臉機率</a:t>
                      </a:r>
                      <a:endParaRPr sz="1800" u="none" cap="none" strike="noStrike"/>
                    </a:p>
                  </a:txBody>
                  <a:tcPr marT="45725" marB="45725" marR="91450" marL="91450" anchor="ctr"/>
                </a:tc>
              </a:tr>
              <a:tr h="370850">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Recall</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68.18%</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資料集中所有的人臉，模型成功捕捉率</a:t>
                      </a:r>
                      <a:endParaRPr sz="1800" u="none" cap="none" strike="noStrike"/>
                    </a:p>
                  </a:txBody>
                  <a:tcPr marT="45725" marB="45725" marR="91450" marL="91450" anchor="ctr"/>
                </a:tc>
              </a:tr>
              <a:tr h="370850">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mAP@0.5</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75.07%</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在 IoU 閾值為 0.5 時的綜合偵測準確度</a:t>
                      </a:r>
                      <a:endParaRPr sz="1800" u="none" cap="none" strike="noStrike"/>
                    </a:p>
                  </a:txBody>
                  <a:tcPr marT="45725" marB="45725" marR="91450" marL="91450" anchor="ctr"/>
                </a:tc>
              </a:tr>
              <a:tr h="370850">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mAP@0.5:0.95</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51.46%</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更嚴格的綜合指標，展現模型在高重疊度要求下的穩定性</a:t>
                      </a:r>
                      <a:endParaRPr sz="1800" u="none" cap="none" strike="noStrike"/>
                    </a:p>
                  </a:txBody>
                  <a:tcPr marT="45725" marB="45725" marR="91450" marL="91450" anchor="ctr"/>
                </a:tc>
              </a:tr>
            </a:tbl>
          </a:graphicData>
        </a:graphic>
      </p:graphicFrame>
      <p:sp>
        <p:nvSpPr>
          <p:cNvPr id="316" name="Google Shape;316;p27"/>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sp>
        <p:nvSpPr>
          <p:cNvPr id="317" name="Google Shape;317;p27"/>
          <p:cNvSpPr txBox="1"/>
          <p:nvPr/>
        </p:nvSpPr>
        <p:spPr>
          <a:xfrm>
            <a:off x="4719484" y="1610032"/>
            <a:ext cx="60960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Lustria"/>
                <a:ea typeface="Lustria"/>
                <a:cs typeface="Lustria"/>
                <a:sym typeface="Lustria"/>
              </a:rPr>
              <a:t>11.yolo的介紹表格要解釋參數用意，還要特寫使用的是哪個模型 </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Lustria"/>
              <a:ea typeface="Lustria"/>
              <a:cs typeface="Lustria"/>
              <a:sym typeface="Lustria"/>
            </a:endParaRPr>
          </a:p>
        </p:txBody>
      </p:sp>
      <p:sp>
        <p:nvSpPr>
          <p:cNvPr id="318" name="Google Shape;318;p27"/>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2" name="Shape 322"/>
        <p:cNvGrpSpPr/>
        <p:nvPr/>
      </p:nvGrpSpPr>
      <p:grpSpPr>
        <a:xfrm>
          <a:off x="0" y="0"/>
          <a:ext cx="0" cy="0"/>
          <a:chOff x="0" y="0"/>
          <a:chExt cx="0" cy="0"/>
        </a:xfrm>
      </p:grpSpPr>
      <p:sp>
        <p:nvSpPr>
          <p:cNvPr id="323" name="Google Shape;323;p28"/>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5-3.YOLO</a:t>
            </a:r>
            <a:r>
              <a:rPr b="1" lang="en-US" cap="none">
                <a:latin typeface="PMingLiU"/>
                <a:ea typeface="PMingLiU"/>
                <a:cs typeface="PMingLiU"/>
                <a:sym typeface="PMingLiU"/>
              </a:rPr>
              <a:t>v</a:t>
            </a:r>
            <a:r>
              <a:rPr b="1" lang="en-US">
                <a:latin typeface="PMingLiU"/>
                <a:ea typeface="PMingLiU"/>
                <a:cs typeface="PMingLiU"/>
                <a:sym typeface="PMingLiU"/>
              </a:rPr>
              <a:t>10-</a:t>
            </a:r>
            <a:r>
              <a:rPr b="1" lang="en-US" cap="none">
                <a:latin typeface="PMingLiU"/>
                <a:ea typeface="PMingLiU"/>
                <a:cs typeface="PMingLiU"/>
                <a:sym typeface="PMingLiU"/>
              </a:rPr>
              <a:t>s</a:t>
            </a:r>
            <a:r>
              <a:rPr b="1" lang="en-US">
                <a:latin typeface="PMingLiU"/>
                <a:ea typeface="PMingLiU"/>
                <a:cs typeface="PMingLiU"/>
                <a:sym typeface="PMingLiU"/>
              </a:rPr>
              <a:t> 模型訓練標籤分布圖</a:t>
            </a:r>
            <a:endParaRPr b="1">
              <a:latin typeface="PMingLiU"/>
              <a:ea typeface="PMingLiU"/>
              <a:cs typeface="PMingLiU"/>
              <a:sym typeface="PMingLiU"/>
            </a:endParaRPr>
          </a:p>
        </p:txBody>
      </p:sp>
      <p:sp>
        <p:nvSpPr>
          <p:cNvPr id="324" name="Google Shape;324;p28"/>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pic>
        <p:nvPicPr>
          <p:cNvPr descr="一張含有 文字, 螢幕擷取畫面 的圖片&#10;&#10;AI 產生的內容可能不正確。" id="325" name="Google Shape;325;p28"/>
          <p:cNvPicPr preferRelativeResize="0"/>
          <p:nvPr>
            <p:ph idx="1" type="body"/>
          </p:nvPr>
        </p:nvPicPr>
        <p:blipFill rotWithShape="1">
          <a:blip r:embed="rId3">
            <a:alphaModFix/>
          </a:blip>
          <a:srcRect b="0" l="0" r="0" t="0"/>
          <a:stretch/>
        </p:blipFill>
        <p:spPr>
          <a:xfrm>
            <a:off x="904327" y="1715057"/>
            <a:ext cx="4292984" cy="4292984"/>
          </a:xfrm>
          <a:prstGeom prst="rect">
            <a:avLst/>
          </a:prstGeom>
          <a:noFill/>
          <a:ln>
            <a:noFill/>
          </a:ln>
          <a:effectLst>
            <a:outerShdw blurRad="292100" rotWithShape="0" algn="tl" dir="2700000" dist="139700">
              <a:srgbClr val="333333">
                <a:alpha val="65098"/>
              </a:srgbClr>
            </a:outerShdw>
          </a:effectLst>
        </p:spPr>
      </p:pic>
      <p:pic>
        <p:nvPicPr>
          <p:cNvPr descr="一張含有 文字, 圖表, Rectangle, 螢幕擷取畫面 的圖片&#10;&#10;AI 產生的內容可能不正確。" id="326" name="Google Shape;326;p28"/>
          <p:cNvPicPr preferRelativeResize="0"/>
          <p:nvPr/>
        </p:nvPicPr>
        <p:blipFill rotWithShape="1">
          <a:blip r:embed="rId4">
            <a:alphaModFix/>
          </a:blip>
          <a:srcRect b="0" l="0" r="0" t="0"/>
          <a:stretch/>
        </p:blipFill>
        <p:spPr>
          <a:xfrm>
            <a:off x="6096000" y="1718527"/>
            <a:ext cx="4285510" cy="4285509"/>
          </a:xfrm>
          <a:prstGeom prst="rect">
            <a:avLst/>
          </a:prstGeom>
          <a:noFill/>
          <a:ln>
            <a:noFill/>
          </a:ln>
          <a:effectLst>
            <a:outerShdw blurRad="292100" rotWithShape="0" algn="tl" dir="2700000" dist="139700">
              <a:srgbClr val="333333">
                <a:alpha val="65098"/>
              </a:srgbClr>
            </a:outerShdw>
          </a:effectLst>
        </p:spPr>
      </p:pic>
      <p:sp>
        <p:nvSpPr>
          <p:cNvPr id="327" name="Google Shape;327;p28"/>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1" name="Shape 331"/>
        <p:cNvGrpSpPr/>
        <p:nvPr/>
      </p:nvGrpSpPr>
      <p:grpSpPr>
        <a:xfrm>
          <a:off x="0" y="0"/>
          <a:ext cx="0" cy="0"/>
          <a:chOff x="0" y="0"/>
          <a:chExt cx="0" cy="0"/>
        </a:xfrm>
      </p:grpSpPr>
      <p:sp>
        <p:nvSpPr>
          <p:cNvPr id="332" name="Google Shape;332;p29"/>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sp>
        <p:nvSpPr>
          <p:cNvPr id="333" name="Google Shape;333;p29"/>
          <p:cNvSpPr txBox="1"/>
          <p:nvPr>
            <p:ph idx="1" type="body"/>
          </p:nvPr>
        </p:nvSpPr>
        <p:spPr>
          <a:xfrm>
            <a:off x="692468" y="1718945"/>
            <a:ext cx="10662920" cy="3136265"/>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800"/>
              <a:buNone/>
            </a:pPr>
            <a:r>
              <a:rPr b="1" lang="en-US" sz="2800">
                <a:latin typeface="PMingLiU"/>
                <a:ea typeface="PMingLiU"/>
                <a:cs typeface="PMingLiU"/>
                <a:sym typeface="PMingLiU"/>
              </a:rPr>
              <a:t>使用模型：</a:t>
            </a:r>
            <a:r>
              <a:rPr lang="en-US" sz="2800">
                <a:latin typeface="PMingLiU"/>
                <a:ea typeface="PMingLiU"/>
                <a:cs typeface="PMingLiU"/>
                <a:sym typeface="PMingLiU"/>
              </a:rPr>
              <a:t> </a:t>
            </a:r>
            <a:r>
              <a:rPr lang="en-US" sz="2400">
                <a:latin typeface="PMingLiU"/>
                <a:ea typeface="PMingLiU"/>
                <a:cs typeface="PMingLiU"/>
                <a:sym typeface="PMingLiU"/>
              </a:rPr>
              <a:t>FakeFormer (2024 的 Deepfake 檢測模型) </a:t>
            </a:r>
            <a:endParaRPr sz="2400">
              <a:latin typeface="PMingLiU"/>
              <a:ea typeface="PMingLiU"/>
              <a:cs typeface="PMingLiU"/>
              <a:sym typeface="PMingLiU"/>
            </a:endParaRPr>
          </a:p>
          <a:p>
            <a:pPr indent="0" lvl="0" marL="0" rtl="0" algn="l">
              <a:lnSpc>
                <a:spcPct val="150000"/>
              </a:lnSpc>
              <a:spcBef>
                <a:spcPts val="1000"/>
              </a:spcBef>
              <a:spcAft>
                <a:spcPts val="0"/>
              </a:spcAft>
              <a:buClr>
                <a:schemeClr val="dk1"/>
              </a:buClr>
              <a:buSzPts val="2800"/>
              <a:buNone/>
            </a:pPr>
            <a:r>
              <a:rPr b="1" lang="en-US" sz="2800">
                <a:latin typeface="PMingLiU"/>
                <a:ea typeface="PMingLiU"/>
                <a:cs typeface="PMingLiU"/>
                <a:sym typeface="PMingLiU"/>
              </a:rPr>
              <a:t>模組定位：</a:t>
            </a:r>
            <a:r>
              <a:rPr lang="en-US" sz="2800">
                <a:latin typeface="PMingLiU"/>
                <a:ea typeface="PMingLiU"/>
                <a:cs typeface="PMingLiU"/>
                <a:sym typeface="PMingLiU"/>
              </a:rPr>
              <a:t> </a:t>
            </a:r>
            <a:r>
              <a:rPr lang="en-US" sz="2400">
                <a:latin typeface="PMingLiU"/>
                <a:ea typeface="PMingLiU"/>
                <a:cs typeface="PMingLiU"/>
                <a:sym typeface="PMingLiU"/>
              </a:rPr>
              <a:t>接收第一階段 YOLOv10-s 擷取的人臉影像來進行真偽判斷 </a:t>
            </a:r>
            <a:endParaRPr sz="2400">
              <a:latin typeface="PMingLiU"/>
              <a:ea typeface="PMingLiU"/>
              <a:cs typeface="PMingLiU"/>
              <a:sym typeface="PMingLiU"/>
            </a:endParaRPr>
          </a:p>
        </p:txBody>
      </p:sp>
      <p:sp>
        <p:nvSpPr>
          <p:cNvPr id="334" name="Google Shape;334;p29"/>
          <p:cNvSpPr txBox="1"/>
          <p:nvPr/>
        </p:nvSpPr>
        <p:spPr>
          <a:xfrm>
            <a:off x="690880" y="1010920"/>
            <a:ext cx="609600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PMingLiU"/>
                <a:ea typeface="PMingLiU"/>
                <a:cs typeface="PMingLiU"/>
                <a:sym typeface="PMingLiU"/>
              </a:rPr>
              <a:t>6.Deepfake檢測模組</a:t>
            </a:r>
            <a:endParaRPr b="0" i="0" sz="1800" u="none" cap="none" strike="noStrike">
              <a:solidFill>
                <a:schemeClr val="dk1"/>
              </a:solidFill>
              <a:latin typeface="PMingLiU"/>
              <a:ea typeface="PMingLiU"/>
              <a:cs typeface="PMingLiU"/>
              <a:sym typeface="PMingLiU"/>
            </a:endParaRPr>
          </a:p>
        </p:txBody>
      </p:sp>
      <p:sp>
        <p:nvSpPr>
          <p:cNvPr id="335" name="Google Shape;335;p29"/>
          <p:cNvSpPr txBox="1"/>
          <p:nvPr/>
        </p:nvSpPr>
        <p:spPr>
          <a:xfrm>
            <a:off x="690880" y="5003965"/>
            <a:ext cx="8934573"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highlight>
                  <a:srgbClr val="FFFFFF"/>
                </a:highlight>
                <a:latin typeface="Lustria"/>
                <a:ea typeface="Lustria"/>
                <a:cs typeface="Lustria"/>
                <a:sym typeface="Lustria"/>
              </a:rPr>
              <a:t>[2]“FakeFormer: Efficient Vulnerability-Driven Transformers for Generalisable Deepfake Detection”</a:t>
            </a:r>
            <a:endParaRPr b="0" i="0" sz="1600" u="none" cap="none" strike="noStrike">
              <a:solidFill>
                <a:schemeClr val="dk1"/>
              </a:solidFill>
              <a:latin typeface="Lustria"/>
              <a:ea typeface="Lustria"/>
              <a:cs typeface="Lustria"/>
              <a:sym typeface="Lustri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highlight>
                  <a:srgbClr val="FFFFFF"/>
                </a:highlight>
                <a:latin typeface="Lustria"/>
                <a:ea typeface="Lustria"/>
                <a:cs typeface="Lustria"/>
                <a:sym typeface="Lustria"/>
              </a:rPr>
              <a:t>Dat Nguyen, Marcella Astrid, Enjie Ghorbel, Djamila Aouada,</a:t>
            </a:r>
            <a:endParaRPr b="0" i="0" sz="1600" u="none" cap="none" strike="noStrike">
              <a:solidFill>
                <a:schemeClr val="dk1"/>
              </a:solidFill>
              <a:latin typeface="Lustria"/>
              <a:ea typeface="Lustria"/>
              <a:cs typeface="Lustria"/>
              <a:sym typeface="Lustri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highlight>
                  <a:srgbClr val="FFFFFF"/>
                </a:highlight>
                <a:latin typeface="Lustria"/>
                <a:ea typeface="Lustria"/>
                <a:cs typeface="Lustria"/>
                <a:sym typeface="Lustria"/>
              </a:rPr>
              <a:t>Tue, 29 Oct 2024 11:36:49 UTC</a:t>
            </a:r>
            <a:endParaRPr b="0" i="0" sz="1600" u="none" cap="none" strike="noStrike">
              <a:solidFill>
                <a:schemeClr val="dk1"/>
              </a:solidFill>
              <a:latin typeface="Lustria"/>
              <a:ea typeface="Lustria"/>
              <a:cs typeface="Lustria"/>
              <a:sym typeface="Lustri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highlight>
                  <a:srgbClr val="FFFFFF"/>
                </a:highlight>
                <a:latin typeface="Lustria"/>
                <a:ea typeface="Lustria"/>
                <a:cs typeface="Lustria"/>
                <a:sym typeface="Lustria"/>
              </a:rPr>
              <a:t>https://arxiv.org/abs/2410.21964</a:t>
            </a:r>
            <a:endParaRPr b="0" i="0" sz="1600" u="none" cap="none" strike="noStrike">
              <a:solidFill>
                <a:schemeClr val="dk1"/>
              </a:solidFill>
              <a:latin typeface="Lustria"/>
              <a:ea typeface="Lustria"/>
              <a:cs typeface="Lustria"/>
              <a:sym typeface="Lustria"/>
            </a:endParaRPr>
          </a:p>
        </p:txBody>
      </p:sp>
      <p:sp>
        <p:nvSpPr>
          <p:cNvPr id="336" name="Google Shape;336;p29"/>
          <p:cNvSpPr txBox="1"/>
          <p:nvPr/>
        </p:nvSpPr>
        <p:spPr>
          <a:xfrm>
            <a:off x="6046839" y="404351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Arial"/>
                <a:ea typeface="Arial"/>
                <a:cs typeface="Arial"/>
                <a:sym typeface="Arial"/>
              </a:rPr>
              <a:t>8.介紹模組時可以在旁邊把一個架構圖來提醒 </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ustria"/>
              <a:ea typeface="Lustria"/>
              <a:cs typeface="Lustria"/>
              <a:sym typeface="Lustria"/>
            </a:endParaRPr>
          </a:p>
        </p:txBody>
      </p:sp>
      <p:sp>
        <p:nvSpPr>
          <p:cNvPr id="337" name="Google Shape;337;p29"/>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1" name="Shape 341"/>
        <p:cNvGrpSpPr/>
        <p:nvPr/>
      </p:nvGrpSpPr>
      <p:grpSpPr>
        <a:xfrm>
          <a:off x="0" y="0"/>
          <a:ext cx="0" cy="0"/>
          <a:chOff x="0" y="0"/>
          <a:chExt cx="0" cy="0"/>
        </a:xfrm>
      </p:grpSpPr>
      <p:pic>
        <p:nvPicPr>
          <p:cNvPr descr="一張含有 圓形, 圖形, 設計 的圖片&#10;&#10;AI 產生的內容可能不正確。" id="342" name="Google Shape;342;p30"/>
          <p:cNvPicPr preferRelativeResize="0"/>
          <p:nvPr/>
        </p:nvPicPr>
        <p:blipFill rotWithShape="1">
          <a:blip r:embed="rId3">
            <a:alphaModFix/>
          </a:blip>
          <a:srcRect b="0" l="0" r="0" t="0"/>
          <a:stretch/>
        </p:blipFill>
        <p:spPr>
          <a:xfrm>
            <a:off x="7906385" y="825500"/>
            <a:ext cx="3856990" cy="3835400"/>
          </a:xfrm>
          <a:prstGeom prst="rect">
            <a:avLst/>
          </a:prstGeom>
          <a:noFill/>
          <a:ln>
            <a:noFill/>
          </a:ln>
        </p:spPr>
      </p:pic>
      <p:sp>
        <p:nvSpPr>
          <p:cNvPr id="343" name="Google Shape;343;p30"/>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cap="none">
                <a:latin typeface="PMingLiU"/>
                <a:ea typeface="PMingLiU"/>
                <a:cs typeface="PMingLiU"/>
                <a:sym typeface="PMingLiU"/>
              </a:rPr>
              <a:t>6-1.DataSet</a:t>
            </a:r>
            <a:endParaRPr/>
          </a:p>
        </p:txBody>
      </p:sp>
      <p:sp>
        <p:nvSpPr>
          <p:cNvPr id="344" name="Google Shape;344;p30"/>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sp>
        <p:nvSpPr>
          <p:cNvPr id="345" name="Google Shape;345;p30"/>
          <p:cNvSpPr txBox="1"/>
          <p:nvPr/>
        </p:nvSpPr>
        <p:spPr>
          <a:xfrm>
            <a:off x="696248" y="1420482"/>
            <a:ext cx="904719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PMingLiU"/>
                <a:ea typeface="PMingLiU"/>
                <a:cs typeface="PMingLiU"/>
                <a:sym typeface="PMingLiU"/>
              </a:rPr>
              <a:t>FaceForensics++(c23)</a:t>
            </a:r>
            <a:endParaRPr b="0" i="0" sz="1400" u="none" cap="none" strike="noStrike">
              <a:solidFill>
                <a:srgbClr val="000000"/>
              </a:solidFill>
              <a:latin typeface="Arial"/>
              <a:ea typeface="Arial"/>
              <a:cs typeface="Arial"/>
              <a:sym typeface="Arial"/>
            </a:endParaRPr>
          </a:p>
        </p:txBody>
      </p:sp>
      <p:sp>
        <p:nvSpPr>
          <p:cNvPr id="346" name="Google Shape;346;p30"/>
          <p:cNvSpPr txBox="1"/>
          <p:nvPr/>
        </p:nvSpPr>
        <p:spPr>
          <a:xfrm>
            <a:off x="701040" y="2892097"/>
            <a:ext cx="6969760" cy="279736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2400"/>
              <a:buFont typeface="Arial"/>
              <a:buChar char="•"/>
            </a:pPr>
            <a:r>
              <a:rPr b="1" i="0" lang="en-US" sz="2400" u="none" cap="none" strike="noStrike">
                <a:solidFill>
                  <a:srgbClr val="000000"/>
                </a:solidFill>
                <a:latin typeface="PMingLiU"/>
                <a:ea typeface="PMingLiU"/>
                <a:cs typeface="PMingLiU"/>
                <a:sym typeface="PMingLiU"/>
              </a:rPr>
              <a:t>Original：</a:t>
            </a:r>
            <a:r>
              <a:rPr b="0" i="0" lang="en-US" sz="2400" u="none" cap="none" strike="noStrike">
                <a:solidFill>
                  <a:srgbClr val="000000"/>
                </a:solidFill>
                <a:latin typeface="PMingLiU"/>
                <a:ea typeface="PMingLiU"/>
                <a:cs typeface="PMingLiU"/>
                <a:sym typeface="PMingLiU"/>
              </a:rPr>
              <a:t>沒有被修改過的臉部</a:t>
            </a:r>
            <a:endParaRPr b="0" i="0" sz="2400" u="none" cap="none" strike="noStrike">
              <a:solidFill>
                <a:srgbClr val="000000"/>
              </a:solidFill>
              <a:latin typeface="PMingLiU"/>
              <a:ea typeface="PMingLiU"/>
              <a:cs typeface="PMingLiU"/>
              <a:sym typeface="PMingLiU"/>
            </a:endParaRPr>
          </a:p>
          <a:p>
            <a:pPr indent="-285750" lvl="0" marL="285750" marR="0" rtl="0" algn="l">
              <a:lnSpc>
                <a:spcPct val="150000"/>
              </a:lnSpc>
              <a:spcBef>
                <a:spcPts val="0"/>
              </a:spcBef>
              <a:spcAft>
                <a:spcPts val="0"/>
              </a:spcAft>
              <a:buClr>
                <a:srgbClr val="000000"/>
              </a:buClr>
              <a:buSzPts val="2400"/>
              <a:buFont typeface="Arial"/>
              <a:buChar char="•"/>
            </a:pPr>
            <a:r>
              <a:rPr b="1" i="0" lang="en-US" sz="2400" u="none" cap="none" strike="noStrike">
                <a:solidFill>
                  <a:srgbClr val="000000"/>
                </a:solidFill>
                <a:latin typeface="PMingLiU"/>
                <a:ea typeface="PMingLiU"/>
                <a:cs typeface="PMingLiU"/>
                <a:sym typeface="PMingLiU"/>
              </a:rPr>
              <a:t>Deepfakes：</a:t>
            </a:r>
            <a:r>
              <a:rPr b="0" i="0" lang="en-US" sz="2400" u="none" cap="none" strike="noStrike">
                <a:solidFill>
                  <a:srgbClr val="000000"/>
                </a:solidFill>
                <a:latin typeface="PMingLiU"/>
                <a:ea typeface="PMingLiU"/>
                <a:cs typeface="PMingLiU"/>
                <a:sym typeface="PMingLiU"/>
              </a:rPr>
              <a:t>把整張臉換成另一個人</a:t>
            </a:r>
            <a:endParaRPr b="0" i="0" sz="1800" u="none" cap="none" strike="noStrike">
              <a:solidFill>
                <a:schemeClr val="dk1"/>
              </a:solidFill>
              <a:latin typeface="PMingLiU"/>
              <a:ea typeface="PMingLiU"/>
              <a:cs typeface="PMingLiU"/>
              <a:sym typeface="PMingLiU"/>
            </a:endParaRPr>
          </a:p>
          <a:p>
            <a:pPr indent="-285750" lvl="0" marL="285750" marR="0" rtl="0" algn="l">
              <a:lnSpc>
                <a:spcPct val="150000"/>
              </a:lnSpc>
              <a:spcBef>
                <a:spcPts val="0"/>
              </a:spcBef>
              <a:spcAft>
                <a:spcPts val="0"/>
              </a:spcAft>
              <a:buClr>
                <a:srgbClr val="000000"/>
              </a:buClr>
              <a:buSzPts val="2400"/>
              <a:buFont typeface="Arial"/>
              <a:buChar char="•"/>
            </a:pPr>
            <a:r>
              <a:rPr b="1" i="0" lang="en-US" sz="2400" u="none" cap="none" strike="noStrike">
                <a:solidFill>
                  <a:srgbClr val="000000"/>
                </a:solidFill>
                <a:latin typeface="PMingLiU"/>
                <a:ea typeface="PMingLiU"/>
                <a:cs typeface="PMingLiU"/>
                <a:sym typeface="PMingLiU"/>
              </a:rPr>
              <a:t>Face2Face</a:t>
            </a:r>
            <a:r>
              <a:rPr b="0" i="0" lang="en-US" sz="2400" u="none" cap="none" strike="noStrike">
                <a:solidFill>
                  <a:srgbClr val="000000"/>
                </a:solidFill>
                <a:latin typeface="PMingLiU"/>
                <a:ea typeface="PMingLiU"/>
                <a:cs typeface="PMingLiU"/>
                <a:sym typeface="PMingLiU"/>
              </a:rPr>
              <a:t>：你的臉，但你的表情被別人控制</a:t>
            </a:r>
            <a:endParaRPr b="0" i="0" sz="1800" u="none" cap="none" strike="noStrike">
              <a:solidFill>
                <a:schemeClr val="dk1"/>
              </a:solidFill>
              <a:latin typeface="PMingLiU"/>
              <a:ea typeface="PMingLiU"/>
              <a:cs typeface="PMingLiU"/>
              <a:sym typeface="PMingLiU"/>
            </a:endParaRPr>
          </a:p>
          <a:p>
            <a:pPr indent="-285750" lvl="0" marL="285750" marR="0" rtl="0" algn="l">
              <a:lnSpc>
                <a:spcPct val="150000"/>
              </a:lnSpc>
              <a:spcBef>
                <a:spcPts val="0"/>
              </a:spcBef>
              <a:spcAft>
                <a:spcPts val="0"/>
              </a:spcAft>
              <a:buClr>
                <a:srgbClr val="000000"/>
              </a:buClr>
              <a:buSzPts val="2400"/>
              <a:buFont typeface="Arial"/>
              <a:buChar char="•"/>
            </a:pPr>
            <a:r>
              <a:rPr b="1" i="0" lang="en-US" sz="2400" u="none" cap="none" strike="noStrike">
                <a:solidFill>
                  <a:srgbClr val="000000"/>
                </a:solidFill>
                <a:latin typeface="PMingLiU"/>
                <a:ea typeface="PMingLiU"/>
                <a:cs typeface="PMingLiU"/>
                <a:sym typeface="PMingLiU"/>
              </a:rPr>
              <a:t>FaceSwap：</a:t>
            </a:r>
            <a:r>
              <a:rPr b="0" i="0" lang="en-US" sz="2400" u="none" cap="none" strike="noStrike">
                <a:solidFill>
                  <a:srgbClr val="000000"/>
                </a:solidFill>
                <a:latin typeface="PMingLiU"/>
                <a:ea typeface="PMingLiU"/>
                <a:cs typeface="PMingLiU"/>
                <a:sym typeface="PMingLiU"/>
              </a:rPr>
              <a:t>直接把一張臉貼到另一個人頭上</a:t>
            </a:r>
            <a:endParaRPr b="0" i="0" sz="2400" u="none" cap="none" strike="noStrike">
              <a:solidFill>
                <a:schemeClr val="dk1"/>
              </a:solidFill>
              <a:latin typeface="PMingLiU"/>
              <a:ea typeface="PMingLiU"/>
              <a:cs typeface="PMingLiU"/>
              <a:sym typeface="PMingLiU"/>
            </a:endParaRPr>
          </a:p>
          <a:p>
            <a:pPr indent="-285750" lvl="0" marL="285750" marR="0" rtl="0" algn="l">
              <a:lnSpc>
                <a:spcPct val="150000"/>
              </a:lnSpc>
              <a:spcBef>
                <a:spcPts val="0"/>
              </a:spcBef>
              <a:spcAft>
                <a:spcPts val="0"/>
              </a:spcAft>
              <a:buClr>
                <a:srgbClr val="000000"/>
              </a:buClr>
              <a:buSzPts val="2400"/>
              <a:buFont typeface="Arial"/>
              <a:buChar char="•"/>
            </a:pPr>
            <a:r>
              <a:rPr b="1" i="0" lang="en-US" sz="2400" u="none" cap="none" strike="noStrike">
                <a:solidFill>
                  <a:srgbClr val="000000"/>
                </a:solidFill>
                <a:latin typeface="PMingLiU"/>
                <a:ea typeface="PMingLiU"/>
                <a:cs typeface="PMingLiU"/>
                <a:sym typeface="PMingLiU"/>
              </a:rPr>
              <a:t>NeuralTextures：</a:t>
            </a:r>
            <a:r>
              <a:rPr b="0" i="0" lang="en-US" sz="2400" u="none" cap="none" strike="noStrike">
                <a:solidFill>
                  <a:srgbClr val="000000"/>
                </a:solidFill>
                <a:latin typeface="PMingLiU"/>
                <a:ea typeface="PMingLiU"/>
                <a:cs typeface="PMingLiU"/>
                <a:sym typeface="PMingLiU"/>
              </a:rPr>
              <a:t>用 AI 重新生成一張超逼真的臉</a:t>
            </a:r>
            <a:endParaRPr b="0" i="0" sz="1800" u="none" cap="none" strike="noStrike">
              <a:solidFill>
                <a:schemeClr val="dk1"/>
              </a:solidFill>
              <a:latin typeface="PMingLiU"/>
              <a:ea typeface="PMingLiU"/>
              <a:cs typeface="PMingLiU"/>
              <a:sym typeface="PMingLiU"/>
            </a:endParaRPr>
          </a:p>
        </p:txBody>
      </p:sp>
      <p:sp>
        <p:nvSpPr>
          <p:cNvPr id="347" name="Google Shape;347;p30"/>
          <p:cNvSpPr txBox="1"/>
          <p:nvPr/>
        </p:nvSpPr>
        <p:spPr>
          <a:xfrm>
            <a:off x="696951" y="1997060"/>
            <a:ext cx="7461652" cy="11181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PMingLiU"/>
                <a:ea typeface="PMingLiU"/>
                <a:cs typeface="PMingLiU"/>
                <a:sym typeface="PMingLiU"/>
              </a:rPr>
              <a:t>FaceForensics++（FF++）是一個大規模影片資料集，專門用來研究人臉篡改（face manipulation）與偵測技術。</a:t>
            </a:r>
            <a:endParaRPr b="0" i="0" sz="2400" u="none" cap="none" strike="noStrike">
              <a:solidFill>
                <a:schemeClr val="dk1"/>
              </a:solidFill>
              <a:latin typeface="PMingLiU"/>
              <a:ea typeface="PMingLiU"/>
              <a:cs typeface="PMingLiU"/>
              <a:sym typeface="PMingLiU"/>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ustria"/>
              <a:ea typeface="Lustria"/>
              <a:cs typeface="Lustria"/>
              <a:sym typeface="Lustria"/>
            </a:endParaRPr>
          </a:p>
        </p:txBody>
      </p:sp>
      <p:sp>
        <p:nvSpPr>
          <p:cNvPr id="348" name="Google Shape;348;p30"/>
          <p:cNvSpPr txBox="1"/>
          <p:nvPr/>
        </p:nvSpPr>
        <p:spPr>
          <a:xfrm>
            <a:off x="7060172" y="5782436"/>
            <a:ext cx="5547486"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MingLiU"/>
                <a:ea typeface="PMingLiU"/>
                <a:cs typeface="PMingLiU"/>
                <a:sym typeface="PMingLiU"/>
              </a:rPr>
              <a:t>*註:Fake類別包含四種不同技術，每類1000段</a:t>
            </a:r>
            <a:endParaRPr b="0" i="0" sz="1800" u="none" cap="none" strike="noStrike">
              <a:solidFill>
                <a:schemeClr val="dk1"/>
              </a:solidFill>
              <a:latin typeface="Lustria"/>
              <a:ea typeface="Lustria"/>
              <a:cs typeface="Lustria"/>
              <a:sym typeface="Lustria"/>
            </a:endParaRPr>
          </a:p>
        </p:txBody>
      </p:sp>
      <p:pic>
        <p:nvPicPr>
          <p:cNvPr descr="一張含有 文字, 字型, 圖形, 印刷術 的圖片&#10;&#10;AI 產生的內容可能不正確。" id="349" name="Google Shape;349;p30"/>
          <p:cNvPicPr preferRelativeResize="0"/>
          <p:nvPr/>
        </p:nvPicPr>
        <p:blipFill rotWithShape="1">
          <a:blip r:embed="rId4">
            <a:alphaModFix/>
          </a:blip>
          <a:srcRect b="0" l="0" r="0" t="0"/>
          <a:stretch/>
        </p:blipFill>
        <p:spPr>
          <a:xfrm>
            <a:off x="8417877" y="4792980"/>
            <a:ext cx="2844165" cy="899160"/>
          </a:xfrm>
          <a:prstGeom prst="rect">
            <a:avLst/>
          </a:prstGeom>
          <a:noFill/>
          <a:ln>
            <a:noFill/>
          </a:ln>
        </p:spPr>
      </p:pic>
      <p:sp>
        <p:nvSpPr>
          <p:cNvPr id="350" name="Google Shape;350;p30"/>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4" name="Shape 354"/>
        <p:cNvGrpSpPr/>
        <p:nvPr/>
      </p:nvGrpSpPr>
      <p:grpSpPr>
        <a:xfrm>
          <a:off x="0" y="0"/>
          <a:ext cx="0" cy="0"/>
          <a:chOff x="0" y="0"/>
          <a:chExt cx="0" cy="0"/>
        </a:xfrm>
      </p:grpSpPr>
      <p:sp>
        <p:nvSpPr>
          <p:cNvPr id="355" name="Google Shape;355;p31"/>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cap="none">
                <a:latin typeface="PMingLiU"/>
                <a:ea typeface="PMingLiU"/>
                <a:cs typeface="PMingLiU"/>
                <a:sym typeface="PMingLiU"/>
              </a:rPr>
              <a:t>6-1.DataSet</a:t>
            </a:r>
            <a:endParaRPr/>
          </a:p>
        </p:txBody>
      </p:sp>
      <p:sp>
        <p:nvSpPr>
          <p:cNvPr id="356" name="Google Shape;356;p31"/>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sp>
        <p:nvSpPr>
          <p:cNvPr id="357" name="Google Shape;357;p31"/>
          <p:cNvSpPr txBox="1"/>
          <p:nvPr/>
        </p:nvSpPr>
        <p:spPr>
          <a:xfrm>
            <a:off x="696248" y="1512448"/>
            <a:ext cx="904719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Lustria"/>
                <a:ea typeface="Lustria"/>
                <a:cs typeface="Lustria"/>
                <a:sym typeface="Lustria"/>
              </a:rPr>
              <a:t>Celeb-DF (v2)</a:t>
            </a:r>
            <a:endParaRPr b="0" i="0" sz="3200" u="none" cap="none" strike="noStrike">
              <a:solidFill>
                <a:schemeClr val="dk1"/>
              </a:solidFill>
              <a:latin typeface="Lustria"/>
              <a:ea typeface="Lustria"/>
              <a:cs typeface="Lustria"/>
              <a:sym typeface="Lustria"/>
            </a:endParaRPr>
          </a:p>
        </p:txBody>
      </p:sp>
      <p:sp>
        <p:nvSpPr>
          <p:cNvPr id="358" name="Google Shape;358;p31"/>
          <p:cNvSpPr txBox="1"/>
          <p:nvPr/>
        </p:nvSpPr>
        <p:spPr>
          <a:xfrm>
            <a:off x="802054" y="1997060"/>
            <a:ext cx="10115515" cy="3536033"/>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latin typeface="PMingLiU"/>
                <a:ea typeface="PMingLiU"/>
                <a:cs typeface="PMingLiU"/>
                <a:sym typeface="PMingLiU"/>
              </a:rPr>
              <a:t>資料集內容：</a:t>
            </a:r>
            <a:r>
              <a:rPr b="0" i="0" lang="en-US" sz="2400" u="none" cap="none" strike="noStrike">
                <a:solidFill>
                  <a:schemeClr val="dk1"/>
                </a:solidFill>
                <a:highlight>
                  <a:srgbClr val="FFFFFF"/>
                </a:highlight>
                <a:latin typeface="PMingLiU"/>
                <a:ea typeface="PMingLiU"/>
                <a:cs typeface="PMingLiU"/>
                <a:sym typeface="PMingLiU"/>
              </a:rPr>
              <a:t>Celeb-DF (v2) 資料集包含真實影片和深度偽造合成影片，目前 Celeb-DF 已包含 590 個從 YouTube 收集的原始影片，涵蓋不同年齡、種族和性別的人物，以及 5639 個對應的深度偽造影片。</a:t>
            </a:r>
            <a:endParaRPr b="0" i="0" sz="1800" u="none" cap="none" strike="noStrike">
              <a:solidFill>
                <a:schemeClr val="dk1"/>
              </a:solidFill>
              <a:latin typeface="Lustria"/>
              <a:ea typeface="Lustria"/>
              <a:cs typeface="Lustria"/>
              <a:sym typeface="Lustria"/>
            </a:endParaRPr>
          </a:p>
          <a:p>
            <a:pPr indent="-457200" lvl="0" marL="45720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highlight>
                  <a:srgbClr val="FFFFFF"/>
                </a:highlight>
                <a:latin typeface="PMingLiU"/>
                <a:ea typeface="PMingLiU"/>
                <a:cs typeface="PMingLiU"/>
                <a:sym typeface="PMingLiU"/>
              </a:rPr>
              <a:t>資料集價值：</a:t>
            </a:r>
            <a:r>
              <a:rPr b="0" i="0" lang="en-US" sz="2400" u="none" cap="none" strike="noStrike">
                <a:solidFill>
                  <a:schemeClr val="dk1"/>
                </a:solidFill>
                <a:highlight>
                  <a:srgbClr val="FFFFFF"/>
                </a:highlight>
                <a:latin typeface="PMingLiU"/>
                <a:ea typeface="PMingLiU"/>
                <a:cs typeface="PMingLiU"/>
                <a:sym typeface="PMingLiU"/>
              </a:rPr>
              <a:t>主要用於測試模型對「高解析度」與「複雜光影」下的真偽辨識能力，能有效區分模型是否過度擬合（Overfitting）於低品質的實驗室數據。</a:t>
            </a:r>
            <a:endParaRPr b="0" i="0" sz="2400" u="none" cap="none" strike="noStrike">
              <a:solidFill>
                <a:schemeClr val="dk1"/>
              </a:solidFill>
              <a:highlight>
                <a:srgbClr val="FFFFFF"/>
              </a:highlight>
              <a:latin typeface="PMingLiU"/>
              <a:ea typeface="PMingLiU"/>
              <a:cs typeface="PMingLiU"/>
              <a:sym typeface="PMingLiU"/>
            </a:endParaRPr>
          </a:p>
        </p:txBody>
      </p:sp>
      <p:sp>
        <p:nvSpPr>
          <p:cNvPr id="359" name="Google Shape;359;p31"/>
          <p:cNvSpPr txBox="1"/>
          <p:nvPr/>
        </p:nvSpPr>
        <p:spPr>
          <a:xfrm>
            <a:off x="3441290" y="5321710"/>
            <a:ext cx="60960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Lustria"/>
                <a:ea typeface="Lustria"/>
                <a:cs typeface="Lustria"/>
                <a:sym typeface="Lustria"/>
              </a:rPr>
              <a:t>12.資料集價值要重寫，還有在介紹資料集的數量時要清楚不能有誤差 </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Lustria"/>
              <a:ea typeface="Lustria"/>
              <a:cs typeface="Lustria"/>
              <a:sym typeface="Lustria"/>
            </a:endParaRPr>
          </a:p>
        </p:txBody>
      </p:sp>
      <p:sp>
        <p:nvSpPr>
          <p:cNvPr id="360" name="Google Shape;360;p31"/>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4" name="Shape 364"/>
        <p:cNvGrpSpPr/>
        <p:nvPr/>
      </p:nvGrpSpPr>
      <p:grpSpPr>
        <a:xfrm>
          <a:off x="0" y="0"/>
          <a:ext cx="0" cy="0"/>
          <a:chOff x="0" y="0"/>
          <a:chExt cx="0" cy="0"/>
        </a:xfrm>
      </p:grpSpPr>
      <p:sp>
        <p:nvSpPr>
          <p:cNvPr id="365" name="Google Shape;365;p32"/>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cap="none">
                <a:latin typeface="PMingLiU"/>
                <a:ea typeface="PMingLiU"/>
                <a:cs typeface="PMingLiU"/>
                <a:sym typeface="PMingLiU"/>
              </a:rPr>
              <a:t>6-1.DataSet</a:t>
            </a:r>
            <a:endParaRPr/>
          </a:p>
        </p:txBody>
      </p:sp>
      <p:sp>
        <p:nvSpPr>
          <p:cNvPr id="366" name="Google Shape;366;p32"/>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sp>
        <p:nvSpPr>
          <p:cNvPr id="367" name="Google Shape;367;p32"/>
          <p:cNvSpPr txBox="1"/>
          <p:nvPr/>
        </p:nvSpPr>
        <p:spPr>
          <a:xfrm>
            <a:off x="696248" y="1512448"/>
            <a:ext cx="904719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Lustria"/>
                <a:ea typeface="Lustria"/>
                <a:cs typeface="Lustria"/>
                <a:sym typeface="Lustria"/>
              </a:rPr>
              <a:t>DFDC</a:t>
            </a:r>
            <a:endParaRPr b="0" i="0" sz="3200" u="none" cap="none" strike="noStrike">
              <a:solidFill>
                <a:schemeClr val="dk1"/>
              </a:solidFill>
              <a:latin typeface="Lustria"/>
              <a:ea typeface="Lustria"/>
              <a:cs typeface="Lustria"/>
              <a:sym typeface="Lustria"/>
            </a:endParaRPr>
          </a:p>
        </p:txBody>
      </p:sp>
      <p:sp>
        <p:nvSpPr>
          <p:cNvPr id="368" name="Google Shape;368;p32"/>
          <p:cNvSpPr txBox="1"/>
          <p:nvPr/>
        </p:nvSpPr>
        <p:spPr>
          <a:xfrm>
            <a:off x="802054" y="1997060"/>
            <a:ext cx="10115515" cy="242803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latin typeface="PMingLiU"/>
                <a:ea typeface="PMingLiU"/>
                <a:cs typeface="PMingLiU"/>
                <a:sym typeface="PMingLiU"/>
              </a:rPr>
              <a:t>資料集內容：</a:t>
            </a:r>
            <a:r>
              <a:rPr b="0" i="0" lang="en-US" sz="2400" u="none" cap="none" strike="noStrike">
                <a:solidFill>
                  <a:schemeClr val="dk1"/>
                </a:solidFill>
                <a:highlight>
                  <a:srgbClr val="FFFFFF"/>
                </a:highlight>
                <a:latin typeface="PMingLiU"/>
                <a:ea typeface="PMingLiU"/>
                <a:cs typeface="PMingLiU"/>
                <a:sym typeface="PMingLiU"/>
              </a:rPr>
              <a:t>由 Facebook (Meta) 發起，包含超過 10 萬段影片。它是目前世界上「多樣性最高」的資料集。</a:t>
            </a:r>
            <a:endParaRPr b="0" i="0" sz="2400" u="none" cap="none" strike="noStrike">
              <a:solidFill>
                <a:schemeClr val="dk1"/>
              </a:solidFill>
              <a:highlight>
                <a:srgbClr val="FFFFFF"/>
              </a:highlight>
              <a:latin typeface="PMingLiU"/>
              <a:ea typeface="PMingLiU"/>
              <a:cs typeface="PMingLiU"/>
              <a:sym typeface="PMingLiU"/>
            </a:endParaRPr>
          </a:p>
          <a:p>
            <a:pPr indent="-457200" lvl="0" marL="45720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highlight>
                  <a:srgbClr val="FFFFFF"/>
                </a:highlight>
                <a:latin typeface="PMingLiU"/>
                <a:ea typeface="PMingLiU"/>
                <a:cs typeface="PMingLiU"/>
                <a:sym typeface="PMingLiU"/>
              </a:rPr>
              <a:t>資料集價值：</a:t>
            </a:r>
            <a:r>
              <a:rPr b="0" i="0" lang="en-US" sz="2400" u="none" cap="none" strike="noStrike">
                <a:solidFill>
                  <a:schemeClr val="dk1"/>
                </a:solidFill>
                <a:highlight>
                  <a:srgbClr val="FFFFFF"/>
                </a:highlight>
                <a:latin typeface="PMingLiU"/>
                <a:ea typeface="PMingLiU"/>
                <a:cs typeface="PMingLiU"/>
                <a:sym typeface="PMingLiU"/>
              </a:rPr>
              <a:t>影片中加入了隨機的背景雜訊、旋轉、縮放與不同壓縮比，模擬真實網路社群環境。</a:t>
            </a:r>
            <a:endParaRPr b="0" i="0" sz="2400" u="none" cap="none" strike="noStrike">
              <a:solidFill>
                <a:schemeClr val="dk1"/>
              </a:solidFill>
              <a:highlight>
                <a:srgbClr val="FFFFFF"/>
              </a:highlight>
              <a:latin typeface="PMingLiU"/>
              <a:ea typeface="PMingLiU"/>
              <a:cs typeface="PMingLiU"/>
              <a:sym typeface="PMingLiU"/>
            </a:endParaRPr>
          </a:p>
        </p:txBody>
      </p:sp>
      <p:sp>
        <p:nvSpPr>
          <p:cNvPr id="369" name="Google Shape;369;p32"/>
          <p:cNvSpPr txBox="1"/>
          <p:nvPr/>
        </p:nvSpPr>
        <p:spPr>
          <a:xfrm>
            <a:off x="1769806" y="5284839"/>
            <a:ext cx="60960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Lustria"/>
                <a:ea typeface="Lustria"/>
                <a:cs typeface="Lustria"/>
                <a:sym typeface="Lustria"/>
              </a:rPr>
              <a:t>12.資料集價值要重寫，還有在介紹資料集的數量時要清楚不能有誤差 </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Lustria"/>
              <a:ea typeface="Lustria"/>
              <a:cs typeface="Lustria"/>
              <a:sym typeface="Lustria"/>
            </a:endParaRPr>
          </a:p>
        </p:txBody>
      </p:sp>
      <p:sp>
        <p:nvSpPr>
          <p:cNvPr id="370" name="Google Shape;370;p32"/>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4" name="Shape 374"/>
        <p:cNvGrpSpPr/>
        <p:nvPr/>
      </p:nvGrpSpPr>
      <p:grpSpPr>
        <a:xfrm>
          <a:off x="0" y="0"/>
          <a:ext cx="0" cy="0"/>
          <a:chOff x="0" y="0"/>
          <a:chExt cx="0" cy="0"/>
        </a:xfrm>
      </p:grpSpPr>
      <p:sp>
        <p:nvSpPr>
          <p:cNvPr id="375" name="Google Shape;375;p33"/>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cap="none">
                <a:latin typeface="PMingLiU"/>
                <a:ea typeface="PMingLiU"/>
                <a:cs typeface="PMingLiU"/>
                <a:sym typeface="PMingLiU"/>
              </a:rPr>
              <a:t>6-1.DataSet</a:t>
            </a:r>
            <a:endParaRPr/>
          </a:p>
        </p:txBody>
      </p:sp>
      <p:sp>
        <p:nvSpPr>
          <p:cNvPr id="376" name="Google Shape;376;p33"/>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sp>
        <p:nvSpPr>
          <p:cNvPr id="377" name="Google Shape;377;p33"/>
          <p:cNvSpPr txBox="1"/>
          <p:nvPr/>
        </p:nvSpPr>
        <p:spPr>
          <a:xfrm>
            <a:off x="696248" y="1512448"/>
            <a:ext cx="904719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Lustria"/>
                <a:ea typeface="Lustria"/>
                <a:cs typeface="Lustria"/>
                <a:sym typeface="Lustria"/>
              </a:rPr>
              <a:t>DFD</a:t>
            </a:r>
            <a:endParaRPr b="0" i="0" sz="3200" u="none" cap="none" strike="noStrike">
              <a:solidFill>
                <a:schemeClr val="dk1"/>
              </a:solidFill>
              <a:latin typeface="Lustria"/>
              <a:ea typeface="Lustria"/>
              <a:cs typeface="Lustria"/>
              <a:sym typeface="Lustria"/>
            </a:endParaRPr>
          </a:p>
        </p:txBody>
      </p:sp>
      <p:sp>
        <p:nvSpPr>
          <p:cNvPr id="378" name="Google Shape;378;p33"/>
          <p:cNvSpPr txBox="1"/>
          <p:nvPr/>
        </p:nvSpPr>
        <p:spPr>
          <a:xfrm>
            <a:off x="802054" y="1997060"/>
            <a:ext cx="10115515" cy="298203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latin typeface="PMingLiU"/>
                <a:ea typeface="PMingLiU"/>
                <a:cs typeface="PMingLiU"/>
                <a:sym typeface="PMingLiU"/>
              </a:rPr>
              <a:t>資料集內容：</a:t>
            </a:r>
            <a:r>
              <a:rPr b="0" i="0" lang="en-US" sz="2400" u="none" cap="none" strike="noStrike">
                <a:solidFill>
                  <a:schemeClr val="dk1"/>
                </a:solidFill>
                <a:latin typeface="PMingLiU"/>
                <a:ea typeface="PMingLiU"/>
                <a:cs typeface="PMingLiU"/>
                <a:sym typeface="PMingLiU"/>
              </a:rPr>
              <a:t>Google x Jigsaw 合作開發 由 28 位自願演員在多種環境下拍攝，錄製了數百段原始影片，並利用多種主流深度偽造演算法，生成了 3,631 段高品質的偽造影片。</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latin typeface="PMingLiU"/>
                <a:ea typeface="PMingLiU"/>
                <a:cs typeface="PMingLiU"/>
                <a:sym typeface="PMingLiU"/>
              </a:rPr>
              <a:t>資料集價值：</a:t>
            </a:r>
            <a:r>
              <a:rPr b="0" i="0" lang="en-US" sz="2400" u="none" cap="none" strike="noStrike">
                <a:solidFill>
                  <a:schemeClr val="dk1"/>
                </a:solidFill>
                <a:latin typeface="PMingLiU"/>
                <a:ea typeface="PMingLiU"/>
                <a:cs typeface="PMingLiU"/>
                <a:sym typeface="PMingLiU"/>
              </a:rPr>
              <a:t>該資料集特別著重於臉部核心特徵例如:眼神、嘴形邊緣的局部高精度篡改。</a:t>
            </a:r>
            <a:endParaRPr b="0" i="0" sz="2400" u="none" cap="none" strike="noStrike">
              <a:solidFill>
                <a:schemeClr val="dk1"/>
              </a:solidFill>
              <a:latin typeface="PMingLiU"/>
              <a:ea typeface="PMingLiU"/>
              <a:cs typeface="PMingLiU"/>
              <a:sym typeface="PMingLiU"/>
            </a:endParaRPr>
          </a:p>
        </p:txBody>
      </p:sp>
      <p:sp>
        <p:nvSpPr>
          <p:cNvPr id="379" name="Google Shape;379;p33"/>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3" name="Shape 383"/>
        <p:cNvGrpSpPr/>
        <p:nvPr/>
      </p:nvGrpSpPr>
      <p:grpSpPr>
        <a:xfrm>
          <a:off x="0" y="0"/>
          <a:ext cx="0" cy="0"/>
          <a:chOff x="0" y="0"/>
          <a:chExt cx="0" cy="0"/>
        </a:xfrm>
      </p:grpSpPr>
      <p:sp>
        <p:nvSpPr>
          <p:cNvPr id="384" name="Google Shape;384;p34"/>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cap="none">
                <a:latin typeface="PMingLiU"/>
                <a:ea typeface="PMingLiU"/>
                <a:cs typeface="PMingLiU"/>
                <a:sym typeface="PMingLiU"/>
              </a:rPr>
              <a:t>6-1.DataSet</a:t>
            </a:r>
            <a:endParaRPr/>
          </a:p>
        </p:txBody>
      </p:sp>
      <p:sp>
        <p:nvSpPr>
          <p:cNvPr id="385" name="Google Shape;385;p34"/>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sp>
        <p:nvSpPr>
          <p:cNvPr id="386" name="Google Shape;386;p34"/>
          <p:cNvSpPr txBox="1"/>
          <p:nvPr/>
        </p:nvSpPr>
        <p:spPr>
          <a:xfrm>
            <a:off x="696248" y="1512448"/>
            <a:ext cx="904719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Lustria"/>
                <a:ea typeface="Lustria"/>
                <a:cs typeface="Lustria"/>
                <a:sym typeface="Lustria"/>
              </a:rPr>
              <a:t>DFDCP</a:t>
            </a:r>
            <a:endParaRPr b="0" i="0" sz="3200" u="none" cap="none" strike="noStrike">
              <a:solidFill>
                <a:schemeClr val="dk1"/>
              </a:solidFill>
              <a:latin typeface="Lustria"/>
              <a:ea typeface="Lustria"/>
              <a:cs typeface="Lustria"/>
              <a:sym typeface="Lustria"/>
            </a:endParaRPr>
          </a:p>
        </p:txBody>
      </p:sp>
      <p:sp>
        <p:nvSpPr>
          <p:cNvPr id="387" name="Google Shape;387;p34"/>
          <p:cNvSpPr txBox="1"/>
          <p:nvPr/>
        </p:nvSpPr>
        <p:spPr>
          <a:xfrm>
            <a:off x="802054" y="1997060"/>
            <a:ext cx="10115515" cy="3536033"/>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latin typeface="PMingLiU"/>
                <a:ea typeface="PMingLiU"/>
                <a:cs typeface="PMingLiU"/>
                <a:sym typeface="PMingLiU"/>
              </a:rPr>
              <a:t>資料集內容：</a:t>
            </a:r>
            <a:r>
              <a:rPr b="0" i="0" lang="en-US" sz="2400" u="none" cap="none" strike="noStrike">
                <a:solidFill>
                  <a:schemeClr val="dk1"/>
                </a:solidFill>
                <a:latin typeface="PMingLiU"/>
                <a:ea typeface="PMingLiU"/>
                <a:cs typeface="PMingLiU"/>
                <a:sym typeface="PMingLiU"/>
              </a:rPr>
              <a:t>DFDCP 是由 Facebook（現為 Meta）在發佈超過十萬部影片的超大型 DFDC 資料集之前所發佈的前導預覽版本，總共包含約 5,214 段影片（1,131 段真實影片和 4,113 段偽造影片）。</a:t>
            </a:r>
            <a:endParaRPr b="0" i="0" sz="2400" u="none" cap="none" strike="noStrike">
              <a:solidFill>
                <a:schemeClr val="dk1"/>
              </a:solidFill>
              <a:highlight>
                <a:srgbClr val="FFFFFF"/>
              </a:highlight>
              <a:latin typeface="PMingLiU"/>
              <a:ea typeface="PMingLiU"/>
              <a:cs typeface="PMingLiU"/>
              <a:sym typeface="PMingLiU"/>
            </a:endParaRPr>
          </a:p>
          <a:p>
            <a:pPr indent="-457200" lvl="0" marL="45720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highlight>
                  <a:srgbClr val="FFFFFF"/>
                </a:highlight>
                <a:latin typeface="PMingLiU"/>
                <a:ea typeface="PMingLiU"/>
                <a:cs typeface="PMingLiU"/>
                <a:sym typeface="PMingLiU"/>
              </a:rPr>
              <a:t>資料集價值：</a:t>
            </a:r>
            <a:r>
              <a:rPr b="0" i="0" lang="en-US" sz="2400" u="none" cap="none" strike="noStrike">
                <a:solidFill>
                  <a:schemeClr val="dk1"/>
                </a:solidFill>
                <a:highlight>
                  <a:srgbClr val="FFFFFF"/>
                </a:highlight>
                <a:latin typeface="PMingLiU"/>
                <a:ea typeface="PMingLiU"/>
                <a:cs typeface="PMingLiU"/>
                <a:sym typeface="PMingLiU"/>
              </a:rPr>
              <a:t>影片刻意包含了多種極端環境，例如：昏暗燈光、強烈背光、演員戴眼鏡/帽子、極端的頭部轉動等，模擬真實世界中極具挑戰性的監控或視訊環境。</a:t>
            </a:r>
            <a:endParaRPr b="0" i="0" sz="2400" u="none" cap="none" strike="noStrike">
              <a:solidFill>
                <a:schemeClr val="dk1"/>
              </a:solidFill>
              <a:highlight>
                <a:srgbClr val="FFFFFF"/>
              </a:highlight>
              <a:latin typeface="PMingLiU"/>
              <a:ea typeface="PMingLiU"/>
              <a:cs typeface="PMingLiU"/>
              <a:sym typeface="PMingLiU"/>
            </a:endParaRPr>
          </a:p>
        </p:txBody>
      </p:sp>
      <p:sp>
        <p:nvSpPr>
          <p:cNvPr id="388" name="Google Shape;388;p34"/>
          <p:cNvSpPr txBox="1"/>
          <p:nvPr/>
        </p:nvSpPr>
        <p:spPr>
          <a:xfrm>
            <a:off x="4707194" y="5284839"/>
            <a:ext cx="60960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Lustria"/>
                <a:ea typeface="Lustria"/>
                <a:cs typeface="Lustria"/>
                <a:sym typeface="Lustria"/>
              </a:rPr>
              <a:t>12.資料集價值要重寫，還有在介紹資料集的數量時要清楚不能有誤差 </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Lustria"/>
              <a:ea typeface="Lustria"/>
              <a:cs typeface="Lustria"/>
              <a:sym typeface="Lustria"/>
            </a:endParaRPr>
          </a:p>
        </p:txBody>
      </p:sp>
      <p:sp>
        <p:nvSpPr>
          <p:cNvPr id="389" name="Google Shape;389;p34"/>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3" name="Shape 393"/>
        <p:cNvGrpSpPr/>
        <p:nvPr/>
      </p:nvGrpSpPr>
      <p:grpSpPr>
        <a:xfrm>
          <a:off x="0" y="0"/>
          <a:ext cx="0" cy="0"/>
          <a:chOff x="0" y="0"/>
          <a:chExt cx="0" cy="0"/>
        </a:xfrm>
      </p:grpSpPr>
      <p:sp>
        <p:nvSpPr>
          <p:cNvPr id="394" name="Google Shape;394;p35"/>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cap="none">
                <a:latin typeface="PMingLiU"/>
                <a:ea typeface="PMingLiU"/>
                <a:cs typeface="PMingLiU"/>
                <a:sym typeface="PMingLiU"/>
              </a:rPr>
              <a:t>6-2.單張圖片測試結果</a:t>
            </a:r>
            <a:endParaRPr b="1" cap="none">
              <a:latin typeface="PMingLiU"/>
              <a:ea typeface="PMingLiU"/>
              <a:cs typeface="PMingLiU"/>
              <a:sym typeface="PMingLiU"/>
            </a:endParaRPr>
          </a:p>
        </p:txBody>
      </p:sp>
      <p:sp>
        <p:nvSpPr>
          <p:cNvPr id="395" name="Google Shape;395;p35"/>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sp>
        <p:nvSpPr>
          <p:cNvPr id="396" name="Google Shape;396;p35"/>
          <p:cNvSpPr txBox="1"/>
          <p:nvPr/>
        </p:nvSpPr>
        <p:spPr>
          <a:xfrm>
            <a:off x="696952" y="1607634"/>
            <a:ext cx="10528609" cy="1946687"/>
          </a:xfrm>
          <a:prstGeom prst="rect">
            <a:avLst/>
          </a:prstGeom>
          <a:noFill/>
          <a:ln>
            <a:noFill/>
          </a:ln>
        </p:spPr>
        <p:txBody>
          <a:bodyPr anchorCtr="0" anchor="t" bIns="45700" lIns="91425" spcFirstLastPara="1" rIns="91425" wrap="square" tIns="45700">
            <a:spAutoFit/>
          </a:bodyPr>
          <a:lstStyle/>
          <a:p>
            <a:pPr indent="0" lvl="0" marL="0" marR="0" rtl="0" algn="l">
              <a:lnSpc>
                <a:spcPct val="168750"/>
              </a:lnSpc>
              <a:spcBef>
                <a:spcPts val="0"/>
              </a:spcBef>
              <a:spcAft>
                <a:spcPts val="0"/>
              </a:spcAft>
              <a:buClr>
                <a:srgbClr val="000000"/>
              </a:buClr>
              <a:buSzPts val="2400"/>
              <a:buFont typeface="Arial"/>
              <a:buNone/>
            </a:pPr>
            <a:r>
              <a:rPr b="0" i="0" lang="en-US" sz="2400" u="none" cap="none" strike="noStrike">
                <a:solidFill>
                  <a:srgbClr val="000000"/>
                </a:solidFill>
                <a:latin typeface="PMingLiU"/>
                <a:ea typeface="PMingLiU"/>
                <a:cs typeface="PMingLiU"/>
                <a:sym typeface="PMingLiU"/>
              </a:rPr>
              <a:t>根據模型算出的Classification score（分類分數），並根據threshold來進行二分類判斷，來分割真假判斷，若Classification score高於threshold就是假，低於threshold就判斷為真。</a:t>
            </a:r>
            <a:endParaRPr b="0" i="0" sz="2400" u="none" cap="none" strike="noStrike">
              <a:solidFill>
                <a:srgbClr val="000000"/>
              </a:solidFill>
              <a:latin typeface="PMingLiU"/>
              <a:ea typeface="PMingLiU"/>
              <a:cs typeface="PMingLiU"/>
              <a:sym typeface="PMingLiU"/>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ustria"/>
              <a:ea typeface="Lustria"/>
              <a:cs typeface="Lustria"/>
              <a:sym typeface="Lustria"/>
            </a:endParaRPr>
          </a:p>
        </p:txBody>
      </p:sp>
      <p:pic>
        <p:nvPicPr>
          <p:cNvPr descr="一張含有 文字, 字型, 螢幕擷取畫面, 行 的圖片&#10;&#10;AI 產生的內容可能不正確。" id="397" name="Google Shape;397;p35"/>
          <p:cNvPicPr preferRelativeResize="0"/>
          <p:nvPr/>
        </p:nvPicPr>
        <p:blipFill rotWithShape="1">
          <a:blip r:embed="rId3">
            <a:alphaModFix/>
          </a:blip>
          <a:srcRect b="9097" l="0" r="-110" t="0"/>
          <a:stretch/>
        </p:blipFill>
        <p:spPr>
          <a:xfrm>
            <a:off x="1862370" y="4222943"/>
            <a:ext cx="8457976" cy="735973"/>
          </a:xfrm>
          <a:prstGeom prst="rect">
            <a:avLst/>
          </a:prstGeom>
          <a:noFill/>
          <a:ln>
            <a:noFill/>
          </a:ln>
        </p:spPr>
      </p:pic>
      <p:sp>
        <p:nvSpPr>
          <p:cNvPr id="398" name="Google Shape;398;p35"/>
          <p:cNvSpPr txBox="1"/>
          <p:nvPr/>
        </p:nvSpPr>
        <p:spPr>
          <a:xfrm>
            <a:off x="2100146" y="5296829"/>
            <a:ext cx="609600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PMingLiU"/>
                <a:ea typeface="PMingLiU"/>
                <a:cs typeface="PMingLiU"/>
                <a:sym typeface="PMingLiU"/>
              </a:rPr>
              <a:t>Classification score</a:t>
            </a:r>
            <a:endParaRPr b="0" i="0" sz="1800" u="none" cap="none" strike="noStrike">
              <a:solidFill>
                <a:schemeClr val="dk1"/>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ustria"/>
              <a:ea typeface="Lustria"/>
              <a:cs typeface="Lustria"/>
              <a:sym typeface="Lustria"/>
            </a:endParaRPr>
          </a:p>
        </p:txBody>
      </p:sp>
      <p:sp>
        <p:nvSpPr>
          <p:cNvPr id="399" name="Google Shape;399;p35"/>
          <p:cNvSpPr/>
          <p:nvPr/>
        </p:nvSpPr>
        <p:spPr>
          <a:xfrm>
            <a:off x="4586125" y="5042829"/>
            <a:ext cx="880699" cy="629920"/>
          </a:xfrm>
          <a:prstGeom prst="bentUpArrow">
            <a:avLst>
              <a:gd fmla="val 25000" name="adj1"/>
              <a:gd fmla="val 25000" name="adj2"/>
              <a:gd fmla="val 25000" name="adj3"/>
            </a:avLst>
          </a:prstGeom>
          <a:solidFill>
            <a:schemeClr val="accent1"/>
          </a:solidFill>
          <a:ln cap="flat" cmpd="sng" w="12700">
            <a:solidFill>
              <a:srgbClr val="301F2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sp>
        <p:nvSpPr>
          <p:cNvPr id="400" name="Google Shape;400;p35"/>
          <p:cNvSpPr txBox="1"/>
          <p:nvPr/>
        </p:nvSpPr>
        <p:spPr>
          <a:xfrm>
            <a:off x="6477000" y="3109452"/>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Arial"/>
                <a:ea typeface="Arial"/>
                <a:cs typeface="Arial"/>
                <a:sym typeface="Arial"/>
              </a:rPr>
              <a:t>13.閥值和threshold 要選一個統一說法 </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Lustria"/>
              <a:ea typeface="Lustria"/>
              <a:cs typeface="Lustria"/>
              <a:sym typeface="Lustria"/>
            </a:endParaRPr>
          </a:p>
        </p:txBody>
      </p:sp>
      <p:sp>
        <p:nvSpPr>
          <p:cNvPr id="401" name="Google Shape;401;p35"/>
          <p:cNvSpPr txBox="1"/>
          <p:nvPr/>
        </p:nvSpPr>
        <p:spPr>
          <a:xfrm>
            <a:off x="5801032" y="5198806"/>
            <a:ext cx="60960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Arial"/>
                <a:ea typeface="Arial"/>
                <a:cs typeface="Arial"/>
                <a:sym typeface="Arial"/>
              </a:rPr>
              <a:t>14.6-2的結果要有單位，不要直接貼圖片，整理成表格會更好 </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Lustria"/>
              <a:ea typeface="Lustria"/>
              <a:cs typeface="Lustria"/>
              <a:sym typeface="Lustria"/>
            </a:endParaRPr>
          </a:p>
        </p:txBody>
      </p:sp>
      <p:sp>
        <p:nvSpPr>
          <p:cNvPr id="402" name="Google Shape;402;p35"/>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6" name="Shape 406"/>
        <p:cNvGrpSpPr/>
        <p:nvPr/>
      </p:nvGrpSpPr>
      <p:grpSpPr>
        <a:xfrm>
          <a:off x="0" y="0"/>
          <a:ext cx="0" cy="0"/>
          <a:chOff x="0" y="0"/>
          <a:chExt cx="0" cy="0"/>
        </a:xfrm>
      </p:grpSpPr>
      <p:sp>
        <p:nvSpPr>
          <p:cNvPr id="407" name="Google Shape;407;p36"/>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6-3.模型資料集評估指標</a:t>
            </a:r>
            <a:endParaRPr b="1">
              <a:latin typeface="PMingLiU"/>
              <a:ea typeface="PMingLiU"/>
              <a:cs typeface="PMingLiU"/>
              <a:sym typeface="PMingLiU"/>
            </a:endParaRPr>
          </a:p>
        </p:txBody>
      </p:sp>
      <p:sp>
        <p:nvSpPr>
          <p:cNvPr id="408" name="Google Shape;408;p36"/>
          <p:cNvSpPr txBox="1"/>
          <p:nvPr>
            <p:ph idx="1" type="body"/>
          </p:nvPr>
        </p:nvSpPr>
        <p:spPr>
          <a:xfrm>
            <a:off x="700635" y="2293126"/>
            <a:ext cx="10691265" cy="3636088"/>
          </a:xfrm>
          <a:prstGeom prst="rect">
            <a:avLst/>
          </a:prstGeom>
          <a:noFill/>
          <a:ln>
            <a:noFill/>
          </a:ln>
        </p:spPr>
        <p:txBody>
          <a:bodyPr anchorCtr="0" anchor="t" bIns="45700" lIns="91425" spcFirstLastPara="1" rIns="91425" wrap="square" tIns="45700">
            <a:normAutofit/>
          </a:bodyPr>
          <a:lstStyle/>
          <a:p>
            <a:pPr indent="-101600" lvl="0" marL="228600" rtl="0" algn="l">
              <a:lnSpc>
                <a:spcPct val="110000"/>
              </a:lnSpc>
              <a:spcBef>
                <a:spcPts val="0"/>
              </a:spcBef>
              <a:spcAft>
                <a:spcPts val="0"/>
              </a:spcAft>
              <a:buClr>
                <a:schemeClr val="dk1"/>
              </a:buClr>
              <a:buSzPts val="2000"/>
              <a:buNone/>
            </a:pPr>
            <a:r>
              <a:t/>
            </a:r>
            <a:endParaRPr/>
          </a:p>
        </p:txBody>
      </p:sp>
      <p:sp>
        <p:nvSpPr>
          <p:cNvPr id="409" name="Google Shape;409;p36"/>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graphicFrame>
        <p:nvGraphicFramePr>
          <p:cNvPr id="410" name="Google Shape;410;p36"/>
          <p:cNvGraphicFramePr/>
          <p:nvPr/>
        </p:nvGraphicFramePr>
        <p:xfrm>
          <a:off x="700088" y="2292350"/>
          <a:ext cx="3000000" cy="3000000"/>
        </p:xfrm>
        <a:graphic>
          <a:graphicData uri="http://schemas.openxmlformats.org/drawingml/2006/table">
            <a:tbl>
              <a:tblPr bandRow="1" firstRow="1">
                <a:noFill/>
                <a:tableStyleId>{D4F57E2E-EB3F-4404-9A26-EBCFC7F95AF6}</a:tableStyleId>
              </a:tblPr>
              <a:tblGrid>
                <a:gridCol w="3563925"/>
                <a:gridCol w="3563925"/>
                <a:gridCol w="3563925"/>
              </a:tblGrid>
              <a:tr h="370850">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評估指標</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實測數值</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指標說明</a:t>
                      </a:r>
                      <a:endParaRPr sz="1800" u="none" cap="none" strike="noStrike"/>
                    </a:p>
                  </a:txBody>
                  <a:tcPr marT="45725" marB="45725" marR="91450" marL="91450" anchor="ctr"/>
                </a:tc>
              </a:tr>
              <a:tr h="538475">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ACC​</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t>82.69</a:t>
                      </a:r>
                      <a:r>
                        <a:rPr b="0" i="0" lang="en-US" sz="1800" u="none" cap="none" strike="noStrike">
                          <a:latin typeface="Lustria"/>
                          <a:ea typeface="Lustria"/>
                          <a:cs typeface="Lustria"/>
                          <a:sym typeface="Lustria"/>
                        </a:rPr>
                        <a:t>%</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模型預測正確的樣本數佔總樣本數的比例。</a:t>
                      </a:r>
                      <a:endParaRPr sz="1800" u="none" cap="none" strike="noStrike"/>
                    </a:p>
                  </a:txBody>
                  <a:tcPr marT="45725" marB="45725" marR="91450" marL="91450" anchor="ctr"/>
                </a:tc>
              </a:tr>
              <a:tr h="370850">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AUC​</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t>89.91</a:t>
                      </a:r>
                      <a:r>
                        <a:rPr b="0" i="0" lang="en-US" sz="1800" u="none" cap="none" strike="noStrike">
                          <a:latin typeface="Lustria"/>
                          <a:ea typeface="Lustria"/>
                          <a:cs typeface="Lustria"/>
                          <a:sym typeface="Lustria"/>
                        </a:rPr>
                        <a:t>%</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t>模型將一個隨機選取的正樣本排在一個隨機選取的負樣本前面的機率。</a:t>
                      </a:r>
                      <a:endParaRPr sz="1800" u="none" cap="none" strike="noStrike"/>
                    </a:p>
                  </a:txBody>
                  <a:tcPr marT="45725" marB="45725" marR="91450" marL="91450" anchor="ctr"/>
                </a:tc>
              </a:tr>
              <a:tr h="370850">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AP​</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t>90.11</a:t>
                      </a:r>
                      <a:r>
                        <a:rPr b="0" i="0" lang="en-US" sz="1800" u="none" cap="none" strike="noStrike">
                          <a:latin typeface="Lustria"/>
                          <a:ea typeface="Lustria"/>
                          <a:cs typeface="Lustria"/>
                          <a:sym typeface="Lustria"/>
                        </a:rPr>
                        <a:t>%</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t>模型判成 fake 的東西裡，</a:t>
                      </a:r>
                      <a:endParaRPr sz="1800" u="none" cap="none" strike="noStrike"/>
                    </a:p>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t> 真的是 fake 的比例</a:t>
                      </a:r>
                      <a:endParaRPr sz="1800" u="none" cap="none" strike="noStrike"/>
                    </a:p>
                  </a:txBody>
                  <a:tcPr marT="45725" marB="45725" marR="91450" marL="91450" anchor="ctr"/>
                </a:tc>
              </a:tr>
              <a:tr h="370850">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latin typeface="Lustria"/>
                          <a:ea typeface="Lustria"/>
                          <a:cs typeface="Lustria"/>
                          <a:sym typeface="Lustria"/>
                        </a:rPr>
                        <a:t>AR</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Lustria"/>
                        <a:buNone/>
                      </a:pPr>
                      <a:r>
                        <a:rPr b="0" i="0" lang="en-US" sz="1800" u="none" cap="none" strike="noStrike">
                          <a:solidFill>
                            <a:srgbClr val="000000"/>
                          </a:solidFill>
                          <a:latin typeface="Lustria"/>
                          <a:ea typeface="Lustria"/>
                          <a:cs typeface="Lustria"/>
                          <a:sym typeface="Lustria"/>
                        </a:rPr>
                        <a:t>82.69</a:t>
                      </a:r>
                      <a:r>
                        <a:rPr b="0" i="0" lang="en-US" sz="1800" u="none" cap="none" strike="noStrike">
                          <a:latin typeface="Lustria"/>
                          <a:ea typeface="Lustria"/>
                          <a:cs typeface="Lustria"/>
                          <a:sym typeface="Lustria"/>
                        </a:rPr>
                        <a:t>%</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t>所有 fake 中，</a:t>
                      </a:r>
                      <a:endParaRPr sz="1800" u="none" cap="none" strike="noStrike"/>
                    </a:p>
                    <a:p>
                      <a:pPr indent="0" lvl="0" marL="0" marR="0" rtl="0" algn="ctr">
                        <a:lnSpc>
                          <a:spcPct val="100000"/>
                        </a:lnSpc>
                        <a:spcBef>
                          <a:spcPts val="0"/>
                        </a:spcBef>
                        <a:spcAft>
                          <a:spcPts val="0"/>
                        </a:spcAft>
                        <a:buClr>
                          <a:schemeClr val="dk1"/>
                        </a:buClr>
                        <a:buSzPts val="1800"/>
                        <a:buFont typeface="Lustria"/>
                        <a:buNone/>
                      </a:pPr>
                      <a:r>
                        <a:rPr b="0" i="0" lang="en-US" sz="1800" u="none" cap="none" strike="noStrike"/>
                        <a:t>有多少真的被抓出來</a:t>
                      </a:r>
                      <a:endParaRPr sz="1800" u="none" cap="none" strike="noStrike"/>
                    </a:p>
                  </a:txBody>
                  <a:tcPr marT="45725" marB="45725" marR="91450" marL="91450" anchor="ctr"/>
                </a:tc>
              </a:tr>
            </a:tbl>
          </a:graphicData>
        </a:graphic>
      </p:graphicFrame>
      <p:sp>
        <p:nvSpPr>
          <p:cNvPr id="411" name="Google Shape;411;p36"/>
          <p:cNvSpPr txBox="1"/>
          <p:nvPr/>
        </p:nvSpPr>
        <p:spPr>
          <a:xfrm>
            <a:off x="5678129" y="1720645"/>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Arial"/>
                <a:ea typeface="Arial"/>
                <a:cs typeface="Arial"/>
                <a:sym typeface="Arial"/>
              </a:rPr>
              <a:t>15.6-3但評估指標要寫清楚，用個混淆矩陣來說明之類的 </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Lustria"/>
              <a:ea typeface="Lustria"/>
              <a:cs typeface="Lustria"/>
              <a:sym typeface="Lustria"/>
            </a:endParaRPr>
          </a:p>
        </p:txBody>
      </p:sp>
      <p:sp>
        <p:nvSpPr>
          <p:cNvPr id="412" name="Google Shape;412;p36"/>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6" name="Shape 416"/>
        <p:cNvGrpSpPr/>
        <p:nvPr/>
      </p:nvGrpSpPr>
      <p:grpSpPr>
        <a:xfrm>
          <a:off x="0" y="0"/>
          <a:ext cx="0" cy="0"/>
          <a:chOff x="0" y="0"/>
          <a:chExt cx="0" cy="0"/>
        </a:xfrm>
      </p:grpSpPr>
      <p:sp>
        <p:nvSpPr>
          <p:cNvPr id="417" name="Google Shape;417;p37"/>
          <p:cNvSpPr txBox="1"/>
          <p:nvPr>
            <p:ph type="title"/>
          </p:nvPr>
        </p:nvSpPr>
        <p:spPr>
          <a:xfrm>
            <a:off x="582700" y="1066800"/>
            <a:ext cx="4060299" cy="641788"/>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rgbClr val="000000"/>
              </a:buClr>
              <a:buSzPct val="100000"/>
              <a:buFont typeface="PMingLiU"/>
              <a:buNone/>
            </a:pPr>
            <a:r>
              <a:rPr lang="en-US" sz="4400">
                <a:solidFill>
                  <a:srgbClr val="000000"/>
                </a:solidFill>
                <a:latin typeface="PMingLiU"/>
                <a:ea typeface="PMingLiU"/>
                <a:cs typeface="PMingLiU"/>
                <a:sym typeface="PMingLiU"/>
              </a:rPr>
              <a:t>模型資料集測試</a:t>
            </a:r>
            <a:endParaRPr>
              <a:latin typeface="Open Sans"/>
              <a:ea typeface="Open Sans"/>
              <a:cs typeface="Open Sans"/>
              <a:sym typeface="Open Sans"/>
            </a:endParaRPr>
          </a:p>
        </p:txBody>
      </p:sp>
      <p:sp>
        <p:nvSpPr>
          <p:cNvPr id="418" name="Google Shape;418;p37"/>
          <p:cNvSpPr txBox="1"/>
          <p:nvPr>
            <p:ph idx="1" type="body"/>
          </p:nvPr>
        </p:nvSpPr>
        <p:spPr>
          <a:xfrm>
            <a:off x="683342" y="2682096"/>
            <a:ext cx="4103431" cy="3316288"/>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2000"/>
              <a:buNone/>
            </a:pPr>
            <a:r>
              <a:rPr b="1" lang="en-US" sz="2000"/>
              <a:t>根據要測試的資料集調整參數：</a:t>
            </a:r>
            <a:endParaRPr/>
          </a:p>
        </p:txBody>
      </p:sp>
      <p:sp>
        <p:nvSpPr>
          <p:cNvPr id="419" name="Google Shape;419;p37"/>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pic>
        <p:nvPicPr>
          <p:cNvPr descr="一張含有 文字, 螢幕擷取畫面, 字型 的圖片&#10;&#10;AI 產生的內容可能不正確。" id="420" name="Google Shape;420;p37"/>
          <p:cNvPicPr preferRelativeResize="0"/>
          <p:nvPr/>
        </p:nvPicPr>
        <p:blipFill rotWithShape="1">
          <a:blip r:embed="rId3">
            <a:alphaModFix/>
          </a:blip>
          <a:srcRect b="0" l="0" r="0" t="0"/>
          <a:stretch/>
        </p:blipFill>
        <p:spPr>
          <a:xfrm>
            <a:off x="731358" y="3187910"/>
            <a:ext cx="5610943" cy="2610029"/>
          </a:xfrm>
          <a:prstGeom prst="rect">
            <a:avLst/>
          </a:prstGeom>
          <a:noFill/>
          <a:ln>
            <a:noFill/>
          </a:ln>
        </p:spPr>
      </p:pic>
      <p:pic>
        <p:nvPicPr>
          <p:cNvPr descr="一張含有 文字, 螢幕擷取畫面, 字型, 文件 的圖片&#10;&#10;AI 產生的內容可能不正確。" id="421" name="Google Shape;421;p37"/>
          <p:cNvPicPr preferRelativeResize="0"/>
          <p:nvPr/>
        </p:nvPicPr>
        <p:blipFill rotWithShape="1">
          <a:blip r:embed="rId4">
            <a:alphaModFix/>
          </a:blip>
          <a:srcRect b="0" l="0" r="0" t="0"/>
          <a:stretch/>
        </p:blipFill>
        <p:spPr>
          <a:xfrm>
            <a:off x="4630677" y="866955"/>
            <a:ext cx="7387626" cy="5109714"/>
          </a:xfrm>
          <a:prstGeom prst="rect">
            <a:avLst/>
          </a:prstGeom>
          <a:noFill/>
          <a:ln>
            <a:noFill/>
          </a:ln>
        </p:spPr>
      </p:pic>
      <p:sp>
        <p:nvSpPr>
          <p:cNvPr id="422" name="Google Shape;422;p37"/>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6" name="Shape 426"/>
        <p:cNvGrpSpPr/>
        <p:nvPr/>
      </p:nvGrpSpPr>
      <p:grpSpPr>
        <a:xfrm>
          <a:off x="0" y="0"/>
          <a:ext cx="0" cy="0"/>
          <a:chOff x="0" y="0"/>
          <a:chExt cx="0" cy="0"/>
        </a:xfrm>
      </p:grpSpPr>
      <p:sp>
        <p:nvSpPr>
          <p:cNvPr id="427" name="Google Shape;427;p38"/>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lang="en-US" cap="none">
                <a:latin typeface="PMingLiU"/>
                <a:ea typeface="PMingLiU"/>
                <a:cs typeface="PMingLiU"/>
                <a:sym typeface="PMingLiU"/>
              </a:rPr>
              <a:t>模型誤判</a:t>
            </a:r>
            <a:endParaRPr cap="none"/>
          </a:p>
        </p:txBody>
      </p:sp>
      <p:sp>
        <p:nvSpPr>
          <p:cNvPr id="428" name="Google Shape;428;p38"/>
          <p:cNvSpPr txBox="1"/>
          <p:nvPr>
            <p:ph idx="1" type="body"/>
          </p:nvPr>
        </p:nvSpPr>
        <p:spPr>
          <a:xfrm>
            <a:off x="628173" y="2672881"/>
            <a:ext cx="6691294" cy="366486"/>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SzPts val="2000"/>
              <a:buNone/>
            </a:pPr>
            <a:r>
              <a:rPr b="1" lang="en-US"/>
              <a:t>一些較模糊或是照片有雜訊的圖片可能會誤判:</a:t>
            </a:r>
            <a:endParaRPr/>
          </a:p>
        </p:txBody>
      </p:sp>
      <p:sp>
        <p:nvSpPr>
          <p:cNvPr id="429" name="Google Shape;429;p38"/>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pic>
        <p:nvPicPr>
          <p:cNvPr descr="一張含有 文字, 字型, 螢幕擷取畫面, 行 的圖片&#10;&#10;AI 產生的內容可能不正確。" id="430" name="Google Shape;430;p38"/>
          <p:cNvPicPr preferRelativeResize="0"/>
          <p:nvPr/>
        </p:nvPicPr>
        <p:blipFill rotWithShape="1">
          <a:blip r:embed="rId3">
            <a:alphaModFix/>
          </a:blip>
          <a:srcRect b="0" l="0" r="0" t="0"/>
          <a:stretch/>
        </p:blipFill>
        <p:spPr>
          <a:xfrm>
            <a:off x="5917541" y="3651131"/>
            <a:ext cx="5561522" cy="519023"/>
          </a:xfrm>
          <a:prstGeom prst="rect">
            <a:avLst/>
          </a:prstGeom>
          <a:noFill/>
          <a:ln>
            <a:noFill/>
          </a:ln>
        </p:spPr>
      </p:pic>
      <p:pic>
        <p:nvPicPr>
          <p:cNvPr descr="一張含有 人的臉孔, 人員, 微笑, 女士 的圖片&#10;&#10;AI 產生的內容可能不正確。" id="431" name="Google Shape;431;p38"/>
          <p:cNvPicPr preferRelativeResize="0"/>
          <p:nvPr/>
        </p:nvPicPr>
        <p:blipFill rotWithShape="1">
          <a:blip r:embed="rId4">
            <a:alphaModFix/>
          </a:blip>
          <a:srcRect b="0" l="0" r="0" t="0"/>
          <a:stretch/>
        </p:blipFill>
        <p:spPr>
          <a:xfrm>
            <a:off x="3022121" y="3043687"/>
            <a:ext cx="1748287" cy="1762665"/>
          </a:xfrm>
          <a:prstGeom prst="rect">
            <a:avLst/>
          </a:prstGeom>
          <a:noFill/>
          <a:ln>
            <a:noFill/>
          </a:ln>
        </p:spPr>
      </p:pic>
      <p:pic>
        <p:nvPicPr>
          <p:cNvPr descr="一張含有 文字, 人的臉孔, 人員, 服裝 的圖片&#10;&#10;AI 產生的內容可能不正確。" id="432" name="Google Shape;432;p38"/>
          <p:cNvPicPr preferRelativeResize="0"/>
          <p:nvPr/>
        </p:nvPicPr>
        <p:blipFill rotWithShape="1">
          <a:blip r:embed="rId5">
            <a:alphaModFix/>
          </a:blip>
          <a:srcRect b="0" l="0" r="0" t="0"/>
          <a:stretch/>
        </p:blipFill>
        <p:spPr>
          <a:xfrm>
            <a:off x="1271677" y="3047281"/>
            <a:ext cx="1748287" cy="1748287"/>
          </a:xfrm>
          <a:prstGeom prst="rect">
            <a:avLst/>
          </a:prstGeom>
          <a:noFill/>
          <a:ln>
            <a:noFill/>
          </a:ln>
        </p:spPr>
      </p:pic>
      <p:sp>
        <p:nvSpPr>
          <p:cNvPr id="433" name="Google Shape;433;p38"/>
          <p:cNvSpPr/>
          <p:nvPr/>
        </p:nvSpPr>
        <p:spPr>
          <a:xfrm>
            <a:off x="4902104" y="3647248"/>
            <a:ext cx="934720" cy="477520"/>
          </a:xfrm>
          <a:prstGeom prst="rightArrow">
            <a:avLst>
              <a:gd fmla="val 50000" name="adj1"/>
              <a:gd fmla="val 50000" name="adj2"/>
            </a:avLst>
          </a:prstGeom>
          <a:solidFill>
            <a:schemeClr val="dk1"/>
          </a:solidFill>
          <a:ln cap="flat" cmpd="sng" w="12700">
            <a:solidFill>
              <a:srgbClr val="301F2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sp>
        <p:nvSpPr>
          <p:cNvPr id="434" name="Google Shape;434;p38"/>
          <p:cNvSpPr txBox="1"/>
          <p:nvPr/>
        </p:nvSpPr>
        <p:spPr>
          <a:xfrm>
            <a:off x="1616590" y="4806830"/>
            <a:ext cx="346206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Lustria"/>
                <a:ea typeface="Lustria"/>
                <a:cs typeface="Lustria"/>
                <a:sym typeface="Lustria"/>
              </a:rPr>
              <a:t>(這兩張照片本來應該是Fake)</a:t>
            </a:r>
            <a:endParaRPr b="0" i="0" sz="1400" u="none" cap="none" strike="noStrike">
              <a:solidFill>
                <a:srgbClr val="000000"/>
              </a:solidFill>
              <a:latin typeface="Arial"/>
              <a:ea typeface="Arial"/>
              <a:cs typeface="Arial"/>
              <a:sym typeface="Arial"/>
            </a:endParaRPr>
          </a:p>
        </p:txBody>
      </p:sp>
      <p:sp>
        <p:nvSpPr>
          <p:cNvPr id="435" name="Google Shape;435;p38"/>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9" name="Shape 439"/>
        <p:cNvGrpSpPr/>
        <p:nvPr/>
      </p:nvGrpSpPr>
      <p:grpSpPr>
        <a:xfrm>
          <a:off x="0" y="0"/>
          <a:ext cx="0" cy="0"/>
          <a:chOff x="0" y="0"/>
          <a:chExt cx="0" cy="0"/>
        </a:xfrm>
      </p:grpSpPr>
      <p:sp>
        <p:nvSpPr>
          <p:cNvPr id="440" name="Google Shape;440;p39"/>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7.結論</a:t>
            </a:r>
            <a:endParaRPr/>
          </a:p>
        </p:txBody>
      </p:sp>
      <p:sp>
        <p:nvSpPr>
          <p:cNvPr id="441" name="Google Shape;441;p39"/>
          <p:cNvSpPr txBox="1"/>
          <p:nvPr>
            <p:ph idx="1" type="body"/>
          </p:nvPr>
        </p:nvSpPr>
        <p:spPr>
          <a:xfrm>
            <a:off x="671880" y="1927375"/>
            <a:ext cx="10691265" cy="4005542"/>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SzPts val="2400"/>
              <a:buNone/>
            </a:pPr>
            <a:r>
              <a:rPr lang="en-US" sz="2400">
                <a:latin typeface="PMingLiU"/>
                <a:ea typeface="PMingLiU"/>
                <a:cs typeface="PMingLiU"/>
                <a:sym typeface="PMingLiU"/>
              </a:rPr>
              <a:t>  隨著生成式 AI 技術的快速發展，Deepfake 偽造影像已逐漸成為資訊安全與社會信任的威脅。本專題結合 YOLO 與 FakeFormer 兩種模型，透過 Python 進行系統實作一套能夠即時偵測畫面中是否出現偽造人臉的系統，在偵測到異常時主動跳出警示視窗。</a:t>
            </a:r>
            <a:endParaRPr/>
          </a:p>
          <a:p>
            <a:pPr indent="0" lvl="0" marL="0" rtl="0" algn="l">
              <a:lnSpc>
                <a:spcPct val="110000"/>
              </a:lnSpc>
              <a:spcBef>
                <a:spcPts val="1000"/>
              </a:spcBef>
              <a:spcAft>
                <a:spcPts val="0"/>
              </a:spcAft>
              <a:buClr>
                <a:schemeClr val="dk1"/>
              </a:buClr>
              <a:buSzPts val="2400"/>
              <a:buNone/>
            </a:pPr>
            <a:r>
              <a:rPr lang="en-US" sz="2400">
                <a:latin typeface="PMingLiU"/>
                <a:ea typeface="PMingLiU"/>
                <a:cs typeface="PMingLiU"/>
                <a:sym typeface="PMingLiU"/>
              </a:rPr>
              <a:t>  相較於市面上多數以靜態圖片或手動上傳方式進行辨識的工具，強調「即時性」與「連續監控」，可應用於視訊通話、即時監控等情境，降低使用者需主動判斷的負擔。</a:t>
            </a:r>
            <a:endParaRPr/>
          </a:p>
          <a:p>
            <a:pPr indent="0" lvl="0" marL="0" rtl="0" algn="l">
              <a:lnSpc>
                <a:spcPct val="110000"/>
              </a:lnSpc>
              <a:spcBef>
                <a:spcPts val="1000"/>
              </a:spcBef>
              <a:spcAft>
                <a:spcPts val="0"/>
              </a:spcAft>
              <a:buClr>
                <a:schemeClr val="dk1"/>
              </a:buClr>
              <a:buSzPts val="2400"/>
              <a:buNone/>
            </a:pPr>
            <a:r>
              <a:rPr lang="en-US" sz="2400">
                <a:latin typeface="PMingLiU"/>
                <a:ea typeface="PMingLiU"/>
                <a:cs typeface="PMingLiU"/>
                <a:sym typeface="PMingLiU"/>
              </a:rPr>
              <a:t>  在實作過程中，透過多個模型串接的開發，不僅加深了對深度學習模型運作原理的理解，也提升了系統整合與效能優化的能力。</a:t>
            </a:r>
            <a:endParaRPr/>
          </a:p>
          <a:p>
            <a:pPr indent="0" lvl="0" marL="0" rtl="0" algn="l">
              <a:lnSpc>
                <a:spcPct val="110000"/>
              </a:lnSpc>
              <a:spcBef>
                <a:spcPts val="1000"/>
              </a:spcBef>
              <a:spcAft>
                <a:spcPts val="0"/>
              </a:spcAft>
              <a:buClr>
                <a:schemeClr val="dk1"/>
              </a:buClr>
              <a:buSzPts val="2400"/>
              <a:buNone/>
            </a:pPr>
            <a:r>
              <a:t/>
            </a:r>
            <a:endParaRPr sz="2400">
              <a:latin typeface="PMingLiU"/>
              <a:ea typeface="PMingLiU"/>
              <a:cs typeface="PMingLiU"/>
              <a:sym typeface="PMingLiU"/>
            </a:endParaRPr>
          </a:p>
        </p:txBody>
      </p:sp>
      <p:sp>
        <p:nvSpPr>
          <p:cNvPr id="442" name="Google Shape;442;p39"/>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sp>
        <p:nvSpPr>
          <p:cNvPr id="443" name="Google Shape;443;p39"/>
          <p:cNvSpPr txBox="1"/>
          <p:nvPr/>
        </p:nvSpPr>
        <p:spPr>
          <a:xfrm>
            <a:off x="3982065" y="1155290"/>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Arial"/>
                <a:ea typeface="Arial"/>
                <a:cs typeface="Arial"/>
                <a:sym typeface="Arial"/>
              </a:rPr>
              <a:t>16.結論要條列式 </a:t>
            </a:r>
            <a:endParaRPr b="0" i="0" sz="1800" u="none" cap="none" strike="noStrike">
              <a:solidFill>
                <a:srgbClr val="FF0000"/>
              </a:solidFill>
              <a:latin typeface="Lustria"/>
              <a:ea typeface="Lustria"/>
              <a:cs typeface="Lustria"/>
              <a:sym typeface="Lustri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Lustria"/>
              <a:ea typeface="Lustria"/>
              <a:cs typeface="Lustria"/>
              <a:sym typeface="Lustria"/>
            </a:endParaRPr>
          </a:p>
        </p:txBody>
      </p:sp>
      <p:sp>
        <p:nvSpPr>
          <p:cNvPr id="444" name="Google Shape;444;p39"/>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8" name="Shape 448"/>
        <p:cNvGrpSpPr/>
        <p:nvPr/>
      </p:nvGrpSpPr>
      <p:grpSpPr>
        <a:xfrm>
          <a:off x="0" y="0"/>
          <a:ext cx="0" cy="0"/>
          <a:chOff x="0" y="0"/>
          <a:chExt cx="0" cy="0"/>
        </a:xfrm>
      </p:grpSpPr>
      <p:sp>
        <p:nvSpPr>
          <p:cNvPr id="449" name="Google Shape;449;p40"/>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8.參考文獻</a:t>
            </a:r>
            <a:endParaRPr>
              <a:latin typeface="PMingLiU"/>
              <a:ea typeface="PMingLiU"/>
              <a:cs typeface="PMingLiU"/>
              <a:sym typeface="PMingLiU"/>
            </a:endParaRPr>
          </a:p>
          <a:p>
            <a:pPr indent="0" lvl="0" marL="0" rtl="0" algn="l">
              <a:lnSpc>
                <a:spcPct val="100000"/>
              </a:lnSpc>
              <a:spcBef>
                <a:spcPts val="0"/>
              </a:spcBef>
              <a:spcAft>
                <a:spcPts val="0"/>
              </a:spcAft>
              <a:buClr>
                <a:schemeClr val="dk1"/>
              </a:buClr>
              <a:buSzPts val="4000"/>
              <a:buFont typeface="Open Sans"/>
              <a:buNone/>
            </a:pPr>
            <a:r>
              <a:t/>
            </a:r>
            <a:endParaRPr/>
          </a:p>
        </p:txBody>
      </p:sp>
      <p:sp>
        <p:nvSpPr>
          <p:cNvPr id="450" name="Google Shape;450;p40"/>
          <p:cNvSpPr txBox="1"/>
          <p:nvPr>
            <p:ph idx="1" type="body"/>
          </p:nvPr>
        </p:nvSpPr>
        <p:spPr>
          <a:xfrm>
            <a:off x="702722" y="1714092"/>
            <a:ext cx="10887910" cy="4454902"/>
          </a:xfrm>
          <a:prstGeom prst="rect">
            <a:avLst/>
          </a:prstGeom>
          <a:noFill/>
          <a:ln>
            <a:noFill/>
          </a:ln>
        </p:spPr>
        <p:txBody>
          <a:bodyPr anchorCtr="0" anchor="t" bIns="45700" lIns="91425" spcFirstLastPara="1" rIns="91425" wrap="square" tIns="45700">
            <a:noAutofit/>
          </a:bodyPr>
          <a:lstStyle/>
          <a:p>
            <a:pPr indent="-228600" lvl="0" marL="228600" rtl="0" algn="just">
              <a:lnSpc>
                <a:spcPct val="110000"/>
              </a:lnSpc>
              <a:spcBef>
                <a:spcPts val="0"/>
              </a:spcBef>
              <a:spcAft>
                <a:spcPts val="0"/>
              </a:spcAft>
              <a:buClr>
                <a:schemeClr val="dk1"/>
              </a:buClr>
              <a:buSzPts val="1500"/>
              <a:buNone/>
            </a:pPr>
            <a:r>
              <a:rPr lang="en-US" sz="1500">
                <a:highlight>
                  <a:srgbClr val="FFFFFF"/>
                </a:highlight>
              </a:rPr>
              <a:t>[1]"YOLOv10: Real-Time End-to-End Object Detection)" Ao Wang, Hui Chen, Lihao Liu, Kai Chen, Zijia Lin, Jungong Han, Guiguang Ding Published: 10 December 2024 ; Article No.: 3429, Pages 107984 - 108011, NIPS '24: Proceedings of the 38th International Conference on Neural Information Processing Systems</a:t>
            </a:r>
            <a:endParaRPr/>
          </a:p>
          <a:p>
            <a:pPr indent="-228600" lvl="0" marL="228600" rtl="0" algn="just">
              <a:lnSpc>
                <a:spcPct val="110000"/>
              </a:lnSpc>
              <a:spcBef>
                <a:spcPts val="1000"/>
              </a:spcBef>
              <a:spcAft>
                <a:spcPts val="0"/>
              </a:spcAft>
              <a:buClr>
                <a:schemeClr val="dk1"/>
              </a:buClr>
              <a:buSzPts val="1500"/>
              <a:buNone/>
            </a:pPr>
            <a:r>
              <a:rPr lang="en-US" sz="1500">
                <a:highlight>
                  <a:srgbClr val="FFFFFF"/>
                </a:highlight>
              </a:rPr>
              <a:t>[2]“FakeFormer: Efficient Vulnerability-Driven Transformers for Generalisable Deepfake Detection,” Dat Nguyen, Marcella Astrid, Enjie Ghorbel, Djamila Aouada, Tue, 29 Oct 2024 11:36:49 UTC. Available: </a:t>
            </a:r>
            <a:r>
              <a:rPr lang="en-US" sz="1500" u="sng">
                <a:solidFill>
                  <a:schemeClr val="hlink"/>
                </a:solidFill>
                <a:highlight>
                  <a:srgbClr val="FFFFFF"/>
                </a:highlight>
                <a:hlinkClick r:id="rId3"/>
              </a:rPr>
              <a:t>https://arxiv.org/abs/2410.21964</a:t>
            </a:r>
            <a:endParaRPr/>
          </a:p>
          <a:p>
            <a:pPr indent="-228600" lvl="0" marL="228600" rtl="0" algn="just">
              <a:lnSpc>
                <a:spcPct val="110000"/>
              </a:lnSpc>
              <a:spcBef>
                <a:spcPts val="1000"/>
              </a:spcBef>
              <a:spcAft>
                <a:spcPts val="0"/>
              </a:spcAft>
              <a:buClr>
                <a:schemeClr val="dk1"/>
              </a:buClr>
              <a:buSzPts val="1500"/>
              <a:buNone/>
            </a:pPr>
            <a:r>
              <a:rPr lang="en-US" sz="1500">
                <a:highlight>
                  <a:srgbClr val="FFFFFF"/>
                </a:highlight>
              </a:rPr>
              <a:t>[3]THU-MIG, "yolov10," GitHub repository, 2024/05/23 . Available: </a:t>
            </a:r>
            <a:r>
              <a:rPr lang="en-US" sz="1500" u="sng">
                <a:solidFill>
                  <a:schemeClr val="hlink"/>
                </a:solidFill>
                <a:highlight>
                  <a:srgbClr val="FFFFFF"/>
                </a:highlight>
                <a:hlinkClick r:id="rId4"/>
              </a:rPr>
              <a:t>https://github.com/THU-MIG/yolov10</a:t>
            </a:r>
            <a:r>
              <a:rPr lang="en-US" sz="1500">
                <a:highlight>
                  <a:srgbClr val="FFFFFF"/>
                </a:highlight>
              </a:rPr>
              <a:t> </a:t>
            </a:r>
            <a:endParaRPr/>
          </a:p>
          <a:p>
            <a:pPr indent="-228600" lvl="0" marL="228600" rtl="0" algn="just">
              <a:lnSpc>
                <a:spcPct val="110000"/>
              </a:lnSpc>
              <a:spcBef>
                <a:spcPts val="1000"/>
              </a:spcBef>
              <a:spcAft>
                <a:spcPts val="0"/>
              </a:spcAft>
              <a:buClr>
                <a:schemeClr val="dk1"/>
              </a:buClr>
              <a:buSzPts val="1500"/>
              <a:buNone/>
            </a:pPr>
            <a:r>
              <a:rPr lang="en-US" sz="1500">
                <a:highlight>
                  <a:srgbClr val="FFFFFF"/>
                </a:highlight>
              </a:rPr>
              <a:t>[4]10Ring, "FakeFormer," GitHub repository, 2024/10/29 . Available: </a:t>
            </a:r>
            <a:r>
              <a:rPr lang="en-US" sz="1500" u="sng">
                <a:solidFill>
                  <a:schemeClr val="hlink"/>
                </a:solidFill>
                <a:highlight>
                  <a:srgbClr val="FFFFFF"/>
                </a:highlight>
                <a:hlinkClick r:id="rId5"/>
              </a:rPr>
              <a:t>https://github.com/10Ring/FakeFormer</a:t>
            </a:r>
            <a:r>
              <a:rPr lang="en-US" sz="1500">
                <a:highlight>
                  <a:srgbClr val="FFFFFF"/>
                </a:highlight>
              </a:rPr>
              <a:t> </a:t>
            </a:r>
            <a:endParaRPr/>
          </a:p>
          <a:p>
            <a:pPr indent="-228600" lvl="0" marL="228600" rtl="0" algn="just">
              <a:lnSpc>
                <a:spcPct val="110000"/>
              </a:lnSpc>
              <a:spcBef>
                <a:spcPts val="1000"/>
              </a:spcBef>
              <a:spcAft>
                <a:spcPts val="0"/>
              </a:spcAft>
              <a:buClr>
                <a:schemeClr val="dk1"/>
              </a:buClr>
              <a:buSzPts val="1500"/>
              <a:buNone/>
            </a:pPr>
            <a:r>
              <a:rPr lang="en-US" sz="1500">
                <a:highlight>
                  <a:srgbClr val="FFFFFF"/>
                </a:highlight>
              </a:rPr>
              <a:t>[5]xdxd003, "FaceForensics++ (c23)," Kaggle Dataset, 2023/02/10 . Available: </a:t>
            </a:r>
            <a:r>
              <a:rPr lang="en-US" sz="1500" u="sng">
                <a:solidFill>
                  <a:schemeClr val="hlink"/>
                </a:solidFill>
                <a:highlight>
                  <a:srgbClr val="FFFFFF"/>
                </a:highlight>
                <a:hlinkClick r:id="rId6"/>
              </a:rPr>
              <a:t>https://www.kaggle.com/datasets/xdxd003/ff-c23</a:t>
            </a:r>
            <a:r>
              <a:rPr lang="en-US" sz="1500">
                <a:highlight>
                  <a:srgbClr val="FFFFFF"/>
                </a:highlight>
              </a:rPr>
              <a:t> </a:t>
            </a:r>
            <a:endParaRPr/>
          </a:p>
          <a:p>
            <a:pPr indent="-228600" lvl="0" marL="228600" rtl="0" algn="just">
              <a:lnSpc>
                <a:spcPct val="110000"/>
              </a:lnSpc>
              <a:spcBef>
                <a:spcPts val="1000"/>
              </a:spcBef>
              <a:spcAft>
                <a:spcPts val="0"/>
              </a:spcAft>
              <a:buClr>
                <a:schemeClr val="dk1"/>
              </a:buClr>
              <a:buSzPts val="1500"/>
              <a:buNone/>
            </a:pPr>
            <a:r>
              <a:rPr lang="en-US" sz="1500">
                <a:highlight>
                  <a:srgbClr val="FFFFFF"/>
                </a:highlight>
              </a:rPr>
              <a:t>[6] D. Afchar, V. Nozick, J. Yamagishi, and I. Echizen, “MesoNet: a Compact Facial Video Forgery Detection Network,” Proc. of IEEE International Workshop on Information Forensics and Security, 2018.</a:t>
            </a:r>
            <a:endParaRPr/>
          </a:p>
          <a:p>
            <a:pPr indent="-228600" lvl="0" marL="228600" rtl="0" algn="just">
              <a:lnSpc>
                <a:spcPct val="110000"/>
              </a:lnSpc>
              <a:spcBef>
                <a:spcPts val="1000"/>
              </a:spcBef>
              <a:spcAft>
                <a:spcPts val="0"/>
              </a:spcAft>
              <a:buClr>
                <a:schemeClr val="dk1"/>
              </a:buClr>
              <a:buSzPts val="1500"/>
              <a:buNone/>
            </a:pPr>
            <a:r>
              <a:rPr lang="en-US" sz="1500">
                <a:highlight>
                  <a:srgbClr val="FFFFFF"/>
                </a:highlight>
              </a:rPr>
              <a:t>[7]reubensuju, "Celeb-DF-v2," Kaggle Dataset, 2020/11/05 . Available: </a:t>
            </a:r>
            <a:r>
              <a:rPr lang="en-US" sz="1500" u="sng">
                <a:solidFill>
                  <a:schemeClr val="hlink"/>
                </a:solidFill>
                <a:highlight>
                  <a:srgbClr val="FFFFFF"/>
                </a:highlight>
                <a:hlinkClick r:id="rId7"/>
              </a:rPr>
              <a:t>https://www.kaggle.com/datasets/reubensuju/celeb-df-v2</a:t>
            </a:r>
            <a:r>
              <a:rPr lang="en-US" sz="1500">
                <a:highlight>
                  <a:srgbClr val="FFFFFF"/>
                </a:highlight>
              </a:rPr>
              <a:t> </a:t>
            </a:r>
            <a:endParaRPr/>
          </a:p>
          <a:p>
            <a:pPr indent="-228600" lvl="0" marL="228600" rtl="0" algn="just">
              <a:lnSpc>
                <a:spcPct val="110000"/>
              </a:lnSpc>
              <a:spcBef>
                <a:spcPts val="1000"/>
              </a:spcBef>
              <a:spcAft>
                <a:spcPts val="0"/>
              </a:spcAft>
              <a:buClr>
                <a:schemeClr val="dk1"/>
              </a:buClr>
              <a:buSzPts val="1500"/>
              <a:buNone/>
            </a:pPr>
            <a:r>
              <a:rPr lang="en-US" sz="1500">
                <a:highlight>
                  <a:srgbClr val="FFFFFF"/>
                </a:highlight>
              </a:rPr>
              <a:t>[8] OpenCV, “Face Detection using Haar Cascades,” OpenCV Python Tutorials. Available: https://opencv24-python-tutorials.readthedocs.io/en/latest/py_tutorials/py_objdetect/py_face_detection/py_face_detection.html. [Accessed May 26, 2026].</a:t>
            </a:r>
            <a:endParaRPr/>
          </a:p>
        </p:txBody>
      </p:sp>
      <p:sp>
        <p:nvSpPr>
          <p:cNvPr id="451" name="Google Shape;451;p40"/>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6/17/2026</a:t>
            </a:r>
            <a:endParaRPr/>
          </a:p>
        </p:txBody>
      </p:sp>
      <p:sp>
        <p:nvSpPr>
          <p:cNvPr id="452" name="Google Shape;452;p40"/>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6" name="Shape 456"/>
        <p:cNvGrpSpPr/>
        <p:nvPr/>
      </p:nvGrpSpPr>
      <p:grpSpPr>
        <a:xfrm>
          <a:off x="0" y="0"/>
          <a:ext cx="0" cy="0"/>
          <a:chOff x="0" y="0"/>
          <a:chExt cx="0" cy="0"/>
        </a:xfrm>
      </p:grpSpPr>
      <p:sp>
        <p:nvSpPr>
          <p:cNvPr id="457" name="Google Shape;457;p41"/>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8.參考文獻</a:t>
            </a:r>
            <a:endParaRPr>
              <a:latin typeface="PMingLiU"/>
              <a:ea typeface="PMingLiU"/>
              <a:cs typeface="PMingLiU"/>
              <a:sym typeface="PMingLiU"/>
            </a:endParaRPr>
          </a:p>
          <a:p>
            <a:pPr indent="0" lvl="0" marL="0" rtl="0" algn="l">
              <a:lnSpc>
                <a:spcPct val="100000"/>
              </a:lnSpc>
              <a:spcBef>
                <a:spcPts val="0"/>
              </a:spcBef>
              <a:spcAft>
                <a:spcPts val="0"/>
              </a:spcAft>
              <a:buClr>
                <a:schemeClr val="dk1"/>
              </a:buClr>
              <a:buSzPts val="4000"/>
              <a:buFont typeface="Open Sans"/>
              <a:buNone/>
            </a:pPr>
            <a:r>
              <a:t/>
            </a:r>
            <a:endParaRPr/>
          </a:p>
        </p:txBody>
      </p:sp>
      <p:sp>
        <p:nvSpPr>
          <p:cNvPr id="458" name="Google Shape;458;p41"/>
          <p:cNvSpPr txBox="1"/>
          <p:nvPr>
            <p:ph idx="1" type="body"/>
          </p:nvPr>
        </p:nvSpPr>
        <p:spPr>
          <a:xfrm>
            <a:off x="702722" y="1715715"/>
            <a:ext cx="10691265" cy="4340577"/>
          </a:xfrm>
          <a:prstGeom prst="rect">
            <a:avLst/>
          </a:prstGeom>
          <a:noFill/>
          <a:ln>
            <a:noFill/>
          </a:ln>
        </p:spPr>
        <p:txBody>
          <a:bodyPr anchorCtr="0" anchor="t" bIns="45700" lIns="91425" spcFirstLastPara="1" rIns="91425" wrap="square" tIns="45700">
            <a:noAutofit/>
          </a:bodyPr>
          <a:lstStyle/>
          <a:p>
            <a:pPr indent="-228600" lvl="0" marL="228600" rtl="0" algn="just">
              <a:lnSpc>
                <a:spcPct val="110000"/>
              </a:lnSpc>
              <a:spcBef>
                <a:spcPts val="0"/>
              </a:spcBef>
              <a:spcAft>
                <a:spcPts val="0"/>
              </a:spcAft>
              <a:buClr>
                <a:schemeClr val="dk1"/>
              </a:buClr>
              <a:buSzPts val="1500"/>
              <a:buNone/>
            </a:pPr>
            <a:r>
              <a:rPr lang="en-US" sz="1500"/>
              <a:t>[9] B. T. Gubler, “Python MSS Documentation,” Python MSS . Available: https://python-mss.readthedocs.io/. [Accessed May 26, 2026]. </a:t>
            </a:r>
            <a:endParaRPr/>
          </a:p>
          <a:p>
            <a:pPr indent="-228600" lvl="0" marL="228600" rtl="0" algn="just">
              <a:lnSpc>
                <a:spcPct val="110000"/>
              </a:lnSpc>
              <a:spcBef>
                <a:spcPts val="1000"/>
              </a:spcBef>
              <a:spcAft>
                <a:spcPts val="0"/>
              </a:spcAft>
              <a:buClr>
                <a:schemeClr val="dk1"/>
              </a:buClr>
              <a:buSzPts val="1500"/>
              <a:buNone/>
            </a:pPr>
            <a:r>
              <a:rPr lang="en-US" sz="1500"/>
              <a:t>[10] Tommy Huang, </a:t>
            </a:r>
            <a:r>
              <a:rPr lang="en-US" sz="1500">
                <a:latin typeface="Arial"/>
                <a:ea typeface="Arial"/>
                <a:cs typeface="Arial"/>
                <a:sym typeface="Arial"/>
              </a:rPr>
              <a:t>“機器學習－神經網路（多層感知機</a:t>
            </a:r>
            <a:r>
              <a:rPr lang="en-US" sz="1500"/>
              <a:t> Multilayer Perceptron, MLP</a:t>
            </a:r>
            <a:r>
              <a:rPr lang="en-US" sz="1500">
                <a:latin typeface="Arial"/>
                <a:ea typeface="Arial"/>
                <a:cs typeface="Arial"/>
                <a:sym typeface="Arial"/>
              </a:rPr>
              <a:t>）含倒傳遞</a:t>
            </a:r>
            <a:r>
              <a:rPr lang="en-US" sz="1500"/>
              <a:t>（Backward Propagation</a:t>
            </a:r>
            <a:r>
              <a:rPr lang="en-US" sz="1500">
                <a:latin typeface="Arial"/>
                <a:ea typeface="Arial"/>
                <a:cs typeface="Arial"/>
                <a:sym typeface="Arial"/>
              </a:rPr>
              <a:t>）詳細推導</a:t>
            </a:r>
            <a:r>
              <a:rPr lang="en-US" sz="1500"/>
              <a:t>,” Medium, Mar. 6, 2018. Available: https://chih-sheng huang821.medium.com/%E6%A9%9F%E5%99%A8%E5%AD%B8%E7%BF%9 2-%E7%A5%9E%E7%B6%93%E7%B6%B2%E8%B7%AF %E5%A4%9A%E5%B1%A4%E6%84%9F%E7%9F%A5%E6%A9%9Fmultilayer-perceptron-mlp %E5%90%AB%E8%A9%B3%E7%B4%B0%E6%8E%A8%E5%B0%8E ee4f3d5d1b41. [Accessed: May 26, 2026].</a:t>
            </a:r>
            <a:endParaRPr/>
          </a:p>
          <a:p>
            <a:pPr indent="-228600" lvl="0" marL="228600" rtl="0" algn="just">
              <a:lnSpc>
                <a:spcPct val="110000"/>
              </a:lnSpc>
              <a:spcBef>
                <a:spcPts val="1000"/>
              </a:spcBef>
              <a:spcAft>
                <a:spcPts val="0"/>
              </a:spcAft>
              <a:buClr>
                <a:schemeClr val="dk1"/>
              </a:buClr>
              <a:buSzPts val="1500"/>
              <a:buNone/>
            </a:pPr>
            <a:r>
              <a:rPr lang="en-US" sz="1500"/>
              <a:t>[11] joseph-bug, “Embeddings</a:t>
            </a:r>
            <a:r>
              <a:rPr lang="en-US" sz="1500">
                <a:latin typeface="Arial"/>
                <a:ea typeface="Arial"/>
                <a:cs typeface="Arial"/>
                <a:sym typeface="Arial"/>
              </a:rPr>
              <a:t>（上</a:t>
            </a:r>
            <a:r>
              <a:rPr lang="en-US" sz="1500"/>
              <a:t>）,” iT </a:t>
            </a:r>
            <a:r>
              <a:rPr lang="en-US" sz="1500">
                <a:latin typeface="Arial"/>
                <a:ea typeface="Arial"/>
                <a:cs typeface="Arial"/>
                <a:sym typeface="Arial"/>
              </a:rPr>
              <a:t>邦幫忙</a:t>
            </a:r>
            <a:r>
              <a:rPr lang="en-US" sz="1500"/>
              <a:t>, Oct. 22, 2018. Available: </a:t>
            </a:r>
            <a:r>
              <a:rPr lang="en-US" sz="1500" u="sng">
                <a:solidFill>
                  <a:schemeClr val="hlink"/>
                </a:solidFill>
                <a:hlinkClick r:id="rId3"/>
              </a:rPr>
              <a:t>https://ithelp.ithome.com.tw/articles/10204229</a:t>
            </a:r>
            <a:r>
              <a:rPr lang="en-US" sz="1500"/>
              <a:t>. [Accessed: May 26, 2026].</a:t>
            </a:r>
            <a:endParaRPr/>
          </a:p>
          <a:p>
            <a:pPr indent="-228600" lvl="0" marL="228600" rtl="0" algn="just">
              <a:lnSpc>
                <a:spcPct val="110000"/>
              </a:lnSpc>
              <a:spcBef>
                <a:spcPts val="1000"/>
              </a:spcBef>
              <a:spcAft>
                <a:spcPts val="0"/>
              </a:spcAft>
              <a:buClr>
                <a:schemeClr val="dk1"/>
              </a:buClr>
              <a:buSzPts val="1500"/>
              <a:buNone/>
            </a:pPr>
            <a:r>
              <a:rPr lang="en-US" sz="1500"/>
              <a:t>[12] joseph-bug, “Embeddings</a:t>
            </a:r>
            <a:r>
              <a:rPr lang="en-US" sz="1500">
                <a:latin typeface="Arial"/>
                <a:ea typeface="Arial"/>
                <a:cs typeface="Arial"/>
                <a:sym typeface="Arial"/>
              </a:rPr>
              <a:t>（下</a:t>
            </a:r>
            <a:r>
              <a:rPr lang="en-US" sz="1500"/>
              <a:t>）,” iT </a:t>
            </a:r>
            <a:r>
              <a:rPr lang="en-US" sz="1500">
                <a:latin typeface="Arial"/>
                <a:ea typeface="Arial"/>
                <a:cs typeface="Arial"/>
                <a:sym typeface="Arial"/>
              </a:rPr>
              <a:t>邦幫忙</a:t>
            </a:r>
            <a:r>
              <a:rPr lang="en-US" sz="1500"/>
              <a:t>, Oct. 23, 2018. Available: </a:t>
            </a:r>
            <a:r>
              <a:rPr lang="en-US" sz="1500" u="sng">
                <a:solidFill>
                  <a:schemeClr val="hlink"/>
                </a:solidFill>
                <a:hlinkClick r:id="rId4"/>
              </a:rPr>
              <a:t>https://ithelp.ithome.com.tw/articles/10204480</a:t>
            </a:r>
            <a:r>
              <a:rPr lang="en-US" sz="1500"/>
              <a:t>. [Accessed: May 26, 2026].</a:t>
            </a:r>
            <a:endParaRPr/>
          </a:p>
          <a:p>
            <a:pPr indent="-228600" lvl="0" marL="228600" rtl="0" algn="just">
              <a:lnSpc>
                <a:spcPct val="110000"/>
              </a:lnSpc>
              <a:spcBef>
                <a:spcPts val="1000"/>
              </a:spcBef>
              <a:spcAft>
                <a:spcPts val="0"/>
              </a:spcAft>
              <a:buClr>
                <a:schemeClr val="dk1"/>
              </a:buClr>
              <a:buSzPts val="1500"/>
              <a:buNone/>
            </a:pPr>
            <a:r>
              <a:rPr lang="en-US" sz="1500"/>
              <a:t>[13] </a:t>
            </a:r>
            <a:r>
              <a:rPr lang="en-US" sz="1500">
                <a:latin typeface="Arial"/>
                <a:ea typeface="Arial"/>
                <a:cs typeface="Arial"/>
                <a:sym typeface="Arial"/>
              </a:rPr>
              <a:t>中年一般人</a:t>
            </a:r>
            <a:r>
              <a:rPr lang="en-US" sz="1500"/>
              <a:t>, “ResNet </a:t>
            </a:r>
            <a:r>
              <a:rPr lang="en-US" sz="1500">
                <a:latin typeface="Arial"/>
                <a:ea typeface="Arial"/>
                <a:cs typeface="Arial"/>
                <a:sym typeface="Arial"/>
              </a:rPr>
              <a:t>算法以及程式碼實現</a:t>
            </a:r>
            <a:r>
              <a:rPr lang="en-US" sz="1500"/>
              <a:t>,” iT </a:t>
            </a:r>
            <a:r>
              <a:rPr lang="en-US" sz="1500">
                <a:latin typeface="Arial"/>
                <a:ea typeface="Arial"/>
                <a:cs typeface="Arial"/>
                <a:sym typeface="Arial"/>
              </a:rPr>
              <a:t>邦幫忙</a:t>
            </a:r>
            <a:r>
              <a:rPr lang="en-US" sz="1500"/>
              <a:t>, Sep. 18, 2023. Available: https://ithelp.ithome.com.tw/articles/10321837. [Accessed: May 26, 2026].</a:t>
            </a:r>
            <a:endParaRPr/>
          </a:p>
        </p:txBody>
      </p:sp>
      <p:sp>
        <p:nvSpPr>
          <p:cNvPr id="459" name="Google Shape;459;p41"/>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sp>
        <p:nvSpPr>
          <p:cNvPr id="460" name="Google Shape;460;p41"/>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4" name="Shape 464"/>
        <p:cNvGrpSpPr/>
        <p:nvPr/>
      </p:nvGrpSpPr>
      <p:grpSpPr>
        <a:xfrm>
          <a:off x="0" y="0"/>
          <a:ext cx="0" cy="0"/>
          <a:chOff x="0" y="0"/>
          <a:chExt cx="0" cy="0"/>
        </a:xfrm>
      </p:grpSpPr>
      <p:sp>
        <p:nvSpPr>
          <p:cNvPr id="465" name="Google Shape;465;p42"/>
          <p:cNvSpPr txBox="1"/>
          <p:nvPr>
            <p:ph type="title"/>
          </p:nvPr>
        </p:nvSpPr>
        <p:spPr>
          <a:xfrm>
            <a:off x="700635" y="922096"/>
            <a:ext cx="10691265" cy="13710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PMingLiU"/>
              <a:buNone/>
            </a:pPr>
            <a:r>
              <a:rPr b="1" lang="en-US">
                <a:latin typeface="PMingLiU"/>
                <a:ea typeface="PMingLiU"/>
                <a:cs typeface="PMingLiU"/>
                <a:sym typeface="PMingLiU"/>
              </a:rPr>
              <a:t>8.參考文獻</a:t>
            </a:r>
            <a:endParaRPr>
              <a:latin typeface="PMingLiU"/>
              <a:ea typeface="PMingLiU"/>
              <a:cs typeface="PMingLiU"/>
              <a:sym typeface="PMingLiU"/>
            </a:endParaRPr>
          </a:p>
          <a:p>
            <a:pPr indent="0" lvl="0" marL="0" rtl="0" algn="l">
              <a:lnSpc>
                <a:spcPct val="100000"/>
              </a:lnSpc>
              <a:spcBef>
                <a:spcPts val="0"/>
              </a:spcBef>
              <a:spcAft>
                <a:spcPts val="0"/>
              </a:spcAft>
              <a:buClr>
                <a:schemeClr val="dk1"/>
              </a:buClr>
              <a:buSzPts val="4000"/>
              <a:buFont typeface="Open Sans"/>
              <a:buNone/>
            </a:pPr>
            <a:r>
              <a:t/>
            </a:r>
            <a:endParaRPr/>
          </a:p>
        </p:txBody>
      </p:sp>
      <p:sp>
        <p:nvSpPr>
          <p:cNvPr id="466" name="Google Shape;466;p42"/>
          <p:cNvSpPr txBox="1"/>
          <p:nvPr>
            <p:ph idx="1" type="body"/>
          </p:nvPr>
        </p:nvSpPr>
        <p:spPr>
          <a:xfrm>
            <a:off x="696692" y="1715481"/>
            <a:ext cx="10691265" cy="4398087"/>
          </a:xfrm>
          <a:prstGeom prst="rect">
            <a:avLst/>
          </a:prstGeom>
          <a:noFill/>
          <a:ln>
            <a:noFill/>
          </a:ln>
        </p:spPr>
        <p:txBody>
          <a:bodyPr anchorCtr="0" anchor="t" bIns="45700" lIns="91425" spcFirstLastPara="1" rIns="91425" wrap="square" tIns="45700">
            <a:noAutofit/>
          </a:bodyPr>
          <a:lstStyle/>
          <a:p>
            <a:pPr indent="-228600" lvl="0" marL="228600" rtl="0" algn="just">
              <a:lnSpc>
                <a:spcPct val="110000"/>
              </a:lnSpc>
              <a:spcBef>
                <a:spcPts val="0"/>
              </a:spcBef>
              <a:spcAft>
                <a:spcPts val="0"/>
              </a:spcAft>
              <a:buClr>
                <a:schemeClr val="dk1"/>
              </a:buClr>
              <a:buSzPts val="1500"/>
              <a:buNone/>
            </a:pPr>
            <a:r>
              <a:rPr lang="en-US" sz="1500"/>
              <a:t>[14] howardsunjiahao, “深度學習新突破：ResNet 殘差網路解決深度增加難題,” CSDN Blog, Apr. 23, 2022. Available: </a:t>
            </a:r>
            <a:r>
              <a:rPr lang="en-US" sz="1500" u="sng">
                <a:solidFill>
                  <a:schemeClr val="hlink"/>
                </a:solidFill>
                <a:hlinkClick r:id="rId3"/>
              </a:rPr>
              <a:t>https://blog.csdn.net/weixin_47524903/article/details/124364114</a:t>
            </a:r>
            <a:r>
              <a:rPr lang="en-US" sz="1500"/>
              <a:t>. [Accessed: May 26, 2026].</a:t>
            </a:r>
            <a:endParaRPr/>
          </a:p>
          <a:p>
            <a:pPr indent="-228600" lvl="0" marL="228600" rtl="0" algn="just">
              <a:lnSpc>
                <a:spcPct val="110000"/>
              </a:lnSpc>
              <a:spcBef>
                <a:spcPts val="1000"/>
              </a:spcBef>
              <a:spcAft>
                <a:spcPts val="0"/>
              </a:spcAft>
              <a:buClr>
                <a:schemeClr val="dk1"/>
              </a:buClr>
              <a:buSzPts val="1500"/>
              <a:buNone/>
            </a:pPr>
            <a:r>
              <a:rPr lang="en-US" sz="1500"/>
              <a:t>[15] Yasmine Cheng, “Variational Autoencoder,” Medium, Jul. 7, 2023. Available: </a:t>
            </a:r>
            <a:r>
              <a:rPr lang="en-US" sz="1500" u="sng">
                <a:solidFill>
                  <a:schemeClr val="hlink"/>
                </a:solidFill>
                <a:hlinkClick r:id="rId4"/>
              </a:rPr>
              <a:t>https://medium.com/data-science-navigator/variational-autoencoder</a:t>
            </a:r>
            <a:r>
              <a:rPr lang="en-US" sz="1500"/>
              <a:t> 6ec2342e7ad4. [Accessed: May 26, 2026].</a:t>
            </a:r>
            <a:endParaRPr/>
          </a:p>
          <a:p>
            <a:pPr indent="-228600" lvl="0" marL="228600" rtl="0" algn="just">
              <a:lnSpc>
                <a:spcPct val="110000"/>
              </a:lnSpc>
              <a:spcBef>
                <a:spcPts val="1000"/>
              </a:spcBef>
              <a:spcAft>
                <a:spcPts val="0"/>
              </a:spcAft>
              <a:buClr>
                <a:schemeClr val="dk1"/>
              </a:buClr>
              <a:buSzPts val="1500"/>
              <a:buNone/>
            </a:pPr>
            <a:r>
              <a:rPr lang="en-US" sz="1500"/>
              <a:t>[16] I Code So I Am, “小學生談『生成對抗網路』（Generative Adversarial Network, GAN）,” iT 邦幫忙, Jan. 7, 2018. Available: </a:t>
            </a:r>
            <a:r>
              <a:rPr lang="en-US" sz="1500" u="sng">
                <a:solidFill>
                  <a:schemeClr val="hlink"/>
                </a:solidFill>
                <a:hlinkClick r:id="rId5"/>
              </a:rPr>
              <a:t>https://ithelp.ithome.com.tw/articles/10196257</a:t>
            </a:r>
            <a:r>
              <a:rPr lang="en-US" sz="1500"/>
              <a:t>. [Accessed: May 26, 2026].</a:t>
            </a:r>
            <a:endParaRPr/>
          </a:p>
          <a:p>
            <a:pPr indent="0" lvl="0" marL="0" rtl="0" algn="just">
              <a:lnSpc>
                <a:spcPct val="110000"/>
              </a:lnSpc>
              <a:spcBef>
                <a:spcPts val="1000"/>
              </a:spcBef>
              <a:spcAft>
                <a:spcPts val="0"/>
              </a:spcAft>
              <a:buClr>
                <a:schemeClr val="dk1"/>
              </a:buClr>
              <a:buSzPts val="1500"/>
              <a:buNone/>
            </a:pPr>
            <a:r>
              <a:rPr lang="en-US" sz="1500"/>
              <a:t>[17] hard_fish, “簡介 Diffusion Model,” 圖像生成 AI 的原理與應用系列第 17 篇, iT 邦幫忙. Available: https://ithelp.ithome.com.tw/m/articles/10328909. [Accessed: May 26, 2026].</a:t>
            </a:r>
            <a:endParaRPr/>
          </a:p>
          <a:p>
            <a:pPr indent="0" lvl="0" marL="0" rtl="0" algn="just">
              <a:lnSpc>
                <a:spcPct val="110000"/>
              </a:lnSpc>
              <a:spcBef>
                <a:spcPts val="1000"/>
              </a:spcBef>
              <a:spcAft>
                <a:spcPts val="0"/>
              </a:spcAft>
              <a:buClr>
                <a:schemeClr val="dk1"/>
              </a:buClr>
              <a:buSzPts val="1500"/>
              <a:buNone/>
            </a:pPr>
            <a:r>
              <a:rPr lang="en-US" sz="1500"/>
              <a:t>[18] deepcam-cn, "yolov5-face," GitHub repository, May 2021. [Online]. Available: </a:t>
            </a:r>
            <a:r>
              <a:rPr lang="en-US" sz="1500" u="sng">
                <a:solidFill>
                  <a:schemeClr val="hlink"/>
                </a:solidFill>
                <a:hlinkClick r:id="rId6"/>
              </a:rPr>
              <a:t>https://github.com/deepcam-cn/yolov5-face</a:t>
            </a:r>
            <a:endParaRPr/>
          </a:p>
          <a:p>
            <a:pPr indent="0" lvl="0" marL="0" rtl="0" algn="just">
              <a:lnSpc>
                <a:spcPct val="110000"/>
              </a:lnSpc>
              <a:spcBef>
                <a:spcPts val="1000"/>
              </a:spcBef>
              <a:spcAft>
                <a:spcPts val="0"/>
              </a:spcAft>
              <a:buClr>
                <a:schemeClr val="dk1"/>
              </a:buClr>
              <a:buSzPts val="1500"/>
              <a:buNone/>
            </a:pPr>
            <a:r>
              <a:rPr lang="en-US" sz="1500"/>
              <a:t>[19] derronqi, "yolov7-face," GitHub repository, Aug. 2022. [Online]. Available: </a:t>
            </a:r>
            <a:r>
              <a:rPr lang="en-US" sz="1500" u="sng">
                <a:solidFill>
                  <a:schemeClr val="hlink"/>
                </a:solidFill>
                <a:hlinkClick r:id="rId7"/>
              </a:rPr>
              <a:t>https://github.com/derronqi/yolov7-face</a:t>
            </a:r>
            <a:endParaRPr sz="1500"/>
          </a:p>
          <a:p>
            <a:pPr indent="0" lvl="0" marL="0" rtl="0" algn="just">
              <a:lnSpc>
                <a:spcPct val="110000"/>
              </a:lnSpc>
              <a:spcBef>
                <a:spcPts val="1000"/>
              </a:spcBef>
              <a:spcAft>
                <a:spcPts val="0"/>
              </a:spcAft>
              <a:buClr>
                <a:schemeClr val="dk1"/>
              </a:buClr>
              <a:buSzPts val="1500"/>
              <a:buNone/>
            </a:pPr>
            <a:r>
              <a:rPr lang="en-US" sz="1500"/>
              <a:t>[20] derronqi, "yolov8-face," GitHub repository, Apr. 2023. [Online]. Available: </a:t>
            </a:r>
            <a:r>
              <a:rPr lang="en-US" sz="1500" u="sng">
                <a:solidFill>
                  <a:schemeClr val="hlink"/>
                </a:solidFill>
                <a:hlinkClick r:id="rId8"/>
              </a:rPr>
              <a:t>https://github.com/derronqi/yolov8-face</a:t>
            </a:r>
            <a:endParaRPr/>
          </a:p>
          <a:p>
            <a:pPr indent="0" lvl="0" marL="0" rtl="0" algn="just">
              <a:lnSpc>
                <a:spcPct val="110000"/>
              </a:lnSpc>
              <a:spcBef>
                <a:spcPts val="1000"/>
              </a:spcBef>
              <a:spcAft>
                <a:spcPts val="0"/>
              </a:spcAft>
              <a:buClr>
                <a:schemeClr val="dk1"/>
              </a:buClr>
              <a:buSzPts val="1500"/>
              <a:buNone/>
            </a:pPr>
            <a:r>
              <a:rPr lang="en-US" sz="1500"/>
              <a:t>[21] akanametov, "yolo-face," GitHub repository, Jan. 28, 2023. [Online]. Available: </a:t>
            </a:r>
            <a:r>
              <a:rPr lang="en-US" sz="1500" u="sng">
                <a:solidFill>
                  <a:schemeClr val="hlink"/>
                </a:solidFill>
                <a:hlinkClick r:id="rId9"/>
              </a:rPr>
              <a:t>https://github.com/akanametov/yolo-face</a:t>
            </a:r>
            <a:endParaRPr sz="1500"/>
          </a:p>
        </p:txBody>
      </p:sp>
      <p:sp>
        <p:nvSpPr>
          <p:cNvPr id="467" name="Google Shape;467;p42"/>
          <p:cNvSpPr txBox="1"/>
          <p:nvPr>
            <p:ph idx="10" type="dt"/>
          </p:nvPr>
        </p:nvSpPr>
        <p:spPr>
          <a:xfrm>
            <a:off x="8369448" y="6356350"/>
            <a:ext cx="259259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sz="1050">
                <a:solidFill>
                  <a:schemeClr val="dk1"/>
                </a:solidFill>
                <a:latin typeface="Open Sans"/>
                <a:ea typeface="Open Sans"/>
                <a:cs typeface="Open Sans"/>
                <a:sym typeface="Open Sans"/>
              </a:rPr>
              <a:t>2026/6/17</a:t>
            </a:r>
            <a:endParaRPr/>
          </a:p>
        </p:txBody>
      </p:sp>
      <p:sp>
        <p:nvSpPr>
          <p:cNvPr id="468" name="Google Shape;468;p42"/>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